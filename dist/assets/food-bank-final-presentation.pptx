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12" r:id="rId4"/>
  </p:sldMasterIdLst>
  <p:notesMasterIdLst>
    <p:notesMasterId r:id="rId35"/>
  </p:notesMasterIdLst>
  <p:sldIdLst>
    <p:sldId id="256" r:id="rId5"/>
    <p:sldId id="266" r:id="rId6"/>
    <p:sldId id="321" r:id="rId7"/>
    <p:sldId id="303" r:id="rId8"/>
    <p:sldId id="320" r:id="rId9"/>
    <p:sldId id="304" r:id="rId10"/>
    <p:sldId id="305" r:id="rId11"/>
    <p:sldId id="313" r:id="rId12"/>
    <p:sldId id="310" r:id="rId13"/>
    <p:sldId id="306" r:id="rId14"/>
    <p:sldId id="311" r:id="rId15"/>
    <p:sldId id="314" r:id="rId16"/>
    <p:sldId id="316" r:id="rId17"/>
    <p:sldId id="312" r:id="rId18"/>
    <p:sldId id="308" r:id="rId19"/>
    <p:sldId id="307" r:id="rId20"/>
    <p:sldId id="315" r:id="rId21"/>
    <p:sldId id="272" r:id="rId22"/>
    <p:sldId id="301" r:id="rId23"/>
    <p:sldId id="322" r:id="rId24"/>
    <p:sldId id="302" r:id="rId25"/>
    <p:sldId id="331" r:id="rId26"/>
    <p:sldId id="323" r:id="rId27"/>
    <p:sldId id="324" r:id="rId28"/>
    <p:sldId id="326" r:id="rId29"/>
    <p:sldId id="327" r:id="rId30"/>
    <p:sldId id="328" r:id="rId31"/>
    <p:sldId id="329" r:id="rId32"/>
    <p:sldId id="330" r:id="rId33"/>
    <p:sldId id="33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797EF01-CC76-3561-7B35-67470D04679B}" name="Rachel Stone" initials="RS" userId="S::rstone7@lsu.edu::ee4a1293-b819-450a-9574-b914e636ffee" providerId="AD"/>
  <p188:author id="{E4F1AC10-4CA9-ACD9-84EE-50F1AE134275}" name="Selena Dang" initials="" userId="S::sdang2@lsu.edu::77d5a3a6-b1f2-4881-adc4-9d926a5bf71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E2B48"/>
    <a:srgbClr val="F59BA6"/>
    <a:srgbClr val="E72F44"/>
    <a:srgbClr val="E42D49"/>
    <a:srgbClr val="FFF2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E455F6-AAC5-421F-9953-DD7932E25969}" vWet="1" dt="2026-04-30T19:39:52.267"/>
    <p1510:client id="{58B16822-031B-E946-A977-8347FC505626}" v="373" dt="2026-05-01T16:43:01.704"/>
    <p1510:client id="{BFDA5FE5-BCA4-C043-9CCD-11C509A92054}" v="2839" dt="2026-04-30T20:04:59.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DE2B48"/>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8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006286A9-3425-5C44-B3EB-2D7615D65F35}">
      <dgm:prSet phldrT="[Text]" custT="1"/>
      <dgm:spPr>
        <a:solidFill>
          <a:srgbClr val="DE2B48"/>
        </a:solidFill>
      </dgm:spPr>
      <dgm:t>
        <a:bodyPr/>
        <a:lstStyle/>
        <a:p>
          <a:r>
            <a:rPr lang="en-US" sz="1200">
              <a:latin typeface="Neue Haas Grotesk Text Pro" panose="020B0504020202020204" pitchFamily="34" charset="77"/>
            </a:rPr>
            <a:t>Introduction</a:t>
          </a:r>
        </a:p>
      </dgm:t>
    </dgm:pt>
    <dgm:pt modelId="{E0749028-65C7-C64D-87F4-5DCBC9853851}" type="parTrans" cxnId="{484EA346-16EC-D042-977B-BEF6FCFC5C52}">
      <dgm:prSet/>
      <dgm:spPr/>
      <dgm:t>
        <a:bodyPr/>
        <a:lstStyle/>
        <a:p>
          <a:endParaRPr lang="en-US"/>
        </a:p>
      </dgm:t>
    </dgm:pt>
    <dgm:pt modelId="{5537398F-39C6-AC42-816B-BE4A64CE2A1C}" type="sibTrans" cxnId="{484EA346-16EC-D042-977B-BEF6FCFC5C52}">
      <dgm:prSet/>
      <dgm:spPr/>
      <dgm:t>
        <a:bodyPr/>
        <a:lstStyle/>
        <a:p>
          <a:endParaRPr lang="en-US"/>
        </a:p>
      </dgm:t>
    </dgm:pt>
    <dgm:pt modelId="{AF5C6DD6-DD11-C740-9B45-DEB4D5BE1FB8}">
      <dgm:prSet custT="1"/>
      <dgm:spPr>
        <a:solidFill>
          <a:srgbClr val="F59BA6"/>
        </a:solidFill>
      </dgm:spPr>
      <dgm:t>
        <a:bodyPr/>
        <a:lstStyle/>
        <a:p>
          <a:pPr rtl="0"/>
          <a:r>
            <a:rPr lang="en-US" sz="1100">
              <a:latin typeface="Neue Haas Grotesk Text Pro" panose="020B0504020202020204" pitchFamily="34" charset="77"/>
            </a:rPr>
            <a:t>Data Collection</a:t>
          </a:r>
        </a:p>
      </dgm:t>
    </dgm:pt>
    <dgm:pt modelId="{50D8F66A-6B05-7E44-8233-503BEF8A592D}" type="parTrans" cxnId="{C6FC927B-B49D-4B48-9239-055A29C62413}">
      <dgm:prSet/>
      <dgm:spPr/>
      <dgm:t>
        <a:bodyPr/>
        <a:lstStyle/>
        <a:p>
          <a:endParaRPr lang="en-US"/>
        </a:p>
      </dgm:t>
    </dgm:pt>
    <dgm:pt modelId="{0A740326-30A9-E044-A3B2-F09540C9E118}" type="sibTrans" cxnId="{C6FC927B-B49D-4B48-9239-055A29C62413}">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468C5E1-7816-0D4C-B897-729DA4017B71}" type="pres">
      <dgm:prSet presAssocID="{006286A9-3425-5C44-B3EB-2D7615D65F35}" presName="parTxOnly" presStyleLbl="node1" presStyleIdx="0" presStyleCnt="8">
        <dgm:presLayoutVars>
          <dgm:bulletEnabled val="1"/>
        </dgm:presLayoutVars>
      </dgm:prSet>
      <dgm:spPr/>
    </dgm:pt>
    <dgm:pt modelId="{ED22680F-763E-1E4A-826B-4BA82276B119}" type="pres">
      <dgm:prSet presAssocID="{5537398F-39C6-AC42-816B-BE4A64CE2A1C}" presName="parSpace" presStyleCnt="0"/>
      <dgm:spPr/>
    </dgm:pt>
    <dgm:pt modelId="{72781BE3-78B0-A540-851C-DF437915BA67}" type="pres">
      <dgm:prSet presAssocID="{AF5C6DD6-DD11-C740-9B45-DEB4D5BE1FB8}" presName="parTxOnly" presStyleLbl="node1" presStyleIdx="1" presStyleCnt="8">
        <dgm:presLayoutVars>
          <dgm:bulletEnabled val="1"/>
        </dgm:presLayoutVars>
      </dgm:prSet>
      <dgm:spPr/>
    </dgm:pt>
    <dgm:pt modelId="{38A81A25-D3F4-7744-9EF5-DB512DCDE35A}" type="pres">
      <dgm:prSet presAssocID="{0A740326-30A9-E044-A3B2-F09540C9E118}"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484EA346-16EC-D042-977B-BEF6FCFC5C52}" srcId="{17D57858-FD5A-8947-B040-A82384FFDC9F}" destId="{006286A9-3425-5C44-B3EB-2D7615D65F35}" srcOrd="0" destOrd="0" parTransId="{E0749028-65C7-C64D-87F4-5DCBC9853851}" sibTransId="{5537398F-39C6-AC42-816B-BE4A64CE2A1C}"/>
    <dgm:cxn modelId="{44CA6F55-16A7-7B4B-8618-2E868A9B3D09}" type="presOf" srcId="{006286A9-3425-5C44-B3EB-2D7615D65F35}" destId="{B468C5E1-7816-0D4C-B897-729DA4017B71}" srcOrd="0" destOrd="0" presId="urn:microsoft.com/office/officeart/2005/8/layout/hChevron3"/>
    <dgm:cxn modelId="{C6FC927B-B49D-4B48-9239-055A29C62413}" srcId="{17D57858-FD5A-8947-B040-A82384FFDC9F}" destId="{AF5C6DD6-DD11-C740-9B45-DEB4D5BE1FB8}" srcOrd="1" destOrd="0" parTransId="{50D8F66A-6B05-7E44-8233-503BEF8A592D}" sibTransId="{0A740326-30A9-E044-A3B2-F09540C9E118}"/>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501F79E9-9D7C-9546-9070-4A4086395C9D}" type="presOf" srcId="{AF5C6DD6-DD11-C740-9B45-DEB4D5BE1FB8}" destId="{72781BE3-78B0-A540-851C-DF437915BA67}" srcOrd="0" destOrd="0" presId="urn:microsoft.com/office/officeart/2005/8/layout/hChevron3"/>
    <dgm:cxn modelId="{9819C927-B4F2-B54E-ACFA-2B6E27E4B067}" type="presParOf" srcId="{B6D553CC-4C59-CE4D-952E-78A174608CFD}" destId="{B468C5E1-7816-0D4C-B897-729DA4017B71}" srcOrd="0" destOrd="0" presId="urn:microsoft.com/office/officeart/2005/8/layout/hChevron3"/>
    <dgm:cxn modelId="{B1467214-FFD9-874B-B33F-79226CE999CE}" type="presParOf" srcId="{B6D553CC-4C59-CE4D-952E-78A174608CFD}" destId="{ED22680F-763E-1E4A-826B-4BA82276B119}" srcOrd="1" destOrd="0" presId="urn:microsoft.com/office/officeart/2005/8/layout/hChevron3"/>
    <dgm:cxn modelId="{B7F2E205-C5B8-C146-B310-54AC302AE5AC}" type="presParOf" srcId="{B6D553CC-4C59-CE4D-952E-78A174608CFD}" destId="{72781BE3-78B0-A540-851C-DF437915BA67}" srcOrd="2" destOrd="0" presId="urn:microsoft.com/office/officeart/2005/8/layout/hChevron3"/>
    <dgm:cxn modelId="{DBE29CA7-296C-094E-A5CE-B06D5610EC9B}" type="presParOf" srcId="{B6D553CC-4C59-CE4D-952E-78A174608CFD}" destId="{38A81A25-D3F4-7744-9EF5-DB512DCDE35A}"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a:ln>
          <a:solidFill>
            <a:srgbClr val="F59BA6"/>
          </a:solidFill>
        </a:ln>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DE2B48"/>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DE2B48"/>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DE2B48"/>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DE2B48"/>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custLinFactNeighborX="-644" custLinFactNeighborY="-546">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DE2B48"/>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DE2B48"/>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DE2B48"/>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DE2B48"/>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F59BA6"/>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7.xml><?xml version="1.0" encoding="utf-8"?>
<dgm:dataModel xmlns:dgm="http://schemas.openxmlformats.org/drawingml/2006/diagram" xmlns:a="http://schemas.openxmlformats.org/drawingml/2006/main">
  <dgm:ptLst>
    <dgm:pt modelId="{17D57858-FD5A-8947-B040-A82384FFDC9F}" type="doc">
      <dgm:prSet loTypeId="urn:microsoft.com/office/officeart/2005/8/layout/hChevron3" loCatId="" qsTypeId="urn:microsoft.com/office/officeart/2005/8/quickstyle/simple2" qsCatId="simple" csTypeId="urn:microsoft.com/office/officeart/2005/8/colors/accent5_3" csCatId="accent5" phldr="1"/>
      <dgm:spPr/>
    </dgm:pt>
    <dgm:pt modelId="{EA7BFF59-6C57-4F47-9548-4B6E815EC1E8}">
      <dgm:prSet phldrT="[Text]" custT="1"/>
      <dgm:spPr>
        <a:solidFill>
          <a:srgbClr val="F59BA6"/>
        </a:solidFill>
      </dgm:spPr>
      <dgm:t>
        <a:bodyPr/>
        <a:lstStyle/>
        <a:p>
          <a:r>
            <a:rPr lang="en-US" sz="1100">
              <a:latin typeface="Neue Haas Grotesk Text Pro" panose="020B0504020202020204" pitchFamily="34" charset="77"/>
            </a:rPr>
            <a:t>Introduction</a:t>
          </a:r>
          <a:endParaRPr lang="en-US" sz="1200">
            <a:latin typeface="Neue Haas Grotesk Text Pro" panose="020B0504020202020204" pitchFamily="34" charset="77"/>
          </a:endParaRPr>
        </a:p>
      </dgm:t>
    </dgm:pt>
    <dgm:pt modelId="{AF8C7167-3FCF-D143-956E-6454556763F4}" type="parTrans" cxnId="{69FA4CD7-C926-4E4B-AE58-43BFD6E0B5AC}">
      <dgm:prSet/>
      <dgm:spPr/>
      <dgm:t>
        <a:bodyPr/>
        <a:lstStyle/>
        <a:p>
          <a:endParaRPr lang="en-US"/>
        </a:p>
      </dgm:t>
    </dgm:pt>
    <dgm:pt modelId="{B279CA41-9B90-4344-A770-341A5842F9FB}" type="sibTrans" cxnId="{69FA4CD7-C926-4E4B-AE58-43BFD6E0B5AC}">
      <dgm:prSet/>
      <dgm:spPr/>
      <dgm:t>
        <a:bodyPr/>
        <a:lstStyle/>
        <a:p>
          <a:endParaRPr lang="en-US"/>
        </a:p>
      </dgm:t>
    </dgm:pt>
    <dgm:pt modelId="{3A6BF496-5AC2-6E44-AA0F-F7F1F8A07AAA}">
      <dgm:prSet custT="1"/>
      <dgm:spPr>
        <a:solidFill>
          <a:srgbClr val="F59BA6"/>
        </a:solidFill>
      </dgm:spPr>
      <dgm:t>
        <a:bodyPr/>
        <a:lstStyle/>
        <a:p>
          <a:pPr rtl="0"/>
          <a:r>
            <a:rPr lang="en-US" sz="1050">
              <a:latin typeface="Neue Haas Grotesk Text Pro" panose="020B0504020202020204" pitchFamily="34" charset="77"/>
            </a:rPr>
            <a:t>Data Collection</a:t>
          </a:r>
        </a:p>
      </dgm:t>
    </dgm:pt>
    <dgm:pt modelId="{E595F904-E6E7-914E-BDAA-0C037E722007}" type="parTrans" cxnId="{1E20C71E-97F3-7E4D-9570-AEE62D7B19B9}">
      <dgm:prSet/>
      <dgm:spPr/>
      <dgm:t>
        <a:bodyPr/>
        <a:lstStyle/>
        <a:p>
          <a:endParaRPr lang="en-US"/>
        </a:p>
      </dgm:t>
    </dgm:pt>
    <dgm:pt modelId="{3886C9E6-5EC8-2D47-B037-005AC7EB76FC}" type="sibTrans" cxnId="{1E20C71E-97F3-7E4D-9570-AEE62D7B19B9}">
      <dgm:prSet/>
      <dgm:spPr/>
      <dgm:t>
        <a:bodyPr/>
        <a:lstStyle/>
        <a:p>
          <a:endParaRPr lang="en-US"/>
        </a:p>
      </dgm:t>
    </dgm:pt>
    <dgm:pt modelId="{F650E0C2-8653-A040-834F-252DE3D82B2C}">
      <dgm:prSet custT="1"/>
      <dgm:spPr>
        <a:solidFill>
          <a:srgbClr val="F59BA6"/>
        </a:solidFill>
      </dgm:spPr>
      <dgm:t>
        <a:bodyPr/>
        <a:lstStyle/>
        <a:p>
          <a:pPr rtl="0"/>
          <a:r>
            <a:rPr lang="en-US" sz="1050">
              <a:latin typeface="Neue Haas Grotesk Text Pro" panose="020B0504020202020204" pitchFamily="34" charset="77"/>
            </a:rPr>
            <a:t>Data Analysis</a:t>
          </a:r>
        </a:p>
      </dgm:t>
    </dgm:pt>
    <dgm:pt modelId="{451A9F5A-A102-624B-A617-BB2992BF2A4E}" type="parTrans" cxnId="{42212C25-F8EB-AB4B-A0A1-6A675FEF5A0D}">
      <dgm:prSet/>
      <dgm:spPr/>
      <dgm:t>
        <a:bodyPr/>
        <a:lstStyle/>
        <a:p>
          <a:endParaRPr lang="en-US"/>
        </a:p>
      </dgm:t>
    </dgm:pt>
    <dgm:pt modelId="{3D036CD8-F1C7-2A44-827C-467471FA547B}" type="sibTrans" cxnId="{42212C25-F8EB-AB4B-A0A1-6A675FEF5A0D}">
      <dgm:prSet/>
      <dgm:spPr/>
      <dgm:t>
        <a:bodyPr/>
        <a:lstStyle/>
        <a:p>
          <a:endParaRPr lang="en-US"/>
        </a:p>
      </dgm:t>
    </dgm:pt>
    <dgm:pt modelId="{8373E2A6-F10C-D645-BE4B-C9A69689237F}">
      <dgm:prSet custT="1"/>
      <dgm:spPr>
        <a:solidFill>
          <a:srgbClr val="F59BA6"/>
        </a:solidFill>
      </dgm:spPr>
      <dgm:t>
        <a:bodyPr/>
        <a:lstStyle/>
        <a:p>
          <a:pPr rtl="0"/>
          <a:r>
            <a:rPr lang="en-US" sz="900">
              <a:latin typeface="Neue Haas Grotesk Text Pro" panose="020B0504020202020204" pitchFamily="34" charset="77"/>
            </a:rPr>
            <a:t>Recommendations</a:t>
          </a:r>
        </a:p>
      </dgm:t>
    </dgm:pt>
    <dgm:pt modelId="{70913576-6BEE-1640-8239-DB60795FF834}" type="parTrans" cxnId="{879B0B85-1227-B548-9AB1-438D442F35EF}">
      <dgm:prSet/>
      <dgm:spPr/>
      <dgm:t>
        <a:bodyPr/>
        <a:lstStyle/>
        <a:p>
          <a:endParaRPr lang="en-US"/>
        </a:p>
      </dgm:t>
    </dgm:pt>
    <dgm:pt modelId="{F64BDC37-7335-8349-B845-6089653CC239}" type="sibTrans" cxnId="{879B0B85-1227-B548-9AB1-438D442F35EF}">
      <dgm:prSet/>
      <dgm:spPr/>
      <dgm:t>
        <a:bodyPr/>
        <a:lstStyle/>
        <a:p>
          <a:endParaRPr lang="en-US"/>
        </a:p>
      </dgm:t>
    </dgm:pt>
    <dgm:pt modelId="{5E1FE5E6-828E-2048-A62C-E8933C13C984}">
      <dgm:prSet custT="1"/>
      <dgm:spPr>
        <a:solidFill>
          <a:srgbClr val="F59BA6"/>
        </a:solidFill>
      </dgm:spPr>
      <dgm:t>
        <a:bodyPr/>
        <a:lstStyle/>
        <a:p>
          <a:pPr rtl="0"/>
          <a:r>
            <a:rPr lang="en-US" sz="900">
              <a:latin typeface="Neue Haas Grotesk Text Pro" panose="020B0504020202020204" pitchFamily="34" charset="77"/>
            </a:rPr>
            <a:t>Implementation</a:t>
          </a:r>
        </a:p>
      </dgm:t>
    </dgm:pt>
    <dgm:pt modelId="{FE3A02C7-1A22-7343-9723-81E72EBDC717}" type="parTrans" cxnId="{E48589AE-5C94-A648-AB84-70CF5A43E0EE}">
      <dgm:prSet/>
      <dgm:spPr/>
      <dgm:t>
        <a:bodyPr/>
        <a:lstStyle/>
        <a:p>
          <a:endParaRPr lang="en-US"/>
        </a:p>
      </dgm:t>
    </dgm:pt>
    <dgm:pt modelId="{7BCA3FD4-11D4-EB4E-B236-4257E690A67A}" type="sibTrans" cxnId="{E48589AE-5C94-A648-AB84-70CF5A43E0EE}">
      <dgm:prSet/>
      <dgm:spPr/>
      <dgm:t>
        <a:bodyPr/>
        <a:lstStyle/>
        <a:p>
          <a:endParaRPr lang="en-US"/>
        </a:p>
      </dgm:t>
    </dgm:pt>
    <dgm:pt modelId="{67A9BF05-8782-CC42-8DD9-CAC285AF0466}">
      <dgm:prSet custT="1"/>
      <dgm:spPr>
        <a:solidFill>
          <a:srgbClr val="F59BA6"/>
        </a:solidFill>
      </dgm:spPr>
      <dgm:t>
        <a:bodyPr/>
        <a:lstStyle/>
        <a:p>
          <a:pPr rtl="0"/>
          <a:r>
            <a:rPr lang="en-US" sz="1050">
              <a:latin typeface="Neue Haas Grotesk Text Pro" panose="020B0504020202020204" pitchFamily="34" charset="77"/>
            </a:rPr>
            <a:t>Assessment</a:t>
          </a:r>
        </a:p>
      </dgm:t>
    </dgm:pt>
    <dgm:pt modelId="{F0D83800-6A5F-814A-BDF2-799CBE602210}" type="parTrans" cxnId="{F880AB1B-E290-DA46-A7CD-45771AE93016}">
      <dgm:prSet/>
      <dgm:spPr/>
      <dgm:t>
        <a:bodyPr/>
        <a:lstStyle/>
        <a:p>
          <a:endParaRPr lang="en-US"/>
        </a:p>
      </dgm:t>
    </dgm:pt>
    <dgm:pt modelId="{C19326A2-5E90-6C42-AD40-2ECFC164E052}" type="sibTrans" cxnId="{F880AB1B-E290-DA46-A7CD-45771AE93016}">
      <dgm:prSet/>
      <dgm:spPr/>
      <dgm:t>
        <a:bodyPr/>
        <a:lstStyle/>
        <a:p>
          <a:endParaRPr lang="en-US"/>
        </a:p>
      </dgm:t>
    </dgm:pt>
    <dgm:pt modelId="{509DB7F0-3FFA-A443-80D0-114E3F4E4A4F}">
      <dgm:prSet custT="1"/>
      <dgm:spPr>
        <a:solidFill>
          <a:srgbClr val="F59BA6"/>
        </a:solidFill>
      </dgm:spPr>
      <dgm:t>
        <a:bodyPr/>
        <a:lstStyle/>
        <a:p>
          <a:pPr rtl="0"/>
          <a:r>
            <a:rPr lang="en-US" sz="1050">
              <a:latin typeface="Neue Haas Grotesk Text Pro" panose="020B0504020202020204" pitchFamily="34" charset="77"/>
            </a:rPr>
            <a:t>Continuation</a:t>
          </a:r>
        </a:p>
      </dgm:t>
    </dgm:pt>
    <dgm:pt modelId="{C5483B99-BA76-0941-A826-823D4F65BB4E}" type="parTrans" cxnId="{B037D280-8D3B-464A-9A2A-F9F6C999C53C}">
      <dgm:prSet/>
      <dgm:spPr/>
      <dgm:t>
        <a:bodyPr/>
        <a:lstStyle/>
        <a:p>
          <a:endParaRPr lang="en-US"/>
        </a:p>
      </dgm:t>
    </dgm:pt>
    <dgm:pt modelId="{BCE5F636-C841-D844-B2FE-9B010B4DF353}" type="sibTrans" cxnId="{B037D280-8D3B-464A-9A2A-F9F6C999C53C}">
      <dgm:prSet/>
      <dgm:spPr/>
      <dgm:t>
        <a:bodyPr/>
        <a:lstStyle/>
        <a:p>
          <a:endParaRPr lang="en-US"/>
        </a:p>
      </dgm:t>
    </dgm:pt>
    <dgm:pt modelId="{690D22A3-73EB-EE43-B114-8EBF7444FC6D}">
      <dgm:prSet custT="1"/>
      <dgm:spPr>
        <a:solidFill>
          <a:srgbClr val="DE2B48"/>
        </a:solidFill>
      </dgm:spPr>
      <dgm:t>
        <a:bodyPr/>
        <a:lstStyle/>
        <a:p>
          <a:pPr rtl="0"/>
          <a:r>
            <a:rPr lang="en-US" sz="1050">
              <a:latin typeface="Neue Haas Grotesk Text Pro" panose="020B0504020202020204" pitchFamily="34" charset="77"/>
            </a:rPr>
            <a:t>Conclusion</a:t>
          </a:r>
        </a:p>
      </dgm:t>
    </dgm:pt>
    <dgm:pt modelId="{141B4798-CF65-4B44-BFBF-589095233769}" type="parTrans" cxnId="{DEC10FCD-0712-7742-9FEF-5C44EBB2C06B}">
      <dgm:prSet/>
      <dgm:spPr/>
      <dgm:t>
        <a:bodyPr/>
        <a:lstStyle/>
        <a:p>
          <a:endParaRPr lang="en-US"/>
        </a:p>
      </dgm:t>
    </dgm:pt>
    <dgm:pt modelId="{72D2791B-6B29-B64F-926E-BE44A471BB07}" type="sibTrans" cxnId="{DEC10FCD-0712-7742-9FEF-5C44EBB2C06B}">
      <dgm:prSet/>
      <dgm:spPr/>
      <dgm:t>
        <a:bodyPr/>
        <a:lstStyle/>
        <a:p>
          <a:endParaRPr lang="en-US"/>
        </a:p>
      </dgm:t>
    </dgm:pt>
    <dgm:pt modelId="{B6D553CC-4C59-CE4D-952E-78A174608CFD}" type="pres">
      <dgm:prSet presAssocID="{17D57858-FD5A-8947-B040-A82384FFDC9F}" presName="Name0" presStyleCnt="0">
        <dgm:presLayoutVars>
          <dgm:dir/>
          <dgm:resizeHandles val="exact"/>
        </dgm:presLayoutVars>
      </dgm:prSet>
      <dgm:spPr/>
    </dgm:pt>
    <dgm:pt modelId="{B0C0BC55-6FB8-E545-A2AD-564DCDC4BE99}" type="pres">
      <dgm:prSet presAssocID="{EA7BFF59-6C57-4F47-9548-4B6E815EC1E8}" presName="parTxOnly" presStyleLbl="node1" presStyleIdx="0" presStyleCnt="8">
        <dgm:presLayoutVars>
          <dgm:bulletEnabled val="1"/>
        </dgm:presLayoutVars>
      </dgm:prSet>
      <dgm:spPr/>
    </dgm:pt>
    <dgm:pt modelId="{9F3B144C-1ADD-394F-BB8E-17AF7FA7AD37}" type="pres">
      <dgm:prSet presAssocID="{B279CA41-9B90-4344-A770-341A5842F9FB}" presName="parSpace" presStyleCnt="0"/>
      <dgm:spPr/>
    </dgm:pt>
    <dgm:pt modelId="{F0A1545B-9A88-054D-B9C9-FD6AB59097D0}" type="pres">
      <dgm:prSet presAssocID="{3A6BF496-5AC2-6E44-AA0F-F7F1F8A07AAA}" presName="parTxOnly" presStyleLbl="node1" presStyleIdx="1" presStyleCnt="8">
        <dgm:presLayoutVars>
          <dgm:bulletEnabled val="1"/>
        </dgm:presLayoutVars>
      </dgm:prSet>
      <dgm:spPr/>
    </dgm:pt>
    <dgm:pt modelId="{28CBEA16-8060-6047-9779-2FA986EFBCAC}" type="pres">
      <dgm:prSet presAssocID="{3886C9E6-5EC8-2D47-B037-005AC7EB76FC}" presName="parSpace" presStyleCnt="0"/>
      <dgm:spPr/>
    </dgm:pt>
    <dgm:pt modelId="{895009D0-FE01-B040-9421-7E0C513AA409}" type="pres">
      <dgm:prSet presAssocID="{F650E0C2-8653-A040-834F-252DE3D82B2C}" presName="parTxOnly" presStyleLbl="node1" presStyleIdx="2" presStyleCnt="8">
        <dgm:presLayoutVars>
          <dgm:bulletEnabled val="1"/>
        </dgm:presLayoutVars>
      </dgm:prSet>
      <dgm:spPr/>
    </dgm:pt>
    <dgm:pt modelId="{2C35F422-3125-4944-B752-F5EC888F85B8}" type="pres">
      <dgm:prSet presAssocID="{3D036CD8-F1C7-2A44-827C-467471FA547B}" presName="parSpace" presStyleCnt="0"/>
      <dgm:spPr/>
    </dgm:pt>
    <dgm:pt modelId="{15DCF12B-2921-3445-9031-D647486015A0}" type="pres">
      <dgm:prSet presAssocID="{8373E2A6-F10C-D645-BE4B-C9A69689237F}" presName="parTxOnly" presStyleLbl="node1" presStyleIdx="3" presStyleCnt="8">
        <dgm:presLayoutVars>
          <dgm:bulletEnabled val="1"/>
        </dgm:presLayoutVars>
      </dgm:prSet>
      <dgm:spPr/>
    </dgm:pt>
    <dgm:pt modelId="{C0B006F4-D47D-6B4A-8324-15934FFEF1B5}" type="pres">
      <dgm:prSet presAssocID="{F64BDC37-7335-8349-B845-6089653CC239}" presName="parSpace" presStyleCnt="0"/>
      <dgm:spPr/>
    </dgm:pt>
    <dgm:pt modelId="{F0135D14-14A3-EF43-AB7B-B2B99D7230E5}" type="pres">
      <dgm:prSet presAssocID="{5E1FE5E6-828E-2048-A62C-E8933C13C984}" presName="parTxOnly" presStyleLbl="node1" presStyleIdx="4" presStyleCnt="8">
        <dgm:presLayoutVars>
          <dgm:bulletEnabled val="1"/>
        </dgm:presLayoutVars>
      </dgm:prSet>
      <dgm:spPr/>
    </dgm:pt>
    <dgm:pt modelId="{80CB0BF3-9C10-9746-AF02-72D0F8955D2C}" type="pres">
      <dgm:prSet presAssocID="{7BCA3FD4-11D4-EB4E-B236-4257E690A67A}" presName="parSpace" presStyleCnt="0"/>
      <dgm:spPr/>
    </dgm:pt>
    <dgm:pt modelId="{8217B6DC-D9A4-5D43-B19C-9ED9F1ABAD7C}" type="pres">
      <dgm:prSet presAssocID="{67A9BF05-8782-CC42-8DD9-CAC285AF0466}" presName="parTxOnly" presStyleLbl="node1" presStyleIdx="5" presStyleCnt="8">
        <dgm:presLayoutVars>
          <dgm:bulletEnabled val="1"/>
        </dgm:presLayoutVars>
      </dgm:prSet>
      <dgm:spPr/>
    </dgm:pt>
    <dgm:pt modelId="{12750BFE-30B6-2148-8EB6-727206F56B34}" type="pres">
      <dgm:prSet presAssocID="{C19326A2-5E90-6C42-AD40-2ECFC164E052}" presName="parSpace" presStyleCnt="0"/>
      <dgm:spPr/>
    </dgm:pt>
    <dgm:pt modelId="{3D77F309-2588-2C4C-9089-8D7DF9518BA4}" type="pres">
      <dgm:prSet presAssocID="{509DB7F0-3FFA-A443-80D0-114E3F4E4A4F}" presName="parTxOnly" presStyleLbl="node1" presStyleIdx="6" presStyleCnt="8">
        <dgm:presLayoutVars>
          <dgm:bulletEnabled val="1"/>
        </dgm:presLayoutVars>
      </dgm:prSet>
      <dgm:spPr/>
    </dgm:pt>
    <dgm:pt modelId="{0147722F-1494-A84D-872C-A225DBBD751B}" type="pres">
      <dgm:prSet presAssocID="{BCE5F636-C841-D844-B2FE-9B010B4DF353}" presName="parSpace" presStyleCnt="0"/>
      <dgm:spPr/>
    </dgm:pt>
    <dgm:pt modelId="{802A9DE7-210F-4340-8E93-5F74386A1C53}" type="pres">
      <dgm:prSet presAssocID="{690D22A3-73EB-EE43-B114-8EBF7444FC6D}" presName="parTxOnly" presStyleLbl="node1" presStyleIdx="7" presStyleCnt="8">
        <dgm:presLayoutVars>
          <dgm:bulletEnabled val="1"/>
        </dgm:presLayoutVars>
      </dgm:prSet>
      <dgm:spPr/>
    </dgm:pt>
  </dgm:ptLst>
  <dgm:cxnLst>
    <dgm:cxn modelId="{B52C820A-FE9B-A341-8326-303DF7BE8F37}" type="presOf" srcId="{17D57858-FD5A-8947-B040-A82384FFDC9F}" destId="{B6D553CC-4C59-CE4D-952E-78A174608CFD}" srcOrd="0" destOrd="0" presId="urn:microsoft.com/office/officeart/2005/8/layout/hChevron3"/>
    <dgm:cxn modelId="{BCE39B0F-F70B-B04A-933B-D0CFC3703B1C}" type="presOf" srcId="{F650E0C2-8653-A040-834F-252DE3D82B2C}" destId="{895009D0-FE01-B040-9421-7E0C513AA409}" srcOrd="0" destOrd="0" presId="urn:microsoft.com/office/officeart/2005/8/layout/hChevron3"/>
    <dgm:cxn modelId="{EA44111A-A7BC-1047-9FDD-C213899AF170}" type="presOf" srcId="{5E1FE5E6-828E-2048-A62C-E8933C13C984}" destId="{F0135D14-14A3-EF43-AB7B-B2B99D7230E5}" srcOrd="0" destOrd="0" presId="urn:microsoft.com/office/officeart/2005/8/layout/hChevron3"/>
    <dgm:cxn modelId="{F880AB1B-E290-DA46-A7CD-45771AE93016}" srcId="{17D57858-FD5A-8947-B040-A82384FFDC9F}" destId="{67A9BF05-8782-CC42-8DD9-CAC285AF0466}" srcOrd="5" destOrd="0" parTransId="{F0D83800-6A5F-814A-BDF2-799CBE602210}" sibTransId="{C19326A2-5E90-6C42-AD40-2ECFC164E052}"/>
    <dgm:cxn modelId="{1E20C71E-97F3-7E4D-9570-AEE62D7B19B9}" srcId="{17D57858-FD5A-8947-B040-A82384FFDC9F}" destId="{3A6BF496-5AC2-6E44-AA0F-F7F1F8A07AAA}" srcOrd="1" destOrd="0" parTransId="{E595F904-E6E7-914E-BDAA-0C037E722007}" sibTransId="{3886C9E6-5EC8-2D47-B037-005AC7EB76FC}"/>
    <dgm:cxn modelId="{42212C25-F8EB-AB4B-A0A1-6A675FEF5A0D}" srcId="{17D57858-FD5A-8947-B040-A82384FFDC9F}" destId="{F650E0C2-8653-A040-834F-252DE3D82B2C}" srcOrd="2" destOrd="0" parTransId="{451A9F5A-A102-624B-A617-BB2992BF2A4E}" sibTransId="{3D036CD8-F1C7-2A44-827C-467471FA547B}"/>
    <dgm:cxn modelId="{16264136-900A-2C4A-A8C9-EDEC681F79B0}" type="presOf" srcId="{67A9BF05-8782-CC42-8DD9-CAC285AF0466}" destId="{8217B6DC-D9A4-5D43-B19C-9ED9F1ABAD7C}" srcOrd="0" destOrd="0" presId="urn:microsoft.com/office/officeart/2005/8/layout/hChevron3"/>
    <dgm:cxn modelId="{6FE7CC71-16EA-9E4C-B61E-CDC0543EA022}" type="presOf" srcId="{3A6BF496-5AC2-6E44-AA0F-F7F1F8A07AAA}" destId="{F0A1545B-9A88-054D-B9C9-FD6AB59097D0}" srcOrd="0" destOrd="0" presId="urn:microsoft.com/office/officeart/2005/8/layout/hChevron3"/>
    <dgm:cxn modelId="{B037D280-8D3B-464A-9A2A-F9F6C999C53C}" srcId="{17D57858-FD5A-8947-B040-A82384FFDC9F}" destId="{509DB7F0-3FFA-A443-80D0-114E3F4E4A4F}" srcOrd="6" destOrd="0" parTransId="{C5483B99-BA76-0941-A826-823D4F65BB4E}" sibTransId="{BCE5F636-C841-D844-B2FE-9B010B4DF353}"/>
    <dgm:cxn modelId="{879B0B85-1227-B548-9AB1-438D442F35EF}" srcId="{17D57858-FD5A-8947-B040-A82384FFDC9F}" destId="{8373E2A6-F10C-D645-BE4B-C9A69689237F}" srcOrd="3" destOrd="0" parTransId="{70913576-6BEE-1640-8239-DB60795FF834}" sibTransId="{F64BDC37-7335-8349-B845-6089653CC239}"/>
    <dgm:cxn modelId="{2C5BEEA1-2EC2-534A-9823-21A71C1DC792}" type="presOf" srcId="{8373E2A6-F10C-D645-BE4B-C9A69689237F}" destId="{15DCF12B-2921-3445-9031-D647486015A0}" srcOrd="0" destOrd="0" presId="urn:microsoft.com/office/officeart/2005/8/layout/hChevron3"/>
    <dgm:cxn modelId="{73B253A4-105C-C248-BB4B-8FEF8A84A52C}" type="presOf" srcId="{509DB7F0-3FFA-A443-80D0-114E3F4E4A4F}" destId="{3D77F309-2588-2C4C-9089-8D7DF9518BA4}" srcOrd="0" destOrd="0" presId="urn:microsoft.com/office/officeart/2005/8/layout/hChevron3"/>
    <dgm:cxn modelId="{E48589AE-5C94-A648-AB84-70CF5A43E0EE}" srcId="{17D57858-FD5A-8947-B040-A82384FFDC9F}" destId="{5E1FE5E6-828E-2048-A62C-E8933C13C984}" srcOrd="4" destOrd="0" parTransId="{FE3A02C7-1A22-7343-9723-81E72EBDC717}" sibTransId="{7BCA3FD4-11D4-EB4E-B236-4257E690A67A}"/>
    <dgm:cxn modelId="{B178ABB5-1DEF-4A49-BF65-38DEFA6E040D}" type="presOf" srcId="{690D22A3-73EB-EE43-B114-8EBF7444FC6D}" destId="{802A9DE7-210F-4340-8E93-5F74386A1C53}" srcOrd="0" destOrd="0" presId="urn:microsoft.com/office/officeart/2005/8/layout/hChevron3"/>
    <dgm:cxn modelId="{DEC10FCD-0712-7742-9FEF-5C44EBB2C06B}" srcId="{17D57858-FD5A-8947-B040-A82384FFDC9F}" destId="{690D22A3-73EB-EE43-B114-8EBF7444FC6D}" srcOrd="7" destOrd="0" parTransId="{141B4798-CF65-4B44-BFBF-589095233769}" sibTransId="{72D2791B-6B29-B64F-926E-BE44A471BB07}"/>
    <dgm:cxn modelId="{69FA4CD7-C926-4E4B-AE58-43BFD6E0B5AC}" srcId="{17D57858-FD5A-8947-B040-A82384FFDC9F}" destId="{EA7BFF59-6C57-4F47-9548-4B6E815EC1E8}" srcOrd="0" destOrd="0" parTransId="{AF8C7167-3FCF-D143-956E-6454556763F4}" sibTransId="{B279CA41-9B90-4344-A770-341A5842F9FB}"/>
    <dgm:cxn modelId="{9DFD12DE-103C-D946-9A32-C930634BD74E}" type="presOf" srcId="{EA7BFF59-6C57-4F47-9548-4B6E815EC1E8}" destId="{B0C0BC55-6FB8-E545-A2AD-564DCDC4BE99}" srcOrd="0" destOrd="0" presId="urn:microsoft.com/office/officeart/2005/8/layout/hChevron3"/>
    <dgm:cxn modelId="{105DBEE6-6E21-D447-9F9E-7EED31909268}" type="presParOf" srcId="{B6D553CC-4C59-CE4D-952E-78A174608CFD}" destId="{B0C0BC55-6FB8-E545-A2AD-564DCDC4BE99}" srcOrd="0" destOrd="0" presId="urn:microsoft.com/office/officeart/2005/8/layout/hChevron3"/>
    <dgm:cxn modelId="{281785C5-FE4F-834D-B6AA-B92EE807626D}" type="presParOf" srcId="{B6D553CC-4C59-CE4D-952E-78A174608CFD}" destId="{9F3B144C-1ADD-394F-BB8E-17AF7FA7AD37}" srcOrd="1" destOrd="0" presId="urn:microsoft.com/office/officeart/2005/8/layout/hChevron3"/>
    <dgm:cxn modelId="{40692668-FD70-9343-9B11-FCDBA28E91DD}" type="presParOf" srcId="{B6D553CC-4C59-CE4D-952E-78A174608CFD}" destId="{F0A1545B-9A88-054D-B9C9-FD6AB59097D0}" srcOrd="2" destOrd="0" presId="urn:microsoft.com/office/officeart/2005/8/layout/hChevron3"/>
    <dgm:cxn modelId="{DAEDE9C0-8A43-7D48-888C-000132062285}" type="presParOf" srcId="{B6D553CC-4C59-CE4D-952E-78A174608CFD}" destId="{28CBEA16-8060-6047-9779-2FA986EFBCAC}" srcOrd="3" destOrd="0" presId="urn:microsoft.com/office/officeart/2005/8/layout/hChevron3"/>
    <dgm:cxn modelId="{C10E0BFE-7FE3-7D47-96CA-FEEA0B105F14}" type="presParOf" srcId="{B6D553CC-4C59-CE4D-952E-78A174608CFD}" destId="{895009D0-FE01-B040-9421-7E0C513AA409}" srcOrd="4" destOrd="0" presId="urn:microsoft.com/office/officeart/2005/8/layout/hChevron3"/>
    <dgm:cxn modelId="{6DA6DD9F-476B-F244-97E5-BA04A2D28D62}" type="presParOf" srcId="{B6D553CC-4C59-CE4D-952E-78A174608CFD}" destId="{2C35F422-3125-4944-B752-F5EC888F85B8}" srcOrd="5" destOrd="0" presId="urn:microsoft.com/office/officeart/2005/8/layout/hChevron3"/>
    <dgm:cxn modelId="{B1C58178-33E3-5440-B481-7301A3ECAAD4}" type="presParOf" srcId="{B6D553CC-4C59-CE4D-952E-78A174608CFD}" destId="{15DCF12B-2921-3445-9031-D647486015A0}" srcOrd="6" destOrd="0" presId="urn:microsoft.com/office/officeart/2005/8/layout/hChevron3"/>
    <dgm:cxn modelId="{3FFAEEED-E4A5-A74C-AC4C-C16C7AB092D7}" type="presParOf" srcId="{B6D553CC-4C59-CE4D-952E-78A174608CFD}" destId="{C0B006F4-D47D-6B4A-8324-15934FFEF1B5}" srcOrd="7" destOrd="0" presId="urn:microsoft.com/office/officeart/2005/8/layout/hChevron3"/>
    <dgm:cxn modelId="{FA4DA37C-DA98-CD42-8BDA-A10074D94076}" type="presParOf" srcId="{B6D553CC-4C59-CE4D-952E-78A174608CFD}" destId="{F0135D14-14A3-EF43-AB7B-B2B99D7230E5}" srcOrd="8" destOrd="0" presId="urn:microsoft.com/office/officeart/2005/8/layout/hChevron3"/>
    <dgm:cxn modelId="{7D96DB9D-F0E4-4242-9877-7036111FDEF8}" type="presParOf" srcId="{B6D553CC-4C59-CE4D-952E-78A174608CFD}" destId="{80CB0BF3-9C10-9746-AF02-72D0F8955D2C}" srcOrd="9" destOrd="0" presId="urn:microsoft.com/office/officeart/2005/8/layout/hChevron3"/>
    <dgm:cxn modelId="{792F274B-5A0E-4748-AC75-168783D7337E}" type="presParOf" srcId="{B6D553CC-4C59-CE4D-952E-78A174608CFD}" destId="{8217B6DC-D9A4-5D43-B19C-9ED9F1ABAD7C}" srcOrd="10" destOrd="0" presId="urn:microsoft.com/office/officeart/2005/8/layout/hChevron3"/>
    <dgm:cxn modelId="{75121885-574A-C649-9383-CF652AC7E531}" type="presParOf" srcId="{B6D553CC-4C59-CE4D-952E-78A174608CFD}" destId="{12750BFE-30B6-2148-8EB6-727206F56B34}" srcOrd="11" destOrd="0" presId="urn:microsoft.com/office/officeart/2005/8/layout/hChevron3"/>
    <dgm:cxn modelId="{C1AB0AD2-8FE0-F043-A4FD-0B58B05C60A4}" type="presParOf" srcId="{B6D553CC-4C59-CE4D-952E-78A174608CFD}" destId="{3D77F309-2588-2C4C-9089-8D7DF9518BA4}" srcOrd="12" destOrd="0" presId="urn:microsoft.com/office/officeart/2005/8/layout/hChevron3"/>
    <dgm:cxn modelId="{81D9C44B-1D27-804B-8210-957B90130B21}" type="presParOf" srcId="{B6D553CC-4C59-CE4D-952E-78A174608CFD}" destId="{0147722F-1494-A84D-872C-A225DBBD751B}" srcOrd="13" destOrd="0" presId="urn:microsoft.com/office/officeart/2005/8/layout/hChevron3"/>
    <dgm:cxn modelId="{37DDFD5B-3E33-2A4F-B2DD-1A79CF6BD307}" type="presParOf" srcId="{B6D553CC-4C59-CE4D-952E-78A174608CFD}" destId="{802A9DE7-210F-4340-8E93-5F74386A1C53}" srcOrd="1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569" y="150617"/>
          <a:ext cx="1726437" cy="690575"/>
        </a:xfrm>
        <a:prstGeom prst="homePlate">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569" y="150617"/>
        <a:ext cx="1553793" cy="690575"/>
      </dsp:txXfrm>
    </dsp:sp>
    <dsp:sp modelId="{F0A1545B-9A88-054D-B9C9-FD6AB59097D0}">
      <dsp:nvSpPr>
        <dsp:cNvPr id="0" name=""/>
        <dsp:cNvSpPr/>
      </dsp:nvSpPr>
      <dsp:spPr>
        <a:xfrm>
          <a:off x="1386719"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32007" y="150617"/>
        <a:ext cx="1035862" cy="690575"/>
      </dsp:txXfrm>
    </dsp:sp>
    <dsp:sp modelId="{895009D0-FE01-B040-9421-7E0C513AA409}">
      <dsp:nvSpPr>
        <dsp:cNvPr id="0" name=""/>
        <dsp:cNvSpPr/>
      </dsp:nvSpPr>
      <dsp:spPr>
        <a:xfrm>
          <a:off x="2767869"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113157" y="150617"/>
        <a:ext cx="1035862" cy="690575"/>
      </dsp:txXfrm>
    </dsp:sp>
    <dsp:sp modelId="{15DCF12B-2921-3445-9031-D647486015A0}">
      <dsp:nvSpPr>
        <dsp:cNvPr id="0" name=""/>
        <dsp:cNvSpPr/>
      </dsp:nvSpPr>
      <dsp:spPr>
        <a:xfrm>
          <a:off x="4149019"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rtl="0">
            <a:lnSpc>
              <a:spcPct val="90000"/>
            </a:lnSpc>
            <a:spcBef>
              <a:spcPct val="0"/>
            </a:spcBef>
            <a:spcAft>
              <a:spcPct val="35000"/>
            </a:spcAft>
            <a:buNone/>
          </a:pPr>
          <a:r>
            <a:rPr lang="en-US" sz="800" kern="1200">
              <a:latin typeface="Neue Haas Grotesk Text Pro" panose="020B0504020202020204" pitchFamily="34" charset="77"/>
            </a:rPr>
            <a:t>Recommendations</a:t>
          </a:r>
        </a:p>
      </dsp:txBody>
      <dsp:txXfrm>
        <a:off x="4494307" y="150617"/>
        <a:ext cx="1035862" cy="690575"/>
      </dsp:txXfrm>
    </dsp:sp>
    <dsp:sp modelId="{F0135D14-14A3-EF43-AB7B-B2B99D7230E5}">
      <dsp:nvSpPr>
        <dsp:cNvPr id="0" name=""/>
        <dsp:cNvSpPr/>
      </dsp:nvSpPr>
      <dsp:spPr>
        <a:xfrm>
          <a:off x="5530170"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5875458" y="150617"/>
        <a:ext cx="1035862" cy="690575"/>
      </dsp:txXfrm>
    </dsp:sp>
    <dsp:sp modelId="{8217B6DC-D9A4-5D43-B19C-9ED9F1ABAD7C}">
      <dsp:nvSpPr>
        <dsp:cNvPr id="0" name=""/>
        <dsp:cNvSpPr/>
      </dsp:nvSpPr>
      <dsp:spPr>
        <a:xfrm>
          <a:off x="6911320"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256608" y="150617"/>
        <a:ext cx="1035862" cy="690575"/>
      </dsp:txXfrm>
    </dsp:sp>
    <dsp:sp modelId="{3D77F309-2588-2C4C-9089-8D7DF9518BA4}">
      <dsp:nvSpPr>
        <dsp:cNvPr id="0" name=""/>
        <dsp:cNvSpPr/>
      </dsp:nvSpPr>
      <dsp:spPr>
        <a:xfrm>
          <a:off x="8292470"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637758" y="150617"/>
        <a:ext cx="1035862" cy="690575"/>
      </dsp:txXfrm>
    </dsp:sp>
    <dsp:sp modelId="{802A9DE7-210F-4340-8E93-5F74386A1C53}">
      <dsp:nvSpPr>
        <dsp:cNvPr id="0" name=""/>
        <dsp:cNvSpPr/>
      </dsp:nvSpPr>
      <dsp:spPr>
        <a:xfrm>
          <a:off x="9673621" y="150617"/>
          <a:ext cx="1726437" cy="690575"/>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018909" y="150617"/>
        <a:ext cx="1035862" cy="6905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68C5E1-7816-0D4C-B897-729DA4017B71}">
      <dsp:nvSpPr>
        <dsp:cNvPr id="0" name=""/>
        <dsp:cNvSpPr/>
      </dsp:nvSpPr>
      <dsp:spPr>
        <a:xfrm>
          <a:off x="5731" y="140563"/>
          <a:ext cx="1776709" cy="710683"/>
        </a:xfrm>
        <a:prstGeom prst="homePlate">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008" tIns="32004" rIns="16002" bIns="32004" numCol="1" spcCol="1270" anchor="ctr" anchorCtr="0">
          <a:noAutofit/>
        </a:bodyPr>
        <a:lstStyle/>
        <a:p>
          <a:pPr marL="0" lvl="0" indent="0" algn="ctr" defTabSz="533400">
            <a:lnSpc>
              <a:spcPct val="90000"/>
            </a:lnSpc>
            <a:spcBef>
              <a:spcPct val="0"/>
            </a:spcBef>
            <a:spcAft>
              <a:spcPct val="35000"/>
            </a:spcAft>
            <a:buNone/>
          </a:pPr>
          <a:r>
            <a:rPr lang="en-US" sz="1200" kern="1200">
              <a:latin typeface="Neue Haas Grotesk Text Pro" panose="020B0504020202020204" pitchFamily="34" charset="77"/>
            </a:rPr>
            <a:t>Introduction</a:t>
          </a:r>
        </a:p>
      </dsp:txBody>
      <dsp:txXfrm>
        <a:off x="5731" y="140563"/>
        <a:ext cx="1599038" cy="710683"/>
      </dsp:txXfrm>
    </dsp:sp>
    <dsp:sp modelId="{72781BE3-78B0-A540-851C-DF437915BA67}">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rtl="0">
            <a:lnSpc>
              <a:spcPct val="90000"/>
            </a:lnSpc>
            <a:spcBef>
              <a:spcPct val="0"/>
            </a:spcBef>
            <a:spcAft>
              <a:spcPct val="35000"/>
            </a:spcAft>
            <a:buNone/>
          </a:pPr>
          <a:r>
            <a:rPr lang="en-US" sz="110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rgbClr val="F59BA6"/>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88914" y="136682"/>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4256" y="136682"/>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C0BC55-6FB8-E545-A2AD-564DCDC4BE99}">
      <dsp:nvSpPr>
        <dsp:cNvPr id="0" name=""/>
        <dsp:cNvSpPr/>
      </dsp:nvSpPr>
      <dsp:spPr>
        <a:xfrm>
          <a:off x="5731" y="140563"/>
          <a:ext cx="1776709" cy="710683"/>
        </a:xfrm>
        <a:prstGeom prst="homePlate">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8674"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kern="1200">
              <a:latin typeface="Neue Haas Grotesk Text Pro" panose="020B0504020202020204" pitchFamily="34" charset="77"/>
            </a:rPr>
            <a:t>Introduction</a:t>
          </a:r>
          <a:endParaRPr lang="en-US" sz="1200" kern="1200">
            <a:latin typeface="Neue Haas Grotesk Text Pro" panose="020B0504020202020204" pitchFamily="34" charset="77"/>
          </a:endParaRPr>
        </a:p>
      </dsp:txBody>
      <dsp:txXfrm>
        <a:off x="5731" y="140563"/>
        <a:ext cx="1599038" cy="710683"/>
      </dsp:txXfrm>
    </dsp:sp>
    <dsp:sp modelId="{F0A1545B-9A88-054D-B9C9-FD6AB59097D0}">
      <dsp:nvSpPr>
        <dsp:cNvPr id="0" name=""/>
        <dsp:cNvSpPr/>
      </dsp:nvSpPr>
      <dsp:spPr>
        <a:xfrm>
          <a:off x="1427099"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Collection</a:t>
          </a:r>
        </a:p>
      </dsp:txBody>
      <dsp:txXfrm>
        <a:off x="1782441" y="140563"/>
        <a:ext cx="1066026" cy="710683"/>
      </dsp:txXfrm>
    </dsp:sp>
    <dsp:sp modelId="{895009D0-FE01-B040-9421-7E0C513AA409}">
      <dsp:nvSpPr>
        <dsp:cNvPr id="0" name=""/>
        <dsp:cNvSpPr/>
      </dsp:nvSpPr>
      <dsp:spPr>
        <a:xfrm>
          <a:off x="2848466"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Data Analysis</a:t>
          </a:r>
        </a:p>
      </dsp:txBody>
      <dsp:txXfrm>
        <a:off x="3203808" y="140563"/>
        <a:ext cx="1066026" cy="710683"/>
      </dsp:txXfrm>
    </dsp:sp>
    <dsp:sp modelId="{15DCF12B-2921-3445-9031-D647486015A0}">
      <dsp:nvSpPr>
        <dsp:cNvPr id="0" name=""/>
        <dsp:cNvSpPr/>
      </dsp:nvSpPr>
      <dsp:spPr>
        <a:xfrm>
          <a:off x="4269834"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Recommendations</a:t>
          </a:r>
        </a:p>
      </dsp:txBody>
      <dsp:txXfrm>
        <a:off x="4625176" y="140563"/>
        <a:ext cx="1066026" cy="710683"/>
      </dsp:txXfrm>
    </dsp:sp>
    <dsp:sp modelId="{F0135D14-14A3-EF43-AB7B-B2B99D7230E5}">
      <dsp:nvSpPr>
        <dsp:cNvPr id="0" name=""/>
        <dsp:cNvSpPr/>
      </dsp:nvSpPr>
      <dsp:spPr>
        <a:xfrm>
          <a:off x="5691202"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latin typeface="Neue Haas Grotesk Text Pro" panose="020B0504020202020204" pitchFamily="34" charset="77"/>
            </a:rPr>
            <a:t>Implementation</a:t>
          </a:r>
        </a:p>
      </dsp:txBody>
      <dsp:txXfrm>
        <a:off x="6046544" y="140563"/>
        <a:ext cx="1066026" cy="710683"/>
      </dsp:txXfrm>
    </dsp:sp>
    <dsp:sp modelId="{8217B6DC-D9A4-5D43-B19C-9ED9F1ABAD7C}">
      <dsp:nvSpPr>
        <dsp:cNvPr id="0" name=""/>
        <dsp:cNvSpPr/>
      </dsp:nvSpPr>
      <dsp:spPr>
        <a:xfrm>
          <a:off x="7112570"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Assessment</a:t>
          </a:r>
        </a:p>
      </dsp:txBody>
      <dsp:txXfrm>
        <a:off x="7467912" y="140563"/>
        <a:ext cx="1066026" cy="710683"/>
      </dsp:txXfrm>
    </dsp:sp>
    <dsp:sp modelId="{3D77F309-2588-2C4C-9089-8D7DF9518BA4}">
      <dsp:nvSpPr>
        <dsp:cNvPr id="0" name=""/>
        <dsp:cNvSpPr/>
      </dsp:nvSpPr>
      <dsp:spPr>
        <a:xfrm>
          <a:off x="8533938" y="140563"/>
          <a:ext cx="1776709" cy="710683"/>
        </a:xfrm>
        <a:prstGeom prst="chevron">
          <a:avLst/>
        </a:prstGeom>
        <a:solidFill>
          <a:srgbClr val="F59BA6"/>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Continuation</a:t>
          </a:r>
        </a:p>
      </dsp:txBody>
      <dsp:txXfrm>
        <a:off x="8889280" y="140563"/>
        <a:ext cx="1066026" cy="710683"/>
      </dsp:txXfrm>
    </dsp:sp>
    <dsp:sp modelId="{802A9DE7-210F-4340-8E93-5F74386A1C53}">
      <dsp:nvSpPr>
        <dsp:cNvPr id="0" name=""/>
        <dsp:cNvSpPr/>
      </dsp:nvSpPr>
      <dsp:spPr>
        <a:xfrm>
          <a:off x="9955305" y="140563"/>
          <a:ext cx="1776709" cy="710683"/>
        </a:xfrm>
        <a:prstGeom prst="chevron">
          <a:avLst/>
        </a:prstGeom>
        <a:solidFill>
          <a:srgbClr val="DE2B48"/>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66725" rtl="0">
            <a:lnSpc>
              <a:spcPct val="90000"/>
            </a:lnSpc>
            <a:spcBef>
              <a:spcPct val="0"/>
            </a:spcBef>
            <a:spcAft>
              <a:spcPct val="35000"/>
            </a:spcAft>
            <a:buNone/>
          </a:pPr>
          <a:r>
            <a:rPr lang="en-US" sz="1050" kern="1200">
              <a:latin typeface="Neue Haas Grotesk Text Pro" panose="020B0504020202020204" pitchFamily="34" charset="77"/>
            </a:rPr>
            <a:t>Conclusion</a:t>
          </a:r>
        </a:p>
      </dsp:txBody>
      <dsp:txXfrm>
        <a:off x="10310647" y="140563"/>
        <a:ext cx="1066026" cy="710683"/>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129A7-2624-394D-9AC0-649BE851F013}"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CBC78-88DF-6447-89DF-6EAD6709636E}" type="slidenum">
              <a:rPr lang="en-US" smtClean="0"/>
              <a:t>‹#›</a:t>
            </a:fld>
            <a:endParaRPr lang="en-US"/>
          </a:p>
        </p:txBody>
      </p:sp>
    </p:spTree>
    <p:extLst>
      <p:ext uri="{BB962C8B-B14F-4D97-AF65-F5344CB8AC3E}">
        <p14:creationId xmlns:p14="http://schemas.microsoft.com/office/powerpoint/2010/main" val="426089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5CBC78-88DF-6447-89DF-6EAD6709636E}" type="slidenum">
              <a:rPr lang="en-US" smtClean="0"/>
              <a:t>0</a:t>
            </a:fld>
            <a:endParaRPr lang="en-US"/>
          </a:p>
        </p:txBody>
      </p:sp>
    </p:spTree>
    <p:extLst>
      <p:ext uri="{BB962C8B-B14F-4D97-AF65-F5344CB8AC3E}">
        <p14:creationId xmlns:p14="http://schemas.microsoft.com/office/powerpoint/2010/main" val="3753751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1"/>
              <a:t>Hi everyone, excited to share our final recommendations for delivery transportation optimization.  The GBRFB is a 501c3 non-profit, who has served the greater baton rouge region for the past 40 years. The food bank distributes about 16 million pounds of food to over 116 agencies across 11 parishes.</a:t>
            </a:r>
          </a:p>
          <a:p>
            <a:pPr marL="171450" indent="-171450">
              <a:buFontTx/>
              <a:buChar char="-"/>
            </a:pPr>
            <a:endParaRPr lang="en-US" b="1"/>
          </a:p>
          <a:p>
            <a:pPr marL="171450" indent="-171450">
              <a:buFontTx/>
              <a:buChar char="-"/>
            </a:pPr>
            <a:r>
              <a:rPr lang="en-US" b="1"/>
              <a:t>The current issue faced by the food bank is agency-based routing, where routes are created solely based on agency requests. This leads to excess miles and spend. </a:t>
            </a:r>
          </a:p>
          <a:p>
            <a:pPr marL="171450" indent="-171450">
              <a:buFontTx/>
              <a:buChar char="-"/>
            </a:pPr>
            <a:endParaRPr lang="en-US" b="1"/>
          </a:p>
          <a:p>
            <a:pPr marL="171450" indent="-171450">
              <a:buFontTx/>
              <a:buChar char="-"/>
            </a:pPr>
            <a:r>
              <a:rPr lang="en-US" b="1"/>
              <a:t>We have developed a route optimization strategy that will assist the food bank in grouping agencies by location to minimize these costs, and our strategy also focuses on increasing efficiency and data clarity in the delivery logistics process</a:t>
            </a:r>
          </a:p>
        </p:txBody>
      </p:sp>
      <p:sp>
        <p:nvSpPr>
          <p:cNvPr id="4" name="Slide Number Placeholder 3"/>
          <p:cNvSpPr>
            <a:spLocks noGrp="1"/>
          </p:cNvSpPr>
          <p:nvPr>
            <p:ph type="sldNum" sz="quarter" idx="5"/>
          </p:nvPr>
        </p:nvSpPr>
        <p:spPr/>
        <p:txBody>
          <a:bodyPr/>
          <a:lstStyle/>
          <a:p>
            <a:fld id="{695CBC78-88DF-6447-89DF-6EAD6709636E}" type="slidenum">
              <a:rPr lang="en-US" smtClean="0"/>
              <a:t>1</a:t>
            </a:fld>
            <a:endParaRPr lang="en-US"/>
          </a:p>
        </p:txBody>
      </p:sp>
    </p:spTree>
    <p:extLst>
      <p:ext uri="{BB962C8B-B14F-4D97-AF65-F5344CB8AC3E}">
        <p14:creationId xmlns:p14="http://schemas.microsoft.com/office/powerpoint/2010/main" val="3792059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11DE4-CC5C-A486-2F3C-A5C1EBFD0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D6DAA-AD8A-AD31-2B8F-2BDB045B0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022E58-2D05-CF83-2F20-2F507AA4BCE0}"/>
              </a:ext>
            </a:extLst>
          </p:cNvPr>
          <p:cNvSpPr>
            <a:spLocks noGrp="1"/>
          </p:cNvSpPr>
          <p:nvPr>
            <p:ph type="body" idx="1"/>
          </p:nvPr>
        </p:nvSpPr>
        <p:spPr/>
        <p:txBody>
          <a:bodyPr/>
          <a:lstStyle/>
          <a:p>
            <a:pPr marL="171450" indent="-171450">
              <a:buFontTx/>
              <a:buChar char="-"/>
            </a:pPr>
            <a:r>
              <a:rPr lang="en-US"/>
              <a:t>For some more information, we wanted to discuss Samsara, </a:t>
            </a:r>
          </a:p>
        </p:txBody>
      </p:sp>
      <p:sp>
        <p:nvSpPr>
          <p:cNvPr id="4" name="Slide Number Placeholder 3">
            <a:extLst>
              <a:ext uri="{FF2B5EF4-FFF2-40B4-BE49-F238E27FC236}">
                <a16:creationId xmlns:a16="http://schemas.microsoft.com/office/drawing/2014/main" id="{D7FF8F47-C8A5-E458-654F-57445586DF02}"/>
              </a:ext>
            </a:extLst>
          </p:cNvPr>
          <p:cNvSpPr>
            <a:spLocks noGrp="1"/>
          </p:cNvSpPr>
          <p:nvPr>
            <p:ph type="sldNum" sz="quarter" idx="5"/>
          </p:nvPr>
        </p:nvSpPr>
        <p:spPr/>
        <p:txBody>
          <a:bodyPr/>
          <a:lstStyle/>
          <a:p>
            <a:fld id="{695CBC78-88DF-6447-89DF-6EAD6709636E}" type="slidenum">
              <a:rPr lang="en-US" smtClean="0"/>
              <a:t>2</a:t>
            </a:fld>
            <a:endParaRPr lang="en-US"/>
          </a:p>
        </p:txBody>
      </p:sp>
    </p:spTree>
    <p:extLst>
      <p:ext uri="{BB962C8B-B14F-4D97-AF65-F5344CB8AC3E}">
        <p14:creationId xmlns:p14="http://schemas.microsoft.com/office/powerpoint/2010/main" val="4252100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C292-0BF1-4911-2A90-8D4123789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2DE71-714B-2276-BFE1-202243E70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A22E5-D344-5F8D-B0A8-CF4939850A80}"/>
              </a:ext>
            </a:extLst>
          </p:cNvPr>
          <p:cNvSpPr>
            <a:spLocks noGrp="1"/>
          </p:cNvSpPr>
          <p:nvPr>
            <p:ph type="body" idx="1"/>
          </p:nvPr>
        </p:nvSpPr>
        <p:spPr/>
        <p:txBody>
          <a:bodyPr/>
          <a:lstStyle/>
          <a:p>
            <a:pPr marL="171450" indent="-171450">
              <a:buFontTx/>
              <a:buChar char="-"/>
            </a:pPr>
            <a:r>
              <a:rPr lang="en-US"/>
              <a:t>A majority of our data collection involved sifting through agency request files, as shown on the right</a:t>
            </a:r>
          </a:p>
          <a:p>
            <a:pPr marL="171450" indent="-171450">
              <a:buFontTx/>
              <a:buChar char="-"/>
            </a:pPr>
            <a:r>
              <a:rPr lang="en-US"/>
              <a:t>Using scanned PDF’s, the team took detailed notes on frequency and delivery trends, to digitize previously printed information and create the basis for a data sorting tool</a:t>
            </a:r>
          </a:p>
        </p:txBody>
      </p:sp>
      <p:sp>
        <p:nvSpPr>
          <p:cNvPr id="4" name="Slide Number Placeholder 3">
            <a:extLst>
              <a:ext uri="{FF2B5EF4-FFF2-40B4-BE49-F238E27FC236}">
                <a16:creationId xmlns:a16="http://schemas.microsoft.com/office/drawing/2014/main" id="{85C0E56E-1CBE-8AE3-6FC2-C68C3750E934}"/>
              </a:ext>
            </a:extLst>
          </p:cNvPr>
          <p:cNvSpPr>
            <a:spLocks noGrp="1"/>
          </p:cNvSpPr>
          <p:nvPr>
            <p:ph type="sldNum" sz="quarter" idx="5"/>
          </p:nvPr>
        </p:nvSpPr>
        <p:spPr/>
        <p:txBody>
          <a:bodyPr/>
          <a:lstStyle/>
          <a:p>
            <a:fld id="{695CBC78-88DF-6447-89DF-6EAD6709636E}" type="slidenum">
              <a:rPr lang="en-US" smtClean="0"/>
              <a:t>3</a:t>
            </a:fld>
            <a:endParaRPr lang="en-US"/>
          </a:p>
        </p:txBody>
      </p:sp>
    </p:spTree>
    <p:extLst>
      <p:ext uri="{BB962C8B-B14F-4D97-AF65-F5344CB8AC3E}">
        <p14:creationId xmlns:p14="http://schemas.microsoft.com/office/powerpoint/2010/main" val="43162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E2E3C-BBD0-DF81-12BA-2EF4385E7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D6F51-FCF3-3B09-47EF-3AB78400E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820F2-C817-57C9-CBB4-A74EE15221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latin typeface="Neue Haas Grotesk Text Pro"/>
              </a:rPr>
              <a:t>Truck Audits and Samsara Metrics</a:t>
            </a:r>
          </a:p>
          <a:p>
            <a:endParaRPr lang="en-US"/>
          </a:p>
        </p:txBody>
      </p:sp>
      <p:sp>
        <p:nvSpPr>
          <p:cNvPr id="4" name="Slide Number Placeholder 3">
            <a:extLst>
              <a:ext uri="{FF2B5EF4-FFF2-40B4-BE49-F238E27FC236}">
                <a16:creationId xmlns:a16="http://schemas.microsoft.com/office/drawing/2014/main" id="{47841E81-BA98-8324-E77D-2F623F3413E4}"/>
              </a:ext>
            </a:extLst>
          </p:cNvPr>
          <p:cNvSpPr>
            <a:spLocks noGrp="1"/>
          </p:cNvSpPr>
          <p:nvPr>
            <p:ph type="sldNum" sz="quarter" idx="5"/>
          </p:nvPr>
        </p:nvSpPr>
        <p:spPr/>
        <p:txBody>
          <a:bodyPr/>
          <a:lstStyle/>
          <a:p>
            <a:fld id="{695CBC78-88DF-6447-89DF-6EAD6709636E}" type="slidenum">
              <a:rPr lang="en-US" smtClean="0"/>
              <a:t>4</a:t>
            </a:fld>
            <a:endParaRPr lang="en-US"/>
          </a:p>
        </p:txBody>
      </p:sp>
    </p:spTree>
    <p:extLst>
      <p:ext uri="{BB962C8B-B14F-4D97-AF65-F5344CB8AC3E}">
        <p14:creationId xmlns:p14="http://schemas.microsoft.com/office/powerpoint/2010/main" val="898129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CB991-25DF-1252-5F8F-F65D843E0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BB659-C2F1-0B4B-BE92-4A670B33EE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768B0-FE7F-774B-A0B8-EE7990F757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E756FE-1E86-F2AA-6EFF-295D4F820F09}"/>
              </a:ext>
            </a:extLst>
          </p:cNvPr>
          <p:cNvSpPr>
            <a:spLocks noGrp="1"/>
          </p:cNvSpPr>
          <p:nvPr>
            <p:ph type="sldNum" sz="quarter" idx="5"/>
          </p:nvPr>
        </p:nvSpPr>
        <p:spPr/>
        <p:txBody>
          <a:bodyPr/>
          <a:lstStyle/>
          <a:p>
            <a:fld id="{695CBC78-88DF-6447-89DF-6EAD6709636E}" type="slidenum">
              <a:rPr lang="en-US" smtClean="0"/>
              <a:t>5</a:t>
            </a:fld>
            <a:endParaRPr lang="en-US"/>
          </a:p>
        </p:txBody>
      </p:sp>
    </p:spTree>
    <p:extLst>
      <p:ext uri="{BB962C8B-B14F-4D97-AF65-F5344CB8AC3E}">
        <p14:creationId xmlns:p14="http://schemas.microsoft.com/office/powerpoint/2010/main" val="1338630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6BB7D-53BA-A214-E637-A20AC6566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9D66B-A504-4D83-6C18-22F3536AA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DAB56-F948-F572-01C2-DA3A0EE831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545FF8-4ED0-A117-4CAB-774B99767816}"/>
              </a:ext>
            </a:extLst>
          </p:cNvPr>
          <p:cNvSpPr>
            <a:spLocks noGrp="1"/>
          </p:cNvSpPr>
          <p:nvPr>
            <p:ph type="sldNum" sz="quarter" idx="5"/>
          </p:nvPr>
        </p:nvSpPr>
        <p:spPr/>
        <p:txBody>
          <a:bodyPr/>
          <a:lstStyle/>
          <a:p>
            <a:fld id="{695CBC78-88DF-6447-89DF-6EAD6709636E}" type="slidenum">
              <a:rPr lang="en-US" smtClean="0"/>
              <a:t>6</a:t>
            </a:fld>
            <a:endParaRPr lang="en-US"/>
          </a:p>
        </p:txBody>
      </p:sp>
    </p:spTree>
    <p:extLst>
      <p:ext uri="{BB962C8B-B14F-4D97-AF65-F5344CB8AC3E}">
        <p14:creationId xmlns:p14="http://schemas.microsoft.com/office/powerpoint/2010/main" val="39121967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EFFA-1A55-D349-833E-2CEE2A4F5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64891-BAE5-B8E6-FAEA-5D07106CE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9CD69-93F9-EBDB-A81C-F8056C46662C}"/>
              </a:ext>
            </a:extLst>
          </p:cNvPr>
          <p:cNvSpPr>
            <a:spLocks noGrp="1"/>
          </p:cNvSpPr>
          <p:nvPr>
            <p:ph type="body" idx="1"/>
          </p:nvPr>
        </p:nvSpPr>
        <p:spPr/>
        <p:txBody>
          <a:bodyPr/>
          <a:lstStyle/>
          <a:p>
            <a:r>
              <a:rPr lang="en-US"/>
              <a:t>For our implementation, we looked into </a:t>
            </a:r>
            <a:r>
              <a:rPr lang="en-US" err="1"/>
              <a:t>MyMaps</a:t>
            </a:r>
            <a:r>
              <a:rPr lang="en-US"/>
              <a:t>, which is a free geospatial data tool that allows users to create custom maps with different markers. We started with creating csv files for each week of each month in January, </a:t>
            </a:r>
            <a:r>
              <a:rPr lang="en-US" err="1"/>
              <a:t>Feburary</a:t>
            </a:r>
            <a:r>
              <a:rPr lang="en-US"/>
              <a:t>, and March to analyze the agency locations and their respective requests. By visually clustering and considering the frequency of the deliveries (if they were weekly, monthly </a:t>
            </a:r>
            <a:r>
              <a:rPr lang="en-US" err="1"/>
              <a:t>etc</a:t>
            </a:r>
            <a:r>
              <a:rPr lang="en-US"/>
              <a:t>), we were able to come up with a list of suggestions for which agencies to be delivered together for the most efficient routes and least amount of back tracking. </a:t>
            </a:r>
          </a:p>
        </p:txBody>
      </p:sp>
      <p:sp>
        <p:nvSpPr>
          <p:cNvPr id="4" name="Slide Number Placeholder 3">
            <a:extLst>
              <a:ext uri="{FF2B5EF4-FFF2-40B4-BE49-F238E27FC236}">
                <a16:creationId xmlns:a16="http://schemas.microsoft.com/office/drawing/2014/main" id="{389A8193-1795-D096-5686-63C0754F661C}"/>
              </a:ext>
            </a:extLst>
          </p:cNvPr>
          <p:cNvSpPr>
            <a:spLocks noGrp="1"/>
          </p:cNvSpPr>
          <p:nvPr>
            <p:ph type="sldNum" sz="quarter" idx="5"/>
          </p:nvPr>
        </p:nvSpPr>
        <p:spPr/>
        <p:txBody>
          <a:bodyPr/>
          <a:lstStyle/>
          <a:p>
            <a:fld id="{695CBC78-88DF-6447-89DF-6EAD6709636E}" type="slidenum">
              <a:rPr lang="en-US" smtClean="0"/>
              <a:t>7</a:t>
            </a:fld>
            <a:endParaRPr lang="en-US"/>
          </a:p>
        </p:txBody>
      </p:sp>
    </p:spTree>
    <p:extLst>
      <p:ext uri="{BB962C8B-B14F-4D97-AF65-F5344CB8AC3E}">
        <p14:creationId xmlns:p14="http://schemas.microsoft.com/office/powerpoint/2010/main" val="4211887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8ECBC-0157-3BED-8E4E-30778535C6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B0567-ACF4-97CC-6624-BE7438F9D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A1405-79DD-D32A-35C0-B929E881B3F4}"/>
              </a:ext>
            </a:extLst>
          </p:cNvPr>
          <p:cNvSpPr>
            <a:spLocks noGrp="1"/>
          </p:cNvSpPr>
          <p:nvPr>
            <p:ph type="body" idx="1"/>
          </p:nvPr>
        </p:nvSpPr>
        <p:spPr/>
        <p:txBody>
          <a:bodyPr/>
          <a:lstStyle/>
          <a:p>
            <a:r>
              <a:rPr lang="en-US"/>
              <a:t>However, the process of creating a map for each week can be time consuming, and the recreation of it would be unfeasible for the food bank. We decided on this zoning strategy based off of k-means clustering, with a k value of 7 for the seven truck constraint. Using this method, we were able to populate a comprehensive map that shows all of the agencies. Zones 1 and 2 , which are EBR and Ascension, are the most populated, however agencies in farther zones contribute to the most additional mileage for routes.. This zone sheet allows the food bank to see which agencies are adding the most mileage, which will be helpful when they are proposing different delivery days and creating routes for the next operational year. We also created separate maps for each zone, showing the primary requested day, pulled from the agency requests.</a:t>
            </a:r>
          </a:p>
        </p:txBody>
      </p:sp>
      <p:sp>
        <p:nvSpPr>
          <p:cNvPr id="4" name="Slide Number Placeholder 3">
            <a:extLst>
              <a:ext uri="{FF2B5EF4-FFF2-40B4-BE49-F238E27FC236}">
                <a16:creationId xmlns:a16="http://schemas.microsoft.com/office/drawing/2014/main" id="{D9E21131-14B1-A5FF-CAD7-4627E51F04BC}"/>
              </a:ext>
            </a:extLst>
          </p:cNvPr>
          <p:cNvSpPr>
            <a:spLocks noGrp="1"/>
          </p:cNvSpPr>
          <p:nvPr>
            <p:ph type="sldNum" sz="quarter" idx="5"/>
          </p:nvPr>
        </p:nvSpPr>
        <p:spPr/>
        <p:txBody>
          <a:bodyPr/>
          <a:lstStyle/>
          <a:p>
            <a:fld id="{695CBC78-88DF-6447-89DF-6EAD6709636E}" type="slidenum">
              <a:rPr lang="en-US" smtClean="0"/>
              <a:t>8</a:t>
            </a:fld>
            <a:endParaRPr lang="en-US"/>
          </a:p>
        </p:txBody>
      </p:sp>
    </p:spTree>
    <p:extLst>
      <p:ext uri="{BB962C8B-B14F-4D97-AF65-F5344CB8AC3E}">
        <p14:creationId xmlns:p14="http://schemas.microsoft.com/office/powerpoint/2010/main" val="1149719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982D-75DA-EBF1-6F17-83EEF468D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709DB-15FB-79B2-74BE-DF638BF25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7F611-C753-906E-ADF5-C5A58189E100}"/>
              </a:ext>
            </a:extLst>
          </p:cNvPr>
          <p:cNvSpPr>
            <a:spLocks noGrp="1"/>
          </p:cNvSpPr>
          <p:nvPr>
            <p:ph type="body" idx="1"/>
          </p:nvPr>
        </p:nvSpPr>
        <p:spPr/>
        <p:txBody>
          <a:bodyPr/>
          <a:lstStyle/>
          <a:p>
            <a:r>
              <a:rPr lang="en-US"/>
              <a:t>Mention originally in large binder</a:t>
            </a:r>
          </a:p>
        </p:txBody>
      </p:sp>
      <p:sp>
        <p:nvSpPr>
          <p:cNvPr id="4" name="Slide Number Placeholder 3">
            <a:extLst>
              <a:ext uri="{FF2B5EF4-FFF2-40B4-BE49-F238E27FC236}">
                <a16:creationId xmlns:a16="http://schemas.microsoft.com/office/drawing/2014/main" id="{5982A420-697E-9CC5-2BE1-3F2EEEDDE375}"/>
              </a:ext>
            </a:extLst>
          </p:cNvPr>
          <p:cNvSpPr>
            <a:spLocks noGrp="1"/>
          </p:cNvSpPr>
          <p:nvPr>
            <p:ph type="sldNum" sz="quarter" idx="5"/>
          </p:nvPr>
        </p:nvSpPr>
        <p:spPr/>
        <p:txBody>
          <a:bodyPr/>
          <a:lstStyle/>
          <a:p>
            <a:fld id="{695CBC78-88DF-6447-89DF-6EAD6709636E}" type="slidenum">
              <a:rPr lang="en-US" smtClean="0"/>
              <a:t>9</a:t>
            </a:fld>
            <a:endParaRPr lang="en-US"/>
          </a:p>
        </p:txBody>
      </p:sp>
    </p:spTree>
    <p:extLst>
      <p:ext uri="{BB962C8B-B14F-4D97-AF65-F5344CB8AC3E}">
        <p14:creationId xmlns:p14="http://schemas.microsoft.com/office/powerpoint/2010/main" val="4182224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D1FD-5C6F-82F5-1F2C-11BB65C74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1F28D-FD68-DBBC-1205-334E503380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C6DBDE-33B9-9169-CD36-FC56DB020DF0}"/>
              </a:ext>
            </a:extLst>
          </p:cNvPr>
          <p:cNvSpPr>
            <a:spLocks noGrp="1"/>
          </p:cNvSpPr>
          <p:nvPr>
            <p:ph type="body" idx="1"/>
          </p:nvPr>
        </p:nvSpPr>
        <p:spPr/>
        <p:txBody>
          <a:bodyPr/>
          <a:lstStyle/>
          <a:p>
            <a:pPr marL="171450" indent="-171450">
              <a:buFont typeface="Calibri"/>
              <a:buChar char="-"/>
            </a:pPr>
            <a:endParaRPr lang="en-US"/>
          </a:p>
          <a:p>
            <a:pPr marL="171450" indent="-171450">
              <a:buFont typeface="Calibri"/>
              <a:buChar char="-"/>
            </a:pPr>
            <a:r>
              <a:rPr lang="en-US"/>
              <a:t>Using our digital agency notes, we created the Client Records Pivot Tool, to improve the delivery schedule creation process. Using the tool, employees can sort requests by day of the week so that they can efficiently place orders on each monthly calendar. This tool expediates the process for delivery scheduling, giving employees more time to focus on other transportation tasks</a:t>
            </a:r>
          </a:p>
        </p:txBody>
      </p:sp>
      <p:sp>
        <p:nvSpPr>
          <p:cNvPr id="4" name="Slide Number Placeholder 3">
            <a:extLst>
              <a:ext uri="{FF2B5EF4-FFF2-40B4-BE49-F238E27FC236}">
                <a16:creationId xmlns:a16="http://schemas.microsoft.com/office/drawing/2014/main" id="{2A4705C7-1309-CF8B-66E6-4D32F0ED565C}"/>
              </a:ext>
            </a:extLst>
          </p:cNvPr>
          <p:cNvSpPr>
            <a:spLocks noGrp="1"/>
          </p:cNvSpPr>
          <p:nvPr>
            <p:ph type="sldNum" sz="quarter" idx="5"/>
          </p:nvPr>
        </p:nvSpPr>
        <p:spPr/>
        <p:txBody>
          <a:bodyPr/>
          <a:lstStyle/>
          <a:p>
            <a:fld id="{695CBC78-88DF-6447-89DF-6EAD6709636E}" type="slidenum">
              <a:rPr lang="en-US" smtClean="0"/>
              <a:t>10</a:t>
            </a:fld>
            <a:endParaRPr lang="en-US"/>
          </a:p>
        </p:txBody>
      </p:sp>
    </p:spTree>
    <p:extLst>
      <p:ext uri="{BB962C8B-B14F-4D97-AF65-F5344CB8AC3E}">
        <p14:creationId xmlns:p14="http://schemas.microsoft.com/office/powerpoint/2010/main" val="4279194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23755-5259-6398-504F-6FFE549EC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CEACC-F469-6654-836E-F4FE5CA30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AB663-A61D-4B62-B551-B81395304F29}"/>
              </a:ext>
            </a:extLst>
          </p:cNvPr>
          <p:cNvSpPr>
            <a:spLocks noGrp="1"/>
          </p:cNvSpPr>
          <p:nvPr>
            <p:ph type="body" idx="1"/>
          </p:nvPr>
        </p:nvSpPr>
        <p:spPr/>
        <p:txBody>
          <a:bodyPr/>
          <a:lstStyle/>
          <a:p>
            <a:r>
              <a:rPr lang="en-US"/>
              <a:t>As another aspect of our plan to help digitalize the current process, we created a google form that collects all of the agency information electronically. The agency name question as a dropdown allows for consistent address data to be pulled from the address book, in order to recreate the pivot tool Rachel just mentioned. The food bank can extract all of the responses in a google sheet, and also have the calendar request file to recreate the EDL. </a:t>
            </a:r>
          </a:p>
        </p:txBody>
      </p:sp>
      <p:sp>
        <p:nvSpPr>
          <p:cNvPr id="4" name="Slide Number Placeholder 3">
            <a:extLst>
              <a:ext uri="{FF2B5EF4-FFF2-40B4-BE49-F238E27FC236}">
                <a16:creationId xmlns:a16="http://schemas.microsoft.com/office/drawing/2014/main" id="{6970CEFF-DFDC-A75B-51FE-53081CD61AFC}"/>
              </a:ext>
            </a:extLst>
          </p:cNvPr>
          <p:cNvSpPr>
            <a:spLocks noGrp="1"/>
          </p:cNvSpPr>
          <p:nvPr>
            <p:ph type="sldNum" sz="quarter" idx="5"/>
          </p:nvPr>
        </p:nvSpPr>
        <p:spPr/>
        <p:txBody>
          <a:bodyPr/>
          <a:lstStyle/>
          <a:p>
            <a:fld id="{695CBC78-88DF-6447-89DF-6EAD6709636E}" type="slidenum">
              <a:rPr lang="en-US" smtClean="0"/>
              <a:t>11</a:t>
            </a:fld>
            <a:endParaRPr lang="en-US"/>
          </a:p>
        </p:txBody>
      </p:sp>
    </p:spTree>
    <p:extLst>
      <p:ext uri="{BB962C8B-B14F-4D97-AF65-F5344CB8AC3E}">
        <p14:creationId xmlns:p14="http://schemas.microsoft.com/office/powerpoint/2010/main" val="140813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7BD95-442F-CA01-D262-F15627FCD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7B858-1122-FAEB-5878-69D443F73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15554-A2B9-D766-45F8-027DAD07C4CF}"/>
              </a:ext>
            </a:extLst>
          </p:cNvPr>
          <p:cNvSpPr>
            <a:spLocks noGrp="1"/>
          </p:cNvSpPr>
          <p:nvPr>
            <p:ph type="body" idx="1"/>
          </p:nvPr>
        </p:nvSpPr>
        <p:spPr/>
        <p:txBody>
          <a:bodyPr/>
          <a:lstStyle/>
          <a:p>
            <a:r>
              <a:rPr lang="en-US"/>
              <a:t>This is a sample of the response sheet, we added a few responses to show what it would look like and to create the standard operating procedures for recreating the pivot tool. Theres multiple tabs at the bottom that are for the recreation of the pivot tool, with the last one being the comprehensive address book and zones for each agency.</a:t>
            </a:r>
          </a:p>
        </p:txBody>
      </p:sp>
      <p:sp>
        <p:nvSpPr>
          <p:cNvPr id="4" name="Slide Number Placeholder 3">
            <a:extLst>
              <a:ext uri="{FF2B5EF4-FFF2-40B4-BE49-F238E27FC236}">
                <a16:creationId xmlns:a16="http://schemas.microsoft.com/office/drawing/2014/main" id="{22237068-43FA-D546-9607-FBA9040B859C}"/>
              </a:ext>
            </a:extLst>
          </p:cNvPr>
          <p:cNvSpPr>
            <a:spLocks noGrp="1"/>
          </p:cNvSpPr>
          <p:nvPr>
            <p:ph type="sldNum" sz="quarter" idx="5"/>
          </p:nvPr>
        </p:nvSpPr>
        <p:spPr/>
        <p:txBody>
          <a:bodyPr/>
          <a:lstStyle/>
          <a:p>
            <a:fld id="{695CBC78-88DF-6447-89DF-6EAD6709636E}" type="slidenum">
              <a:rPr lang="en-US" smtClean="0"/>
              <a:t>12</a:t>
            </a:fld>
            <a:endParaRPr lang="en-US"/>
          </a:p>
        </p:txBody>
      </p:sp>
    </p:spTree>
    <p:extLst>
      <p:ext uri="{BB962C8B-B14F-4D97-AF65-F5344CB8AC3E}">
        <p14:creationId xmlns:p14="http://schemas.microsoft.com/office/powerpoint/2010/main" val="3115266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DE8EB-EDFD-A51C-D3F3-5EFB3660A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0B8AF-5494-DC18-D7EB-56284CDE5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5D3F0-1ED5-CAD5-FC57-7336749DB1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667716-EDF4-ACF3-CE2D-BF8E72C3DD5F}"/>
              </a:ext>
            </a:extLst>
          </p:cNvPr>
          <p:cNvSpPr>
            <a:spLocks noGrp="1"/>
          </p:cNvSpPr>
          <p:nvPr>
            <p:ph type="sldNum" sz="quarter" idx="5"/>
          </p:nvPr>
        </p:nvSpPr>
        <p:spPr/>
        <p:txBody>
          <a:bodyPr/>
          <a:lstStyle/>
          <a:p>
            <a:fld id="{695CBC78-88DF-6447-89DF-6EAD6709636E}" type="slidenum">
              <a:rPr lang="en-US" smtClean="0"/>
              <a:t>13</a:t>
            </a:fld>
            <a:endParaRPr lang="en-US"/>
          </a:p>
        </p:txBody>
      </p:sp>
    </p:spTree>
    <p:extLst>
      <p:ext uri="{BB962C8B-B14F-4D97-AF65-F5344CB8AC3E}">
        <p14:creationId xmlns:p14="http://schemas.microsoft.com/office/powerpoint/2010/main" val="3039406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D3567-C0D9-44F8-532C-A5C515542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8A4A4-1A67-D50B-0504-9B74728F78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74574-5A59-E5E7-FD52-FE7B4CC23247}"/>
              </a:ext>
            </a:extLst>
          </p:cNvPr>
          <p:cNvSpPr>
            <a:spLocks noGrp="1"/>
          </p:cNvSpPr>
          <p:nvPr>
            <p:ph type="body" idx="1"/>
          </p:nvPr>
        </p:nvSpPr>
        <p:spPr/>
        <p:txBody>
          <a:bodyPr/>
          <a:lstStyle/>
          <a:p>
            <a:r>
              <a:rPr lang="en-US"/>
              <a:t>We analyzed the mileage reduction if the food bank was able to make all of the changes suggested by inputting the routes into Google Maps, this came to around to _1800 miles, or 195 gallons of gas saved across the two months. Gas prices are fluctuating, but we used $3.50/gallon to produce the potential savings of around $700 for these two months, or $4,200 for the entire year. </a:t>
            </a:r>
          </a:p>
          <a:p>
            <a:endParaRPr lang="en-US"/>
          </a:p>
          <a:p>
            <a:r>
              <a:rPr lang="en-US"/>
              <a:t>(3998-3099)+(3975-3081)</a:t>
            </a:r>
          </a:p>
          <a:p>
            <a:r>
              <a:rPr lang="en-US"/>
              <a:t>(484-375)+(459-373)</a:t>
            </a:r>
          </a:p>
          <a:p>
            <a:endParaRPr lang="en-US"/>
          </a:p>
          <a:p>
            <a:r>
              <a:rPr lang="en-US"/>
              <a:t>Should say if implement all suggestions from agency zoning</a:t>
            </a:r>
          </a:p>
        </p:txBody>
      </p:sp>
      <p:sp>
        <p:nvSpPr>
          <p:cNvPr id="4" name="Slide Number Placeholder 3">
            <a:extLst>
              <a:ext uri="{FF2B5EF4-FFF2-40B4-BE49-F238E27FC236}">
                <a16:creationId xmlns:a16="http://schemas.microsoft.com/office/drawing/2014/main" id="{16C84C1A-8F51-785E-51B3-EC40F0EE691C}"/>
              </a:ext>
            </a:extLst>
          </p:cNvPr>
          <p:cNvSpPr>
            <a:spLocks noGrp="1"/>
          </p:cNvSpPr>
          <p:nvPr>
            <p:ph type="sldNum" sz="quarter" idx="5"/>
          </p:nvPr>
        </p:nvSpPr>
        <p:spPr/>
        <p:txBody>
          <a:bodyPr/>
          <a:lstStyle/>
          <a:p>
            <a:fld id="{695CBC78-88DF-6447-89DF-6EAD6709636E}" type="slidenum">
              <a:rPr lang="en-US" smtClean="0"/>
              <a:t>14</a:t>
            </a:fld>
            <a:endParaRPr lang="en-US"/>
          </a:p>
        </p:txBody>
      </p:sp>
    </p:spTree>
    <p:extLst>
      <p:ext uri="{BB962C8B-B14F-4D97-AF65-F5344CB8AC3E}">
        <p14:creationId xmlns:p14="http://schemas.microsoft.com/office/powerpoint/2010/main" val="425241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10ED5-1DEC-ACA1-2A95-275E0BD44A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6981A-5097-2C2B-8462-8DFBEA90C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419DC-32E8-CD05-0EF8-F7EC819B497B}"/>
              </a:ext>
            </a:extLst>
          </p:cNvPr>
          <p:cNvSpPr>
            <a:spLocks noGrp="1"/>
          </p:cNvSpPr>
          <p:nvPr>
            <p:ph type="body" idx="1"/>
          </p:nvPr>
        </p:nvSpPr>
        <p:spPr/>
        <p:txBody>
          <a:bodyPr/>
          <a:lstStyle/>
          <a:p>
            <a:r>
              <a:rPr lang="en-US"/>
              <a:t>We completed two rounds of statistical analysis to demonstrate the benefits of the tools and strategies we recommend. The first test was a time study on the time required to place one month of requests on the calendar. We found that over the three months tested, the average time to complete one month was 45 minutes, and after collecting feedback, </a:t>
            </a:r>
            <a:r>
              <a:rPr lang="en-US" err="1"/>
              <a:t>cherelle</a:t>
            </a:r>
            <a:r>
              <a:rPr lang="en-US"/>
              <a:t> said this tool was much easier to use</a:t>
            </a:r>
          </a:p>
          <a:p>
            <a:endParaRPr lang="en-US"/>
          </a:p>
          <a:p>
            <a:r>
              <a:rPr lang="en-US"/>
              <a:t>We then conducted a non inferiority test, which is a specific t test that compares one set of results to another to see how close they are and if one is an acceptable alternative to the original. </a:t>
            </a:r>
          </a:p>
          <a:p>
            <a:endParaRPr lang="en-US"/>
          </a:p>
          <a:p>
            <a:r>
              <a:rPr lang="en-US"/>
              <a:t>We wanted to ensure that Samsara is accurate in producing optimal routes, and we found that Samsara's optimized routes were 0.35 miles longer than what was determined to be the optimal route. This value was well within our 2 mile margin of acceptance, statistically proving that samsara is effective in producing optimal routes and we do encourage the FB to continue using this tool to its fullest capacity to reach their optimization goals</a:t>
            </a:r>
          </a:p>
        </p:txBody>
      </p:sp>
      <p:sp>
        <p:nvSpPr>
          <p:cNvPr id="4" name="Slide Number Placeholder 3">
            <a:extLst>
              <a:ext uri="{FF2B5EF4-FFF2-40B4-BE49-F238E27FC236}">
                <a16:creationId xmlns:a16="http://schemas.microsoft.com/office/drawing/2014/main" id="{BECD83DF-79EA-18A6-4CB7-C1949C4E6CEF}"/>
              </a:ext>
            </a:extLst>
          </p:cNvPr>
          <p:cNvSpPr>
            <a:spLocks noGrp="1"/>
          </p:cNvSpPr>
          <p:nvPr>
            <p:ph type="sldNum" sz="quarter" idx="5"/>
          </p:nvPr>
        </p:nvSpPr>
        <p:spPr/>
        <p:txBody>
          <a:bodyPr/>
          <a:lstStyle/>
          <a:p>
            <a:fld id="{695CBC78-88DF-6447-89DF-6EAD6709636E}" type="slidenum">
              <a:rPr lang="en-US" smtClean="0"/>
              <a:t>15</a:t>
            </a:fld>
            <a:endParaRPr lang="en-US"/>
          </a:p>
        </p:txBody>
      </p:sp>
    </p:spTree>
    <p:extLst>
      <p:ext uri="{BB962C8B-B14F-4D97-AF65-F5344CB8AC3E}">
        <p14:creationId xmlns:p14="http://schemas.microsoft.com/office/powerpoint/2010/main" val="3994504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7F45-D07A-6271-0D87-2EB30E55C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EDBBA-B6FD-A26F-9C83-8007A4620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B768F-BBD2-36E9-AF0C-275B321298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786DB4-4EE7-89D0-EF02-FAB23DE70B42}"/>
              </a:ext>
            </a:extLst>
          </p:cNvPr>
          <p:cNvSpPr>
            <a:spLocks noGrp="1"/>
          </p:cNvSpPr>
          <p:nvPr>
            <p:ph type="sldNum" sz="quarter" idx="5"/>
          </p:nvPr>
        </p:nvSpPr>
        <p:spPr/>
        <p:txBody>
          <a:bodyPr/>
          <a:lstStyle/>
          <a:p>
            <a:fld id="{695CBC78-88DF-6447-89DF-6EAD6709636E}" type="slidenum">
              <a:rPr lang="en-US" smtClean="0"/>
              <a:t>16</a:t>
            </a:fld>
            <a:endParaRPr lang="en-US"/>
          </a:p>
        </p:txBody>
      </p:sp>
    </p:spTree>
    <p:extLst>
      <p:ext uri="{BB962C8B-B14F-4D97-AF65-F5344CB8AC3E}">
        <p14:creationId xmlns:p14="http://schemas.microsoft.com/office/powerpoint/2010/main" val="2721108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94A9-E19D-8C74-F474-DD4D1E85A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72E7-780A-7CC8-9332-5A6CDAB0F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F8C07-C7FD-7CE3-73EF-80F5DED618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69F79-50BE-6361-94C7-B757BEC67872}"/>
              </a:ext>
            </a:extLst>
          </p:cNvPr>
          <p:cNvSpPr>
            <a:spLocks noGrp="1"/>
          </p:cNvSpPr>
          <p:nvPr>
            <p:ph type="sldNum" sz="quarter" idx="5"/>
          </p:nvPr>
        </p:nvSpPr>
        <p:spPr/>
        <p:txBody>
          <a:bodyPr/>
          <a:lstStyle/>
          <a:p>
            <a:fld id="{695CBC78-88DF-6447-89DF-6EAD6709636E}" type="slidenum">
              <a:rPr lang="en-US" smtClean="0"/>
              <a:t>17</a:t>
            </a:fld>
            <a:endParaRPr lang="en-US"/>
          </a:p>
        </p:txBody>
      </p:sp>
    </p:spTree>
    <p:extLst>
      <p:ext uri="{BB962C8B-B14F-4D97-AF65-F5344CB8AC3E}">
        <p14:creationId xmlns:p14="http://schemas.microsoft.com/office/powerpoint/2010/main" val="2804826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DABF-A7C7-7D25-8A2E-C6DAA9B52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7AD9E-3221-E1FF-1CE8-97E872C7E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799DD-B220-95BA-B983-63319F130D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ABC9C2-87C1-6BB0-AD3E-6BFB1F4227B7}"/>
              </a:ext>
            </a:extLst>
          </p:cNvPr>
          <p:cNvSpPr>
            <a:spLocks noGrp="1"/>
          </p:cNvSpPr>
          <p:nvPr>
            <p:ph type="sldNum" sz="quarter" idx="5"/>
          </p:nvPr>
        </p:nvSpPr>
        <p:spPr/>
        <p:txBody>
          <a:bodyPr/>
          <a:lstStyle/>
          <a:p>
            <a:fld id="{695CBC78-88DF-6447-89DF-6EAD6709636E}" type="slidenum">
              <a:rPr lang="en-US" smtClean="0"/>
              <a:t>18</a:t>
            </a:fld>
            <a:endParaRPr lang="en-US"/>
          </a:p>
        </p:txBody>
      </p:sp>
    </p:spTree>
    <p:extLst>
      <p:ext uri="{BB962C8B-B14F-4D97-AF65-F5344CB8AC3E}">
        <p14:creationId xmlns:p14="http://schemas.microsoft.com/office/powerpoint/2010/main" val="41736316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17DC2-60C5-1C93-09A2-B85A4D471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3661C-B681-32B9-4FF5-F4C216183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BE4EA-37EF-8B78-55F8-5AB14497C4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C3AC52-1F0E-4F2C-0535-7E4E7B87A35E}"/>
              </a:ext>
            </a:extLst>
          </p:cNvPr>
          <p:cNvSpPr>
            <a:spLocks noGrp="1"/>
          </p:cNvSpPr>
          <p:nvPr>
            <p:ph type="sldNum" sz="quarter" idx="5"/>
          </p:nvPr>
        </p:nvSpPr>
        <p:spPr/>
        <p:txBody>
          <a:bodyPr/>
          <a:lstStyle/>
          <a:p>
            <a:fld id="{695CBC78-88DF-6447-89DF-6EAD6709636E}" type="slidenum">
              <a:rPr lang="en-US" smtClean="0"/>
              <a:t>19</a:t>
            </a:fld>
            <a:endParaRPr lang="en-US"/>
          </a:p>
        </p:txBody>
      </p:sp>
    </p:spTree>
    <p:extLst>
      <p:ext uri="{BB962C8B-B14F-4D97-AF65-F5344CB8AC3E}">
        <p14:creationId xmlns:p14="http://schemas.microsoft.com/office/powerpoint/2010/main" val="633941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D2577-D52B-22CC-80C1-8102D8BCC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560C7-755F-E3FD-7E0A-85DA8E044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9636E-C204-932F-8926-AF3A4786AF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017536-F3C5-92FE-D8AF-F12219D05E33}"/>
              </a:ext>
            </a:extLst>
          </p:cNvPr>
          <p:cNvSpPr>
            <a:spLocks noGrp="1"/>
          </p:cNvSpPr>
          <p:nvPr>
            <p:ph type="sldNum" sz="quarter" idx="5"/>
          </p:nvPr>
        </p:nvSpPr>
        <p:spPr/>
        <p:txBody>
          <a:bodyPr/>
          <a:lstStyle/>
          <a:p>
            <a:fld id="{695CBC78-88DF-6447-89DF-6EAD6709636E}" type="slidenum">
              <a:rPr lang="en-US" smtClean="0"/>
              <a:t>20</a:t>
            </a:fld>
            <a:endParaRPr lang="en-US"/>
          </a:p>
        </p:txBody>
      </p:sp>
    </p:spTree>
    <p:extLst>
      <p:ext uri="{BB962C8B-B14F-4D97-AF65-F5344CB8AC3E}">
        <p14:creationId xmlns:p14="http://schemas.microsoft.com/office/powerpoint/2010/main" val="2976079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8C223-80EB-779F-A5E0-38D3126A4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B3994-A1CC-A191-BACA-3A3F226F4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C73901-1965-E703-5E9D-BF01ECD342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973FC6-1EDF-AB50-55FD-C135153ADCE9}"/>
              </a:ext>
            </a:extLst>
          </p:cNvPr>
          <p:cNvSpPr>
            <a:spLocks noGrp="1"/>
          </p:cNvSpPr>
          <p:nvPr>
            <p:ph type="sldNum" sz="quarter" idx="5"/>
          </p:nvPr>
        </p:nvSpPr>
        <p:spPr/>
        <p:txBody>
          <a:bodyPr/>
          <a:lstStyle/>
          <a:p>
            <a:fld id="{695CBC78-88DF-6447-89DF-6EAD6709636E}" type="slidenum">
              <a:rPr lang="en-US" smtClean="0"/>
              <a:t>21</a:t>
            </a:fld>
            <a:endParaRPr lang="en-US"/>
          </a:p>
        </p:txBody>
      </p:sp>
    </p:spTree>
    <p:extLst>
      <p:ext uri="{BB962C8B-B14F-4D97-AF65-F5344CB8AC3E}">
        <p14:creationId xmlns:p14="http://schemas.microsoft.com/office/powerpoint/2010/main" val="3415240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7A71F-AAD0-9049-5A19-129270C49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8F063-C309-9FD7-35DA-A3B4CEED7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F41E9-1779-35F0-6126-4695BE7E1A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A13268-91B3-514E-1EE0-F0374552374B}"/>
              </a:ext>
            </a:extLst>
          </p:cNvPr>
          <p:cNvSpPr>
            <a:spLocks noGrp="1"/>
          </p:cNvSpPr>
          <p:nvPr>
            <p:ph type="sldNum" sz="quarter" idx="5"/>
          </p:nvPr>
        </p:nvSpPr>
        <p:spPr/>
        <p:txBody>
          <a:bodyPr/>
          <a:lstStyle/>
          <a:p>
            <a:fld id="{695CBC78-88DF-6447-89DF-6EAD6709636E}" type="slidenum">
              <a:rPr lang="en-US" smtClean="0"/>
              <a:t>22</a:t>
            </a:fld>
            <a:endParaRPr lang="en-US"/>
          </a:p>
        </p:txBody>
      </p:sp>
    </p:spTree>
    <p:extLst>
      <p:ext uri="{BB962C8B-B14F-4D97-AF65-F5344CB8AC3E}">
        <p14:creationId xmlns:p14="http://schemas.microsoft.com/office/powerpoint/2010/main" val="354240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21126-BACF-F7EF-6DD8-C7C636E24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9F862-3E4C-5AC7-C5BC-6ACB337D81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0FFE6-8ED5-B321-D44C-26BC28A072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2154E4-C29D-DB6D-B826-974687D21E08}"/>
              </a:ext>
            </a:extLst>
          </p:cNvPr>
          <p:cNvSpPr>
            <a:spLocks noGrp="1"/>
          </p:cNvSpPr>
          <p:nvPr>
            <p:ph type="sldNum" sz="quarter" idx="5"/>
          </p:nvPr>
        </p:nvSpPr>
        <p:spPr/>
        <p:txBody>
          <a:bodyPr/>
          <a:lstStyle/>
          <a:p>
            <a:fld id="{695CBC78-88DF-6447-89DF-6EAD6709636E}" type="slidenum">
              <a:rPr lang="en-US" smtClean="0"/>
              <a:t>23</a:t>
            </a:fld>
            <a:endParaRPr lang="en-US"/>
          </a:p>
        </p:txBody>
      </p:sp>
    </p:spTree>
    <p:extLst>
      <p:ext uri="{BB962C8B-B14F-4D97-AF65-F5344CB8AC3E}">
        <p14:creationId xmlns:p14="http://schemas.microsoft.com/office/powerpoint/2010/main" val="1633751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1B53F-7C58-55D2-78E5-2EEC7B2D9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2CA80-1CF0-4B0E-3BC8-5EF18EABB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FD8FF-ADA8-837E-F92A-10FC620DE8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E3D82A-F22C-3E0B-A64C-CB37A2ECA32B}"/>
              </a:ext>
            </a:extLst>
          </p:cNvPr>
          <p:cNvSpPr>
            <a:spLocks noGrp="1"/>
          </p:cNvSpPr>
          <p:nvPr>
            <p:ph type="sldNum" sz="quarter" idx="5"/>
          </p:nvPr>
        </p:nvSpPr>
        <p:spPr/>
        <p:txBody>
          <a:bodyPr/>
          <a:lstStyle/>
          <a:p>
            <a:fld id="{695CBC78-88DF-6447-89DF-6EAD6709636E}" type="slidenum">
              <a:rPr lang="en-US" smtClean="0"/>
              <a:t>24</a:t>
            </a:fld>
            <a:endParaRPr lang="en-US"/>
          </a:p>
        </p:txBody>
      </p:sp>
    </p:spTree>
    <p:extLst>
      <p:ext uri="{BB962C8B-B14F-4D97-AF65-F5344CB8AC3E}">
        <p14:creationId xmlns:p14="http://schemas.microsoft.com/office/powerpoint/2010/main" val="2159283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BB1D8-284F-D687-1243-82F3E0604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358C4-D2BE-D120-68F2-41A370740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F0DE3-A383-DA26-265A-C3D72DC7C2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0C6BC5-F25E-A0DD-F752-E7957DAD821D}"/>
              </a:ext>
            </a:extLst>
          </p:cNvPr>
          <p:cNvSpPr>
            <a:spLocks noGrp="1"/>
          </p:cNvSpPr>
          <p:nvPr>
            <p:ph type="sldNum" sz="quarter" idx="5"/>
          </p:nvPr>
        </p:nvSpPr>
        <p:spPr/>
        <p:txBody>
          <a:bodyPr/>
          <a:lstStyle/>
          <a:p>
            <a:fld id="{695CBC78-88DF-6447-89DF-6EAD6709636E}" type="slidenum">
              <a:rPr lang="en-US" smtClean="0"/>
              <a:t>25</a:t>
            </a:fld>
            <a:endParaRPr lang="en-US"/>
          </a:p>
        </p:txBody>
      </p:sp>
    </p:spTree>
    <p:extLst>
      <p:ext uri="{BB962C8B-B14F-4D97-AF65-F5344CB8AC3E}">
        <p14:creationId xmlns:p14="http://schemas.microsoft.com/office/powerpoint/2010/main" val="2747899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C608B-B17E-6683-87F8-4A39FFE04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C8410-3510-EF42-4923-2EE38BC54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C87F6-7428-7C20-BBAD-5EED4BB7BB5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D7D7BB-7017-F2D4-3982-8B4AD873138D}"/>
              </a:ext>
            </a:extLst>
          </p:cNvPr>
          <p:cNvSpPr>
            <a:spLocks noGrp="1"/>
          </p:cNvSpPr>
          <p:nvPr>
            <p:ph type="sldNum" sz="quarter" idx="5"/>
          </p:nvPr>
        </p:nvSpPr>
        <p:spPr/>
        <p:txBody>
          <a:bodyPr/>
          <a:lstStyle/>
          <a:p>
            <a:fld id="{695CBC78-88DF-6447-89DF-6EAD6709636E}" type="slidenum">
              <a:rPr lang="en-US" smtClean="0"/>
              <a:t>26</a:t>
            </a:fld>
            <a:endParaRPr lang="en-US"/>
          </a:p>
        </p:txBody>
      </p:sp>
    </p:spTree>
    <p:extLst>
      <p:ext uri="{BB962C8B-B14F-4D97-AF65-F5344CB8AC3E}">
        <p14:creationId xmlns:p14="http://schemas.microsoft.com/office/powerpoint/2010/main" val="4176802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E639-6B18-4EC2-38DC-84EBCDD8B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5A5D8-C9E0-0579-A2A7-9025157AE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AC70B-5D50-C42C-BA31-9D83E87C06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8EDA71-DFAD-F733-9099-A595BD9ED75A}"/>
              </a:ext>
            </a:extLst>
          </p:cNvPr>
          <p:cNvSpPr>
            <a:spLocks noGrp="1"/>
          </p:cNvSpPr>
          <p:nvPr>
            <p:ph type="sldNum" sz="quarter" idx="5"/>
          </p:nvPr>
        </p:nvSpPr>
        <p:spPr/>
        <p:txBody>
          <a:bodyPr/>
          <a:lstStyle/>
          <a:p>
            <a:fld id="{695CBC78-88DF-6447-89DF-6EAD6709636E}" type="slidenum">
              <a:rPr lang="en-US" smtClean="0"/>
              <a:t>27</a:t>
            </a:fld>
            <a:endParaRPr lang="en-US"/>
          </a:p>
        </p:txBody>
      </p:sp>
    </p:spTree>
    <p:extLst>
      <p:ext uri="{BB962C8B-B14F-4D97-AF65-F5344CB8AC3E}">
        <p14:creationId xmlns:p14="http://schemas.microsoft.com/office/powerpoint/2010/main" val="10178149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52EED-D38B-4C3D-2ACD-9AE0C4BCD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E3D8B-11DA-F574-0CC2-5B19C4DD7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BD909-33F3-18D4-565A-6E3A4E454B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D07E0E-2BD9-50F4-871B-F5ECAC950179}"/>
              </a:ext>
            </a:extLst>
          </p:cNvPr>
          <p:cNvSpPr>
            <a:spLocks noGrp="1"/>
          </p:cNvSpPr>
          <p:nvPr>
            <p:ph type="sldNum" sz="quarter" idx="5"/>
          </p:nvPr>
        </p:nvSpPr>
        <p:spPr/>
        <p:txBody>
          <a:bodyPr/>
          <a:lstStyle/>
          <a:p>
            <a:fld id="{695CBC78-88DF-6447-89DF-6EAD6709636E}" type="slidenum">
              <a:rPr lang="en-US" smtClean="0"/>
              <a:t>28</a:t>
            </a:fld>
            <a:endParaRPr lang="en-US"/>
          </a:p>
        </p:txBody>
      </p:sp>
    </p:spTree>
    <p:extLst>
      <p:ext uri="{BB962C8B-B14F-4D97-AF65-F5344CB8AC3E}">
        <p14:creationId xmlns:p14="http://schemas.microsoft.com/office/powerpoint/2010/main" val="559553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1B55A-832E-BA4B-5761-EB416A114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3F8F3-11D4-6A24-BEAB-7D45AB34A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72C0F-46A3-3901-3ABB-9A45832E63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EADB24-9C06-BC61-DB59-94FAD2DCDAF7}"/>
              </a:ext>
            </a:extLst>
          </p:cNvPr>
          <p:cNvSpPr>
            <a:spLocks noGrp="1"/>
          </p:cNvSpPr>
          <p:nvPr>
            <p:ph type="sldNum" sz="quarter" idx="5"/>
          </p:nvPr>
        </p:nvSpPr>
        <p:spPr/>
        <p:txBody>
          <a:bodyPr/>
          <a:lstStyle/>
          <a:p>
            <a:fld id="{695CBC78-88DF-6447-89DF-6EAD6709636E}" type="slidenum">
              <a:rPr lang="en-US" smtClean="0"/>
              <a:t>29</a:t>
            </a:fld>
            <a:endParaRPr lang="en-US"/>
          </a:p>
        </p:txBody>
      </p:sp>
    </p:spTree>
    <p:extLst>
      <p:ext uri="{BB962C8B-B14F-4D97-AF65-F5344CB8AC3E}">
        <p14:creationId xmlns:p14="http://schemas.microsoft.com/office/powerpoint/2010/main" val="3600885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10/27/2026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663894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10/27/2026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26002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10/27/2026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210102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10/27/2026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920717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10/27/2026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24451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10/27/2026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474696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10/27/2026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1808957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10/27/2026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52559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10/27/2026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960146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10/27/2026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483732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10/27/2026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86916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10/27/2026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556344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7.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8.emf"/></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10.png"/><Relationship Id="rId7" Type="http://schemas.openxmlformats.org/officeDocument/2006/relationships/diagramLayout" Target="../diagrams/layout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Data" Target="../diagrams/data7.xml"/><Relationship Id="rId5" Type="http://schemas.openxmlformats.org/officeDocument/2006/relationships/image" Target="../media/image12.png"/><Relationship Id="rId10" Type="http://schemas.microsoft.com/office/2007/relationships/diagramDrawing" Target="../diagrams/drawing7.xml"/><Relationship Id="rId4" Type="http://schemas.openxmlformats.org/officeDocument/2006/relationships/image" Target="../media/image11.png"/><Relationship Id="rId9" Type="http://schemas.openxmlformats.org/officeDocument/2006/relationships/diagramColors" Target="../diagrams/colors7.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8.xml"/><Relationship Id="rId3" Type="http://schemas.openxmlformats.org/officeDocument/2006/relationships/image" Target="../media/image13.png"/><Relationship Id="rId7" Type="http://schemas.openxmlformats.org/officeDocument/2006/relationships/diagramData" Target="../diagrams/data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11" Type="http://schemas.microsoft.com/office/2007/relationships/diagramDrawing" Target="../diagrams/drawing8.xml"/><Relationship Id="rId5" Type="http://schemas.openxmlformats.org/officeDocument/2006/relationships/image" Target="../media/image15.png"/><Relationship Id="rId10" Type="http://schemas.openxmlformats.org/officeDocument/2006/relationships/diagramColors" Target="../diagrams/colors8.xml"/><Relationship Id="rId4" Type="http://schemas.openxmlformats.org/officeDocument/2006/relationships/image" Target="../media/image14.png"/><Relationship Id="rId9"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7.png"/><Relationship Id="rId7" Type="http://schemas.openxmlformats.org/officeDocument/2006/relationships/diagramColors" Target="../diagrams/colors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18.png"/><Relationship Id="rId7" Type="http://schemas.openxmlformats.org/officeDocument/2006/relationships/diagramColors" Target="../diagrams/colors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2.xml.rels><?xml version="1.0" encoding="UTF-8" standalone="yes"?>
<Relationships xmlns="http://schemas.openxmlformats.org/package/2006/relationships"><Relationship Id="rId8" Type="http://schemas.openxmlformats.org/officeDocument/2006/relationships/diagramQuickStyle" Target="../diagrams/quickStyle11.xml"/><Relationship Id="rId3" Type="http://schemas.openxmlformats.org/officeDocument/2006/relationships/image" Target="../media/image19.png"/><Relationship Id="rId7" Type="http://schemas.openxmlformats.org/officeDocument/2006/relationships/diagramLayout" Target="../diagrams/layout1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Data" Target="../diagrams/data11.xml"/><Relationship Id="rId5" Type="http://schemas.openxmlformats.org/officeDocument/2006/relationships/image" Target="../media/image21.png"/><Relationship Id="rId10" Type="http://schemas.microsoft.com/office/2007/relationships/diagramDrawing" Target="../diagrams/drawing11.xml"/><Relationship Id="rId4" Type="http://schemas.openxmlformats.org/officeDocument/2006/relationships/image" Target="../media/image20.png"/><Relationship Id="rId9" Type="http://schemas.openxmlformats.org/officeDocument/2006/relationships/diagramColors" Target="../diagrams/colors11.xml"/></Relationships>
</file>

<file path=ppt/slides/_rels/slide1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2.png"/><Relationship Id="rId7" Type="http://schemas.openxmlformats.org/officeDocument/2006/relationships/diagramColors" Target="../diagrams/colors1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3.png"/><Relationship Id="rId7" Type="http://schemas.openxmlformats.org/officeDocument/2006/relationships/diagramColors" Target="../diagrams/colors1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4.emf"/><Relationship Id="rId7" Type="http://schemas.openxmlformats.org/officeDocument/2006/relationships/diagramColors" Target="../diagrams/colors1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15.xml"/><Relationship Id="rId3" Type="http://schemas.openxmlformats.org/officeDocument/2006/relationships/image" Target="../media/image25.png"/><Relationship Id="rId7" Type="http://schemas.openxmlformats.org/officeDocument/2006/relationships/diagramLayout" Target="../diagrams/layout1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Data" Target="../diagrams/data15.xml"/><Relationship Id="rId5" Type="http://schemas.openxmlformats.org/officeDocument/2006/relationships/image" Target="../media/image27.png"/><Relationship Id="rId10" Type="http://schemas.microsoft.com/office/2007/relationships/diagramDrawing" Target="../diagrams/drawing15.xml"/><Relationship Id="rId4" Type="http://schemas.openxmlformats.org/officeDocument/2006/relationships/image" Target="../media/image26.png"/><Relationship Id="rId9" Type="http://schemas.openxmlformats.org/officeDocument/2006/relationships/diagramColors" Target="../diagrams/colors15.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8.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9.png"/><Relationship Id="rId7" Type="http://schemas.openxmlformats.org/officeDocument/2006/relationships/diagramColors" Target="../diagrams/colors17.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42786" y="3564417"/>
            <a:ext cx="10174619" cy="773408"/>
          </a:xfrm>
        </p:spPr>
        <p:txBody>
          <a:bodyPr anchor="t">
            <a:noAutofit/>
          </a:bodyPr>
          <a:lstStyle/>
          <a:p>
            <a:r>
              <a:rPr lang="en-US" sz="3600" b="1">
                <a:solidFill>
                  <a:srgbClr val="DE2B48"/>
                </a:solidFill>
                <a:latin typeface="Neue Haas Grotesk Text Pro" panose="020B0504020202020204" pitchFamily="34" charset="77"/>
                <a:ea typeface="Verdana" panose="020B0604030504040204" pitchFamily="34" charset="0"/>
                <a:cs typeface="Verdana" panose="020B0604030504040204" pitchFamily="34" charset="0"/>
              </a:rPr>
              <a:t>Routing Optimization for deliveries</a:t>
            </a:r>
          </a:p>
        </p:txBody>
      </p:sp>
      <p:sp>
        <p:nvSpPr>
          <p:cNvPr id="3" name="Subtitle 2"/>
          <p:cNvSpPr>
            <a:spLocks noGrp="1"/>
          </p:cNvSpPr>
          <p:nvPr>
            <p:ph type="subTitle" idx="1"/>
          </p:nvPr>
        </p:nvSpPr>
        <p:spPr>
          <a:xfrm>
            <a:off x="842786" y="4569594"/>
            <a:ext cx="1988574" cy="1551989"/>
          </a:xfrm>
        </p:spPr>
        <p:txBody>
          <a:bodyPr vert="horz" lIns="91440" tIns="45720" rIns="91440" bIns="45720" rtlCol="0" anchor="t">
            <a:normAutofit fontScale="92500"/>
          </a:bodyPr>
          <a:lstStyle/>
          <a:p>
            <a:r>
              <a:rPr lang="en-US" sz="1600">
                <a:solidFill>
                  <a:schemeClr val="tx1">
                    <a:lumMod val="65000"/>
                    <a:lumOff val="35000"/>
                  </a:schemeClr>
                </a:solidFill>
                <a:latin typeface="Neue Haas Grotesk Text Pro" panose="020B0504020202020204" pitchFamily="34" charset="77"/>
              </a:rPr>
              <a:t>SELENA DANG</a:t>
            </a:r>
          </a:p>
          <a:p>
            <a:r>
              <a:rPr lang="en-US" sz="1600">
                <a:solidFill>
                  <a:schemeClr val="tx1">
                    <a:lumMod val="65000"/>
                    <a:lumOff val="35000"/>
                  </a:schemeClr>
                </a:solidFill>
                <a:latin typeface="Neue Haas Grotesk Text Pro" panose="020B0504020202020204" pitchFamily="34" charset="77"/>
              </a:rPr>
              <a:t>MICHAEL PICKNEY</a:t>
            </a:r>
          </a:p>
          <a:p>
            <a:r>
              <a:rPr lang="en-US" sz="1600">
                <a:solidFill>
                  <a:schemeClr val="tx1">
                    <a:lumMod val="65000"/>
                    <a:lumOff val="35000"/>
                  </a:schemeClr>
                </a:solidFill>
                <a:latin typeface="Neue Haas Grotesk Text Pro" panose="020B0504020202020204" pitchFamily="34" charset="77"/>
              </a:rPr>
              <a:t>AVERI STEVEN</a:t>
            </a:r>
          </a:p>
          <a:p>
            <a:r>
              <a:rPr lang="en-US" sz="1600">
                <a:solidFill>
                  <a:schemeClr val="tx1">
                    <a:lumMod val="65000"/>
                    <a:lumOff val="35000"/>
                  </a:schemeClr>
                </a:solidFill>
                <a:latin typeface="Neue Haas Grotesk Text Pro" panose="020B0504020202020204" pitchFamily="34" charset="77"/>
              </a:rPr>
              <a:t>RACHEL STONE</a:t>
            </a:r>
          </a:p>
        </p:txBody>
      </p:sp>
      <p:pic>
        <p:nvPicPr>
          <p:cNvPr id="4" name="Picture 2">
            <a:extLst>
              <a:ext uri="{FF2B5EF4-FFF2-40B4-BE49-F238E27FC236}">
                <a16:creationId xmlns:a16="http://schemas.microsoft.com/office/drawing/2014/main" id="{440B6D5A-2629-ACAE-37A5-D795B8A0C3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54" t="36335" r="9045" b="35764"/>
          <a:stretch/>
        </p:blipFill>
        <p:spPr bwMode="auto">
          <a:xfrm>
            <a:off x="797583" y="1328659"/>
            <a:ext cx="8698971" cy="232383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9AC69131-7874-B1F2-15C9-606FF69BDA32}"/>
              </a:ext>
            </a:extLst>
          </p:cNvPr>
          <p:cNvSpPr txBox="1">
            <a:spLocks/>
          </p:cNvSpPr>
          <p:nvPr/>
        </p:nvSpPr>
        <p:spPr>
          <a:xfrm>
            <a:off x="627986" y="868522"/>
            <a:ext cx="1434953" cy="647852"/>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Neue Haas Grotesk Text Pro" panose="020B05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30000"/>
              </a:lnSpc>
              <a:spcBef>
                <a:spcPts val="500"/>
              </a:spcBef>
              <a:buFont typeface="Neue Haas Grotesk Text Pro" panose="020B05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30000"/>
              </a:lnSpc>
              <a:spcBef>
                <a:spcPts val="500"/>
              </a:spcBef>
              <a:buFont typeface="Neue Haas Grotesk Text Pro" panose="020B05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30000"/>
              </a:lnSpc>
              <a:spcBef>
                <a:spcPts val="500"/>
              </a:spcBef>
              <a:buFont typeface="Neue Haas Grotesk Text Pro" panose="020B05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30000"/>
              </a:lnSpc>
              <a:spcBef>
                <a:spcPts val="500"/>
              </a:spcBef>
              <a:buFont typeface="Neue Haas Grotesk Text Pro" panose="020B05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1800">
              <a:latin typeface="+mj-lt"/>
            </a:endParaRPr>
          </a:p>
        </p:txBody>
      </p:sp>
      <p:sp>
        <p:nvSpPr>
          <p:cNvPr id="7" name="Subtitle 2">
            <a:extLst>
              <a:ext uri="{FF2B5EF4-FFF2-40B4-BE49-F238E27FC236}">
                <a16:creationId xmlns:a16="http://schemas.microsoft.com/office/drawing/2014/main" id="{1DD54B80-5C6B-5F2E-ABAA-35CE685399B0}"/>
              </a:ext>
            </a:extLst>
          </p:cNvPr>
          <p:cNvSpPr txBox="1">
            <a:spLocks/>
          </p:cNvSpPr>
          <p:nvPr/>
        </p:nvSpPr>
        <p:spPr>
          <a:xfrm>
            <a:off x="7502862" y="5479521"/>
            <a:ext cx="3987383" cy="869642"/>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Neue Haas Grotesk Text Pro" panose="020B05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30000"/>
              </a:lnSpc>
              <a:spcBef>
                <a:spcPts val="500"/>
              </a:spcBef>
              <a:buFont typeface="Neue Haas Grotesk Text Pro" panose="020B05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30000"/>
              </a:lnSpc>
              <a:spcBef>
                <a:spcPts val="500"/>
              </a:spcBef>
              <a:buFont typeface="Neue Haas Grotesk Text Pro" panose="020B05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30000"/>
              </a:lnSpc>
              <a:spcBef>
                <a:spcPts val="500"/>
              </a:spcBef>
              <a:buFont typeface="Neue Haas Grotesk Text Pro" panose="020B05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30000"/>
              </a:lnSpc>
              <a:spcBef>
                <a:spcPts val="500"/>
              </a:spcBef>
              <a:buFont typeface="Neue Haas Grotesk Text Pro" panose="020B05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en-US" sz="1500">
                <a:solidFill>
                  <a:schemeClr val="tx1">
                    <a:lumMod val="50000"/>
                    <a:lumOff val="50000"/>
                  </a:schemeClr>
                </a:solidFill>
                <a:latin typeface="Neue Haas Grotesk Text Pro" panose="020B0504020202020204" pitchFamily="34" charset="77"/>
              </a:rPr>
              <a:t>Corporate Sponsor: Monty Doggett</a:t>
            </a:r>
          </a:p>
          <a:p>
            <a:pPr algn="r">
              <a:lnSpc>
                <a:spcPct val="100000"/>
              </a:lnSpc>
            </a:pPr>
            <a:r>
              <a:rPr lang="en-US" sz="1500">
                <a:solidFill>
                  <a:schemeClr val="tx1">
                    <a:lumMod val="50000"/>
                    <a:lumOff val="50000"/>
                  </a:schemeClr>
                </a:solidFill>
                <a:latin typeface="Neue Haas Grotesk Text Pro" panose="020B0504020202020204" pitchFamily="34" charset="77"/>
              </a:rPr>
              <a:t>Faculty Advisor: Dr. </a:t>
            </a:r>
            <a:r>
              <a:rPr lang="en-US" sz="1500" err="1">
                <a:solidFill>
                  <a:schemeClr val="tx1">
                    <a:lumMod val="50000"/>
                    <a:lumOff val="50000"/>
                  </a:schemeClr>
                </a:solidFill>
                <a:latin typeface="Neue Haas Grotesk Text Pro" panose="020B0504020202020204" pitchFamily="34" charset="77"/>
              </a:rPr>
              <a:t>Bhaba</a:t>
            </a:r>
            <a:r>
              <a:rPr lang="en-US" sz="1500">
                <a:solidFill>
                  <a:schemeClr val="tx1">
                    <a:lumMod val="50000"/>
                    <a:lumOff val="50000"/>
                  </a:schemeClr>
                </a:solidFill>
                <a:latin typeface="Neue Haas Grotesk Text Pro" panose="020B0504020202020204" pitchFamily="34" charset="77"/>
              </a:rPr>
              <a:t> Sarker</a:t>
            </a:r>
          </a:p>
        </p:txBody>
      </p:sp>
      <p:sp>
        <p:nvSpPr>
          <p:cNvPr id="9" name="TextBox 8">
            <a:extLst>
              <a:ext uri="{FF2B5EF4-FFF2-40B4-BE49-F238E27FC236}">
                <a16:creationId xmlns:a16="http://schemas.microsoft.com/office/drawing/2014/main" id="{8FB6D83F-637F-2274-7E04-1B077918C683}"/>
              </a:ext>
            </a:extLst>
          </p:cNvPr>
          <p:cNvSpPr txBox="1"/>
          <p:nvPr/>
        </p:nvSpPr>
        <p:spPr>
          <a:xfrm>
            <a:off x="701754" y="328020"/>
            <a:ext cx="6103088" cy="369332"/>
          </a:xfrm>
          <a:prstGeom prst="rect">
            <a:avLst/>
          </a:prstGeom>
          <a:noFill/>
        </p:spPr>
        <p:txBody>
          <a:bodyPr wrap="square">
            <a:spAutoFit/>
          </a:bodyPr>
          <a:lstStyle/>
          <a:p>
            <a:r>
              <a:rPr lang="en-US">
                <a:solidFill>
                  <a:schemeClr val="tx1">
                    <a:lumMod val="50000"/>
                    <a:lumOff val="50000"/>
                  </a:schemeClr>
                </a:solidFill>
                <a:latin typeface="Neue Haas Grotesk Text Pro" panose="020B0504020202020204" pitchFamily="34" charset="77"/>
              </a:rPr>
              <a:t>26-S98-3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7272-A818-AB2F-759C-84A7CB153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0BB68-511F-AADE-FC0A-13968D64D5C8}"/>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Introduction</a:t>
            </a:r>
          </a:p>
        </p:txBody>
      </p:sp>
      <p:sp>
        <p:nvSpPr>
          <p:cNvPr id="13" name="Slide Number Placeholder 12">
            <a:extLst>
              <a:ext uri="{FF2B5EF4-FFF2-40B4-BE49-F238E27FC236}">
                <a16:creationId xmlns:a16="http://schemas.microsoft.com/office/drawing/2014/main" id="{000D404C-DD71-70C2-C309-29BF1C00E288}"/>
              </a:ext>
            </a:extLst>
          </p:cNvPr>
          <p:cNvSpPr>
            <a:spLocks noGrp="1"/>
          </p:cNvSpPr>
          <p:nvPr>
            <p:ph type="sldNum" sz="quarter" idx="12"/>
          </p:nvPr>
        </p:nvSpPr>
        <p:spPr/>
        <p:txBody>
          <a:bodyPr/>
          <a:lstStyle/>
          <a:p>
            <a:r>
              <a:rPr lang="en-US" sz="1050">
                <a:latin typeface="Neue Haas Grotesk Text Pro" panose="020B0504020202020204" pitchFamily="34" charset="77"/>
              </a:rPr>
              <a:t>1</a:t>
            </a:r>
          </a:p>
        </p:txBody>
      </p:sp>
      <p:pic>
        <p:nvPicPr>
          <p:cNvPr id="1026" name="Picture 2" descr="A map of the state of illinois&#10;&#10;AI-generated content may be incorrect.">
            <a:extLst>
              <a:ext uri="{FF2B5EF4-FFF2-40B4-BE49-F238E27FC236}">
                <a16:creationId xmlns:a16="http://schemas.microsoft.com/office/drawing/2014/main" id="{1573D5C1-B41B-0E99-D49B-C8EE4D074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7286" y="1600200"/>
            <a:ext cx="5156200" cy="36576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D4D9F6D-9E88-7923-098F-9F415E099977}"/>
              </a:ext>
            </a:extLst>
          </p:cNvPr>
          <p:cNvSpPr txBox="1"/>
          <p:nvPr/>
        </p:nvSpPr>
        <p:spPr>
          <a:xfrm>
            <a:off x="1234704" y="1815689"/>
            <a:ext cx="5435600" cy="3414076"/>
          </a:xfrm>
          <a:prstGeom prst="rect">
            <a:avLst/>
          </a:prstGeom>
          <a:noFill/>
        </p:spPr>
        <p:txBody>
          <a:bodyPr wrap="square" rtlCol="0">
            <a:spAutoFit/>
          </a:bodyPr>
          <a:lstStyle/>
          <a:p>
            <a:pPr>
              <a:lnSpc>
                <a:spcPct val="150000"/>
              </a:lnSpc>
            </a:pPr>
            <a:r>
              <a:rPr lang="en-US" sz="2000" b="1">
                <a:latin typeface="Neue Haas Grotesk Text Pro" panose="020B0504020202020204" pitchFamily="34" charset="77"/>
              </a:rPr>
              <a:t>Problem</a:t>
            </a:r>
            <a:endParaRPr lang="en-US" b="1">
              <a:latin typeface="Neue Haas Grotesk Text Pro" panose="020B0504020202020204" pitchFamily="34" charset="77"/>
            </a:endParaRPr>
          </a:p>
          <a:p>
            <a:pPr marL="742950" lvl="1" indent="-285750">
              <a:lnSpc>
                <a:spcPct val="150000"/>
              </a:lnSpc>
              <a:buFont typeface="Arial" panose="020B0604020202020204" pitchFamily="34" charset="0"/>
              <a:buChar char="•"/>
            </a:pPr>
            <a:r>
              <a:rPr lang="en-US">
                <a:latin typeface="Neue Haas Grotesk Text Pro" panose="020B0504020202020204" pitchFamily="34" charset="77"/>
              </a:rPr>
              <a:t>Agency-based routing </a:t>
            </a:r>
            <a:r>
              <a:rPr lang="en-US">
                <a:latin typeface="Neue Haas Grotesk Text Pro" panose="020B0504020202020204" pitchFamily="34" charset="77"/>
                <a:sym typeface="Wingdings" pitchFamily="2" charset="2"/>
              </a:rPr>
              <a:t> optimization strategy</a:t>
            </a:r>
          </a:p>
          <a:p>
            <a:pPr marL="742950" lvl="1" indent="-285750">
              <a:lnSpc>
                <a:spcPct val="150000"/>
              </a:lnSpc>
              <a:buFont typeface="Arial" panose="020B0604020202020204" pitchFamily="34" charset="0"/>
              <a:buChar char="•"/>
            </a:pPr>
            <a:r>
              <a:rPr lang="en-US">
                <a:latin typeface="Neue Haas Grotesk Text Pro" panose="020B0504020202020204" pitchFamily="34" charset="77"/>
                <a:sym typeface="Wingdings" pitchFamily="2" charset="2"/>
              </a:rPr>
              <a:t>Coordinating deliveries to &gt;116 agencies</a:t>
            </a:r>
          </a:p>
          <a:p>
            <a:pPr lvl="1">
              <a:lnSpc>
                <a:spcPct val="150000"/>
              </a:lnSpc>
            </a:pPr>
            <a:endParaRPr lang="en-US">
              <a:latin typeface="Neue Haas Grotesk Text Pro" panose="020B0504020202020204" pitchFamily="34" charset="77"/>
            </a:endParaRPr>
          </a:p>
          <a:p>
            <a:pPr>
              <a:lnSpc>
                <a:spcPct val="150000"/>
              </a:lnSpc>
            </a:pPr>
            <a:r>
              <a:rPr lang="en-US" b="1">
                <a:latin typeface="Neue Haas Grotesk Text Pro" panose="020B0504020202020204" pitchFamily="34" charset="77"/>
              </a:rPr>
              <a:t>Management Objectives</a:t>
            </a:r>
          </a:p>
          <a:p>
            <a:pPr marL="742950" lvl="1" indent="-285750">
              <a:lnSpc>
                <a:spcPct val="150000"/>
              </a:lnSpc>
              <a:buFont typeface="Arial" panose="020B0604020202020204" pitchFamily="34" charset="0"/>
              <a:buChar char="•"/>
            </a:pPr>
            <a:r>
              <a:rPr lang="en-US">
                <a:latin typeface="Neue Haas Grotesk Text Pro" panose="020B0504020202020204" pitchFamily="34" charset="77"/>
              </a:rPr>
              <a:t>Decrease non-value-added time </a:t>
            </a:r>
          </a:p>
          <a:p>
            <a:pPr marL="742950" lvl="1" indent="-285750">
              <a:lnSpc>
                <a:spcPct val="150000"/>
              </a:lnSpc>
              <a:buFont typeface="Arial" panose="020B0604020202020204" pitchFamily="34" charset="0"/>
              <a:buChar char="•"/>
            </a:pPr>
            <a:r>
              <a:rPr lang="en-US">
                <a:latin typeface="Neue Haas Grotesk Text Pro" panose="020B0504020202020204" pitchFamily="34" charset="77"/>
              </a:rPr>
              <a:t>Suggest agency reroutes for 2027</a:t>
            </a:r>
          </a:p>
        </p:txBody>
      </p:sp>
      <p:sp>
        <p:nvSpPr>
          <p:cNvPr id="3" name="TextBox 2">
            <a:extLst>
              <a:ext uri="{FF2B5EF4-FFF2-40B4-BE49-F238E27FC236}">
                <a16:creationId xmlns:a16="http://schemas.microsoft.com/office/drawing/2014/main" id="{833C976C-9BC3-B33E-1914-8AAB52801884}"/>
              </a:ext>
            </a:extLst>
          </p:cNvPr>
          <p:cNvSpPr txBox="1"/>
          <p:nvPr/>
        </p:nvSpPr>
        <p:spPr>
          <a:xfrm>
            <a:off x="10255217" y="5857436"/>
            <a:ext cx="161901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p>
        </p:txBody>
      </p:sp>
      <p:graphicFrame>
        <p:nvGraphicFramePr>
          <p:cNvPr id="8" name="Content Placeholder 4">
            <a:extLst>
              <a:ext uri="{FF2B5EF4-FFF2-40B4-BE49-F238E27FC236}">
                <a16:creationId xmlns:a16="http://schemas.microsoft.com/office/drawing/2014/main" id="{3AB2A72A-44E3-62B4-6CD2-E07058249677}"/>
              </a:ext>
            </a:extLst>
          </p:cNvPr>
          <p:cNvGraphicFramePr>
            <a:graphicFrameLocks/>
          </p:cNvGraphicFramePr>
          <p:nvPr>
            <p:extLst>
              <p:ext uri="{D42A27DB-BD31-4B8C-83A1-F6EECF244321}">
                <p14:modId xmlns:p14="http://schemas.microsoft.com/office/powerpoint/2010/main" val="3107741322"/>
              </p:ext>
            </p:extLst>
          </p:nvPr>
        </p:nvGraphicFramePr>
        <p:xfrm>
          <a:off x="185739" y="5479715"/>
          <a:ext cx="11405628"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303C983E-3BBA-A844-C2CB-A0783A059784}"/>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spTree>
    <p:extLst>
      <p:ext uri="{BB962C8B-B14F-4D97-AF65-F5344CB8AC3E}">
        <p14:creationId xmlns:p14="http://schemas.microsoft.com/office/powerpoint/2010/main" val="3102510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63BAC-6872-DB71-9F66-448D86CD9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A34EF-5F2A-BC4C-40B4-70A18A1A6C0F}"/>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Introduction</a:t>
            </a:r>
          </a:p>
        </p:txBody>
      </p:sp>
      <p:sp>
        <p:nvSpPr>
          <p:cNvPr id="13" name="Slide Number Placeholder 12">
            <a:extLst>
              <a:ext uri="{FF2B5EF4-FFF2-40B4-BE49-F238E27FC236}">
                <a16:creationId xmlns:a16="http://schemas.microsoft.com/office/drawing/2014/main" id="{E9201265-B491-5749-9E72-CBF57D15AABB}"/>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a:t>
            </a:fld>
            <a:endParaRPr lang="en-US" sz="1050">
              <a:latin typeface="Neue Haas Grotesk Text Pro" panose="020B0504020202020204" pitchFamily="34" charset="77"/>
            </a:endParaRPr>
          </a:p>
        </p:txBody>
      </p:sp>
      <p:sp>
        <p:nvSpPr>
          <p:cNvPr id="11" name="TextBox 10">
            <a:extLst>
              <a:ext uri="{FF2B5EF4-FFF2-40B4-BE49-F238E27FC236}">
                <a16:creationId xmlns:a16="http://schemas.microsoft.com/office/drawing/2014/main" id="{00435E88-61EF-568B-C738-B178BAA13FBD}"/>
              </a:ext>
            </a:extLst>
          </p:cNvPr>
          <p:cNvSpPr txBox="1"/>
          <p:nvPr/>
        </p:nvSpPr>
        <p:spPr>
          <a:xfrm>
            <a:off x="1181100" y="1804287"/>
            <a:ext cx="6483202" cy="964495"/>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Samsara Fleet Management</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AI Route Optimization</a:t>
            </a:r>
            <a:endParaRPr lang="en-US" sz="2000">
              <a:latin typeface="Neue Haas Grotesk Text Pro"/>
            </a:endParaRPr>
          </a:p>
        </p:txBody>
      </p:sp>
      <p:sp>
        <p:nvSpPr>
          <p:cNvPr id="3" name="TextBox 2">
            <a:extLst>
              <a:ext uri="{FF2B5EF4-FFF2-40B4-BE49-F238E27FC236}">
                <a16:creationId xmlns:a16="http://schemas.microsoft.com/office/drawing/2014/main" id="{7E6064F8-787C-A9A1-B745-0E0690A28354}"/>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MP</a:t>
            </a:r>
          </a:p>
        </p:txBody>
      </p:sp>
      <p:graphicFrame>
        <p:nvGraphicFramePr>
          <p:cNvPr id="7" name="Content Placeholder 4">
            <a:extLst>
              <a:ext uri="{FF2B5EF4-FFF2-40B4-BE49-F238E27FC236}">
                <a16:creationId xmlns:a16="http://schemas.microsoft.com/office/drawing/2014/main" id="{C950BE16-2268-F907-3155-89B198E409BD}"/>
              </a:ext>
            </a:extLst>
          </p:cNvPr>
          <p:cNvGraphicFramePr>
            <a:graphicFrameLocks/>
          </p:cNvGraphicFramePr>
          <p:nvPr>
            <p:extLst>
              <p:ext uri="{D42A27DB-BD31-4B8C-83A1-F6EECF244321}">
                <p14:modId xmlns:p14="http://schemas.microsoft.com/office/powerpoint/2010/main" val="4029035017"/>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screenshot of a route&#10;&#10;Description automatically generated">
            <a:extLst>
              <a:ext uri="{FF2B5EF4-FFF2-40B4-BE49-F238E27FC236}">
                <a16:creationId xmlns:a16="http://schemas.microsoft.com/office/drawing/2014/main" id="{E32DD8CB-63F0-2897-4C14-FA1EB130BE4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900672" y="1477220"/>
            <a:ext cx="4590693" cy="3779101"/>
          </a:xfrm>
          <a:prstGeom prst="rect">
            <a:avLst/>
          </a:prstGeom>
        </p:spPr>
      </p:pic>
      <p:pic>
        <p:nvPicPr>
          <p:cNvPr id="5" name="Picture 4" descr="A map with a map and a map with a map and a map with a map and a map with a map and a map with a map and a map with a map and a map with&#10;&#10;Description automatically generated">
            <a:extLst>
              <a:ext uri="{FF2B5EF4-FFF2-40B4-BE49-F238E27FC236}">
                <a16:creationId xmlns:a16="http://schemas.microsoft.com/office/drawing/2014/main" id="{6EB56437-1619-6C5F-0ED4-E23523615DE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395730" y="2960656"/>
            <a:ext cx="4889500" cy="2320925"/>
          </a:xfrm>
          <a:prstGeom prst="rect">
            <a:avLst/>
          </a:prstGeom>
        </p:spPr>
      </p:pic>
    </p:spTree>
    <p:extLst>
      <p:ext uri="{BB962C8B-B14F-4D97-AF65-F5344CB8AC3E}">
        <p14:creationId xmlns:p14="http://schemas.microsoft.com/office/powerpoint/2010/main" val="3368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A691-DA0F-5987-8607-032332B18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697A2F-8437-E735-0642-D1D6E5E40811}"/>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Data Collection</a:t>
            </a:r>
          </a:p>
        </p:txBody>
      </p:sp>
      <p:sp>
        <p:nvSpPr>
          <p:cNvPr id="13" name="Slide Number Placeholder 12">
            <a:extLst>
              <a:ext uri="{FF2B5EF4-FFF2-40B4-BE49-F238E27FC236}">
                <a16:creationId xmlns:a16="http://schemas.microsoft.com/office/drawing/2014/main" id="{C93018D0-0805-2EA8-9707-6F1156BE9F94}"/>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3</a:t>
            </a:fld>
            <a:endParaRPr lang="en-US" sz="1050">
              <a:latin typeface="Neue Haas Grotesk Text Pro" panose="020B0504020202020204" pitchFamily="34" charset="77"/>
            </a:endParaRPr>
          </a:p>
        </p:txBody>
      </p:sp>
      <p:sp>
        <p:nvSpPr>
          <p:cNvPr id="11" name="TextBox 10">
            <a:extLst>
              <a:ext uri="{FF2B5EF4-FFF2-40B4-BE49-F238E27FC236}">
                <a16:creationId xmlns:a16="http://schemas.microsoft.com/office/drawing/2014/main" id="{0619A49D-3FFE-4F8D-D013-49E3EEC6F5B3}"/>
              </a:ext>
            </a:extLst>
          </p:cNvPr>
          <p:cNvSpPr txBox="1"/>
          <p:nvPr/>
        </p:nvSpPr>
        <p:spPr>
          <a:xfrm>
            <a:off x="1181100" y="1804287"/>
            <a:ext cx="6483202" cy="964495"/>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Agency Digital Data Collection</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Sorting through the requests</a:t>
            </a:r>
            <a:endParaRPr lang="en-US" sz="2000">
              <a:latin typeface="Neue Haas Grotesk Text Pro"/>
            </a:endParaRPr>
          </a:p>
        </p:txBody>
      </p:sp>
      <p:sp>
        <p:nvSpPr>
          <p:cNvPr id="3" name="TextBox 2">
            <a:extLst>
              <a:ext uri="{FF2B5EF4-FFF2-40B4-BE49-F238E27FC236}">
                <a16:creationId xmlns:a16="http://schemas.microsoft.com/office/drawing/2014/main" id="{2AF7CFD1-628C-7F29-BBB0-A0FE4B6E452A}"/>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6" name="Picture 5" descr="A screenshot of a computer&#10;&#10;Description automatically generated">
            <a:extLst>
              <a:ext uri="{FF2B5EF4-FFF2-40B4-BE49-F238E27FC236}">
                <a16:creationId xmlns:a16="http://schemas.microsoft.com/office/drawing/2014/main" id="{5FA57FCA-262A-8747-2EFF-CFD2F359C4DE}"/>
              </a:ext>
            </a:extLst>
          </p:cNvPr>
          <p:cNvPicPr>
            <a:picLocks noChangeAspect="1"/>
          </p:cNvPicPr>
          <p:nvPr/>
        </p:nvPicPr>
        <p:blipFill>
          <a:blip r:embed="rId3">
            <a:extLst>
              <a:ext uri="{28A0092B-C50C-407E-A947-70E740481C1C}">
                <a14:useLocalDpi xmlns:a14="http://schemas.microsoft.com/office/drawing/2010/main" val="0"/>
              </a:ext>
            </a:extLst>
          </a:blip>
          <a:srcRect l="-11992" r="11992"/>
          <a:stretch/>
        </p:blipFill>
        <p:spPr>
          <a:xfrm>
            <a:off x="-432883" y="2768782"/>
            <a:ext cx="8921779" cy="2751563"/>
          </a:xfrm>
          <a:prstGeom prst="rect">
            <a:avLst/>
          </a:prstGeom>
        </p:spPr>
      </p:pic>
      <p:graphicFrame>
        <p:nvGraphicFramePr>
          <p:cNvPr id="7" name="Content Placeholder 4">
            <a:extLst>
              <a:ext uri="{FF2B5EF4-FFF2-40B4-BE49-F238E27FC236}">
                <a16:creationId xmlns:a16="http://schemas.microsoft.com/office/drawing/2014/main" id="{2E663264-CA06-06BD-09FA-81F06BD7AEBD}"/>
              </a:ext>
            </a:extLst>
          </p:cNvPr>
          <p:cNvGraphicFramePr>
            <a:graphicFrameLocks/>
          </p:cNvGraphicFramePr>
          <p:nvPr>
            <p:extLst>
              <p:ext uri="{D42A27DB-BD31-4B8C-83A1-F6EECF244321}">
                <p14:modId xmlns:p14="http://schemas.microsoft.com/office/powerpoint/2010/main" val="1990511044"/>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Calendar with red marks on it&#10;&#10;Description automatically generated with medium confidence">
            <a:extLst>
              <a:ext uri="{FF2B5EF4-FFF2-40B4-BE49-F238E27FC236}">
                <a16:creationId xmlns:a16="http://schemas.microsoft.com/office/drawing/2014/main" id="{3B6FAB10-1FA1-F75F-DD30-40F7C102118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40016" y="1108247"/>
            <a:ext cx="3332349" cy="4371468"/>
          </a:xfrm>
          <a:prstGeom prst="rect">
            <a:avLst/>
          </a:prstGeom>
        </p:spPr>
      </p:pic>
    </p:spTree>
    <p:extLst>
      <p:ext uri="{BB962C8B-B14F-4D97-AF65-F5344CB8AC3E}">
        <p14:creationId xmlns:p14="http://schemas.microsoft.com/office/powerpoint/2010/main" val="1896819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463C2-88FE-ECFE-2D8F-F46EEB202E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9ABD5-F30C-E9BA-0A65-6E948E55715D}"/>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Data Collection</a:t>
            </a:r>
          </a:p>
        </p:txBody>
      </p:sp>
      <p:sp>
        <p:nvSpPr>
          <p:cNvPr id="13" name="Slide Number Placeholder 12">
            <a:extLst>
              <a:ext uri="{FF2B5EF4-FFF2-40B4-BE49-F238E27FC236}">
                <a16:creationId xmlns:a16="http://schemas.microsoft.com/office/drawing/2014/main" id="{DB2C21C1-CDDE-80B8-485B-FBC5CD7C1B58}"/>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4</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ACB8EC0D-7638-10C2-FB04-B4756CF20D03}"/>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MP</a:t>
            </a:r>
          </a:p>
        </p:txBody>
      </p:sp>
      <p:sp>
        <p:nvSpPr>
          <p:cNvPr id="5" name="TextBox 4">
            <a:extLst>
              <a:ext uri="{FF2B5EF4-FFF2-40B4-BE49-F238E27FC236}">
                <a16:creationId xmlns:a16="http://schemas.microsoft.com/office/drawing/2014/main" id="{F175C89F-CB29-6673-A712-F1E940956D6E}"/>
              </a:ext>
            </a:extLst>
          </p:cNvPr>
          <p:cNvSpPr txBox="1"/>
          <p:nvPr/>
        </p:nvSpPr>
        <p:spPr>
          <a:xfrm>
            <a:off x="1181100" y="1804287"/>
            <a:ext cx="6483202" cy="961930"/>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Truck Audits for Arrival, Departure, and Mileage</a:t>
            </a:r>
          </a:p>
          <a:p>
            <a:pPr marL="742950" indent="-285750">
              <a:lnSpc>
                <a:spcPct val="150000"/>
              </a:lnSpc>
              <a:buFont typeface="Arial" panose="020B0604020202020204" pitchFamily="34" charset="0"/>
              <a:buChar char="•"/>
            </a:pPr>
            <a:endParaRPr lang="en-US" sz="2000">
              <a:latin typeface="Neue Haas Grotesk Text Pro"/>
            </a:endParaRPr>
          </a:p>
        </p:txBody>
      </p:sp>
      <p:graphicFrame>
        <p:nvGraphicFramePr>
          <p:cNvPr id="6" name="Table 5">
            <a:extLst>
              <a:ext uri="{FF2B5EF4-FFF2-40B4-BE49-F238E27FC236}">
                <a16:creationId xmlns:a16="http://schemas.microsoft.com/office/drawing/2014/main" id="{F7E170A2-FDF2-54A2-13C5-00E4152A3B93}"/>
              </a:ext>
            </a:extLst>
          </p:cNvPr>
          <p:cNvGraphicFramePr>
            <a:graphicFrameLocks noGrp="1"/>
          </p:cNvGraphicFramePr>
          <p:nvPr>
            <p:extLst>
              <p:ext uri="{D42A27DB-BD31-4B8C-83A1-F6EECF244321}">
                <p14:modId xmlns:p14="http://schemas.microsoft.com/office/powerpoint/2010/main" val="2552024257"/>
              </p:ext>
            </p:extLst>
          </p:nvPr>
        </p:nvGraphicFramePr>
        <p:xfrm>
          <a:off x="1829290" y="2376494"/>
          <a:ext cx="8909592" cy="2888875"/>
        </p:xfrm>
        <a:graphic>
          <a:graphicData uri="http://schemas.openxmlformats.org/drawingml/2006/table">
            <a:tbl>
              <a:tblPr/>
              <a:tblGrid>
                <a:gridCol w="748921">
                  <a:extLst>
                    <a:ext uri="{9D8B030D-6E8A-4147-A177-3AD203B41FA5}">
                      <a16:colId xmlns:a16="http://schemas.microsoft.com/office/drawing/2014/main" val="3808875173"/>
                    </a:ext>
                  </a:extLst>
                </a:gridCol>
                <a:gridCol w="1119079">
                  <a:extLst>
                    <a:ext uri="{9D8B030D-6E8A-4147-A177-3AD203B41FA5}">
                      <a16:colId xmlns:a16="http://schemas.microsoft.com/office/drawing/2014/main" val="1758661231"/>
                    </a:ext>
                  </a:extLst>
                </a:gridCol>
                <a:gridCol w="1196554">
                  <a:extLst>
                    <a:ext uri="{9D8B030D-6E8A-4147-A177-3AD203B41FA5}">
                      <a16:colId xmlns:a16="http://schemas.microsoft.com/office/drawing/2014/main" val="2630962604"/>
                    </a:ext>
                  </a:extLst>
                </a:gridCol>
                <a:gridCol w="1196554">
                  <a:extLst>
                    <a:ext uri="{9D8B030D-6E8A-4147-A177-3AD203B41FA5}">
                      <a16:colId xmlns:a16="http://schemas.microsoft.com/office/drawing/2014/main" val="289072678"/>
                    </a:ext>
                  </a:extLst>
                </a:gridCol>
                <a:gridCol w="1274029">
                  <a:extLst>
                    <a:ext uri="{9D8B030D-6E8A-4147-A177-3AD203B41FA5}">
                      <a16:colId xmlns:a16="http://schemas.microsoft.com/office/drawing/2014/main" val="1860628733"/>
                    </a:ext>
                  </a:extLst>
                </a:gridCol>
                <a:gridCol w="1274029">
                  <a:extLst>
                    <a:ext uri="{9D8B030D-6E8A-4147-A177-3AD203B41FA5}">
                      <a16:colId xmlns:a16="http://schemas.microsoft.com/office/drawing/2014/main" val="888790696"/>
                    </a:ext>
                  </a:extLst>
                </a:gridCol>
                <a:gridCol w="1050213">
                  <a:extLst>
                    <a:ext uri="{9D8B030D-6E8A-4147-A177-3AD203B41FA5}">
                      <a16:colId xmlns:a16="http://schemas.microsoft.com/office/drawing/2014/main" val="1521356892"/>
                    </a:ext>
                  </a:extLst>
                </a:gridCol>
                <a:gridCol w="1050213">
                  <a:extLst>
                    <a:ext uri="{9D8B030D-6E8A-4147-A177-3AD203B41FA5}">
                      <a16:colId xmlns:a16="http://schemas.microsoft.com/office/drawing/2014/main" val="2332866569"/>
                    </a:ext>
                  </a:extLst>
                </a:gridCol>
              </a:tblGrid>
              <a:tr h="991135">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Route​</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Date​</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Departure Time (Manual)​</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Departure Time (Samsara)​</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Return Time​</a:t>
                      </a:r>
                      <a:endParaRPr lang="en-US" b="1" i="0">
                        <a:solidFill>
                          <a:srgbClr val="FFFFFF"/>
                        </a:solidFill>
                        <a:effectLst/>
                      </a:endParaRPr>
                    </a:p>
                    <a:p>
                      <a:pPr algn="ctr" fontAlgn="base"/>
                      <a:r>
                        <a:rPr lang="en-US" sz="1200" b="1" i="0">
                          <a:solidFill>
                            <a:srgbClr val="FFFFFF"/>
                          </a:solidFill>
                          <a:effectLst/>
                          <a:latin typeface="Neue Haas Grotesk Text Pro" panose="020B0504020202020204" pitchFamily="34" charset="77"/>
                        </a:rPr>
                        <a:t>(Manual)​</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Return Time​</a:t>
                      </a:r>
                      <a:endParaRPr lang="en-US" b="1" i="0">
                        <a:solidFill>
                          <a:srgbClr val="FFFFFF"/>
                        </a:solidFill>
                        <a:effectLst/>
                      </a:endParaRPr>
                    </a:p>
                    <a:p>
                      <a:pPr algn="ctr" fontAlgn="base"/>
                      <a:r>
                        <a:rPr lang="en-US" sz="1200" b="1" i="0">
                          <a:solidFill>
                            <a:srgbClr val="FFFFFF"/>
                          </a:solidFill>
                          <a:effectLst/>
                          <a:latin typeface="Neue Haas Grotesk Text Pro" panose="020B0504020202020204" pitchFamily="34" charset="77"/>
                        </a:rPr>
                        <a:t>(Samsara)​</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Mileage​</a:t>
                      </a:r>
                      <a:endParaRPr lang="en-US" b="1" i="0">
                        <a:solidFill>
                          <a:srgbClr val="FFFFFF"/>
                        </a:solidFill>
                        <a:effectLst/>
                      </a:endParaRPr>
                    </a:p>
                    <a:p>
                      <a:pPr algn="ctr" fontAlgn="base"/>
                      <a:r>
                        <a:rPr lang="en-US" sz="1200" b="1" i="0">
                          <a:solidFill>
                            <a:srgbClr val="FFFFFF"/>
                          </a:solidFill>
                          <a:effectLst/>
                          <a:latin typeface="Neue Haas Grotesk Text Pro" panose="020B0504020202020204" pitchFamily="34" charset="77"/>
                        </a:rPr>
                        <a:t>(Manual)​</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Mileage​</a:t>
                      </a:r>
                      <a:endParaRPr lang="en-US" b="1" i="0">
                        <a:solidFill>
                          <a:srgbClr val="FFFFFF"/>
                        </a:solidFill>
                        <a:effectLst/>
                      </a:endParaRPr>
                    </a:p>
                    <a:p>
                      <a:pPr algn="ctr" fontAlgn="base"/>
                      <a:r>
                        <a:rPr lang="en-US" sz="1200" b="1" i="0">
                          <a:solidFill>
                            <a:srgbClr val="FFFFFF"/>
                          </a:solidFill>
                          <a:effectLst/>
                          <a:latin typeface="Neue Haas Grotesk Text Pro" panose="020B0504020202020204" pitchFamily="34" charset="77"/>
                        </a:rPr>
                        <a:t>(Samsara)​</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29766" cap="flat" cmpd="sng" algn="ctr">
                      <a:solidFill>
                        <a:srgbClr val="FFFFFF"/>
                      </a:solidFill>
                      <a:prstDash val="solid"/>
                      <a:round/>
                      <a:headEnd type="none" w="med" len="med"/>
                      <a:tailEnd type="none" w="med" len="med"/>
                    </a:lnB>
                    <a:solidFill>
                      <a:srgbClr val="736EB6"/>
                    </a:solidFill>
                  </a:tcPr>
                </a:tc>
                <a:extLst>
                  <a:ext uri="{0D108BD9-81ED-4DB2-BD59-A6C34878D82A}">
                    <a16:rowId xmlns:a16="http://schemas.microsoft.com/office/drawing/2014/main" val="336985682"/>
                  </a:ext>
                </a:extLst>
              </a:tr>
              <a:tr h="632580">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1​</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000" b="0" i="0">
                          <a:solidFill>
                            <a:srgbClr val="000000"/>
                          </a:solidFill>
                          <a:effectLst/>
                          <a:latin typeface="Neue Haas Grotesk Text Pro" panose="020B0504020202020204" pitchFamily="34" charset="77"/>
                        </a:rPr>
                        <a:t>10/08/2025​</a:t>
                      </a:r>
                      <a:endParaRPr lang="en-US" sz="1000"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6:49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6:49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1:16 PM​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1:16 PM​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165​</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164​</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2976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extLst>
                  <a:ext uri="{0D108BD9-81ED-4DB2-BD59-A6C34878D82A}">
                    <a16:rowId xmlns:a16="http://schemas.microsoft.com/office/drawing/2014/main" val="2354205772"/>
                  </a:ext>
                </a:extLst>
              </a:tr>
              <a:tr h="632580">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2​</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000" b="0" i="0">
                          <a:solidFill>
                            <a:srgbClr val="000000"/>
                          </a:solidFill>
                          <a:effectLst/>
                          <a:latin typeface="Neue Haas Grotesk Text Pro" panose="020B0504020202020204" pitchFamily="34" charset="77"/>
                        </a:rPr>
                        <a:t>10/10/2025​</a:t>
                      </a:r>
                      <a:endParaRPr lang="en-US" sz="1000"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6:36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6:36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8:24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8:23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43​</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43.09​</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extLst>
                  <a:ext uri="{0D108BD9-81ED-4DB2-BD59-A6C34878D82A}">
                    <a16:rowId xmlns:a16="http://schemas.microsoft.com/office/drawing/2014/main" val="917673936"/>
                  </a:ext>
                </a:extLst>
              </a:tr>
              <a:tr h="632580">
                <a:tc>
                  <a:txBody>
                    <a:bodyPr/>
                    <a:lstStyle/>
                    <a:p>
                      <a:pPr algn="ctr" fontAlgn="auto"/>
                      <a:r>
                        <a:rPr lang="en-US" sz="1200" b="1" i="0">
                          <a:solidFill>
                            <a:srgbClr val="FFFFFF"/>
                          </a:solidFill>
                          <a:effectLst/>
                          <a:latin typeface="Neue Haas Grotesk Text Pro" panose="020B0504020202020204" pitchFamily="34" charset="77"/>
                        </a:rPr>
                        <a:t>​</a:t>
                      </a:r>
                    </a:p>
                    <a:p>
                      <a:pPr algn="ctr" fontAlgn="base"/>
                      <a:r>
                        <a:rPr lang="en-US" sz="1200" b="1" i="0">
                          <a:solidFill>
                            <a:srgbClr val="FFFFFF"/>
                          </a:solidFill>
                          <a:effectLst/>
                          <a:latin typeface="Neue Haas Grotesk Text Pro" panose="020B0504020202020204" pitchFamily="34" charset="77"/>
                        </a:rPr>
                        <a:t>3​</a:t>
                      </a:r>
                      <a:endParaRPr lang="en-US" b="1" i="0">
                        <a:solidFill>
                          <a:srgbClr val="FFFFFF"/>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736EB6"/>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000" b="0" i="0">
                          <a:solidFill>
                            <a:srgbClr val="000000"/>
                          </a:solidFill>
                          <a:effectLst/>
                          <a:latin typeface="Neue Haas Grotesk Text Pro" panose="020B0504020202020204" pitchFamily="34" charset="77"/>
                        </a:rPr>
                        <a:t>10/10/2025​</a:t>
                      </a:r>
                      <a:endParaRPr lang="en-US" sz="1000"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7:11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7:11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9:56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9:56 AM​</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137.6​</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tc>
                  <a:txBody>
                    <a:bodyPr/>
                    <a:lstStyle/>
                    <a:p>
                      <a:pPr algn="ctr" fontAlgn="auto"/>
                      <a:r>
                        <a:rPr lang="en-US" sz="1200" b="0" i="0">
                          <a:solidFill>
                            <a:srgbClr val="000000"/>
                          </a:solidFill>
                          <a:effectLst/>
                          <a:latin typeface="Neue Haas Grotesk Text Pro" panose="020B0504020202020204" pitchFamily="34" charset="77"/>
                        </a:rPr>
                        <a:t>​</a:t>
                      </a:r>
                    </a:p>
                    <a:p>
                      <a:pPr algn="ctr" fontAlgn="base"/>
                      <a:r>
                        <a:rPr lang="en-US" sz="1200" b="0" i="0">
                          <a:solidFill>
                            <a:srgbClr val="000000"/>
                          </a:solidFill>
                          <a:effectLst/>
                          <a:latin typeface="Neue Haas Grotesk Text Pro" panose="020B0504020202020204" pitchFamily="34" charset="77"/>
                        </a:rPr>
                        <a:t>132​</a:t>
                      </a:r>
                      <a:endParaRPr lang="en-US" b="0" i="0">
                        <a:solidFill>
                          <a:srgbClr val="000000"/>
                        </a:solidFill>
                        <a:effectLst/>
                      </a:endParaRPr>
                    </a:p>
                  </a:txBody>
                  <a:tcPr>
                    <a:lnL w="9916" cap="flat" cmpd="sng" algn="ctr">
                      <a:solidFill>
                        <a:srgbClr val="FFFFFF"/>
                      </a:solidFill>
                      <a:prstDash val="solid"/>
                      <a:round/>
                      <a:headEnd type="none" w="med" len="med"/>
                      <a:tailEnd type="none" w="med" len="med"/>
                    </a:lnL>
                    <a:lnR w="9916" cap="flat" cmpd="sng" algn="ctr">
                      <a:solidFill>
                        <a:srgbClr val="FFFFFF"/>
                      </a:solidFill>
                      <a:prstDash val="solid"/>
                      <a:round/>
                      <a:headEnd type="none" w="med" len="med"/>
                      <a:tailEnd type="none" w="med" len="med"/>
                    </a:lnR>
                    <a:lnT w="9916" cap="flat" cmpd="sng" algn="ctr">
                      <a:solidFill>
                        <a:srgbClr val="FFFFFF"/>
                      </a:solidFill>
                      <a:prstDash val="solid"/>
                      <a:round/>
                      <a:headEnd type="none" w="med" len="med"/>
                      <a:tailEnd type="none" w="med" len="med"/>
                    </a:lnT>
                    <a:lnB w="9916" cap="flat" cmpd="sng" algn="ctr">
                      <a:solidFill>
                        <a:srgbClr val="FFFFFF"/>
                      </a:solidFill>
                      <a:prstDash val="solid"/>
                      <a:round/>
                      <a:headEnd type="none" w="med" len="med"/>
                      <a:tailEnd type="none" w="med" len="med"/>
                    </a:lnB>
                    <a:solidFill>
                      <a:srgbClr val="EBEBF3"/>
                    </a:solidFill>
                  </a:tcPr>
                </a:tc>
                <a:extLst>
                  <a:ext uri="{0D108BD9-81ED-4DB2-BD59-A6C34878D82A}">
                    <a16:rowId xmlns:a16="http://schemas.microsoft.com/office/drawing/2014/main" val="2157785967"/>
                  </a:ext>
                </a:extLst>
              </a:tr>
            </a:tbl>
          </a:graphicData>
        </a:graphic>
      </p:graphicFrame>
      <p:sp>
        <p:nvSpPr>
          <p:cNvPr id="7" name="Rectangle 1">
            <a:extLst>
              <a:ext uri="{FF2B5EF4-FFF2-40B4-BE49-F238E27FC236}">
                <a16:creationId xmlns:a16="http://schemas.microsoft.com/office/drawing/2014/main" id="{A7530369-AF02-024D-7B8C-7176004ACFC0}"/>
              </a:ext>
            </a:extLst>
          </p:cNvPr>
          <p:cNvSpPr>
            <a:spLocks noChangeArrowheads="1"/>
          </p:cNvSpPr>
          <p:nvPr/>
        </p:nvSpPr>
        <p:spPr bwMode="auto">
          <a:xfrm>
            <a:off x="1116013" y="27543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Content Placeholder 4">
            <a:extLst>
              <a:ext uri="{FF2B5EF4-FFF2-40B4-BE49-F238E27FC236}">
                <a16:creationId xmlns:a16="http://schemas.microsoft.com/office/drawing/2014/main" id="{BE402FDE-5A33-FF44-C4F1-CFF8DEE4F656}"/>
              </a:ext>
            </a:extLst>
          </p:cNvPr>
          <p:cNvGraphicFramePr>
            <a:graphicFrameLocks/>
          </p:cNvGraphicFramePr>
          <p:nvPr>
            <p:extLst>
              <p:ext uri="{D42A27DB-BD31-4B8C-83A1-F6EECF244321}">
                <p14:modId xmlns:p14="http://schemas.microsoft.com/office/powerpoint/2010/main" val="250688444"/>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9396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13F7-0C74-F899-8514-89BD17D0A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8C52D-530D-510E-11A6-6FACF2E4C9F6}"/>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Data Analysis</a:t>
            </a:r>
          </a:p>
        </p:txBody>
      </p:sp>
      <p:sp>
        <p:nvSpPr>
          <p:cNvPr id="13" name="Slide Number Placeholder 12">
            <a:extLst>
              <a:ext uri="{FF2B5EF4-FFF2-40B4-BE49-F238E27FC236}">
                <a16:creationId xmlns:a16="http://schemas.microsoft.com/office/drawing/2014/main" id="{72ACBBEC-0AF5-B76C-069B-7F205F043335}"/>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5</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8A48D861-65B4-EB72-1E7B-B70DDC021DA9}"/>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MP</a:t>
            </a:r>
          </a:p>
        </p:txBody>
      </p:sp>
      <p:pic>
        <p:nvPicPr>
          <p:cNvPr id="7" name="Picture 6" descr="The table lists various factors related to truck efficiency, such as delay frequency and improvement suggestions, for different trucks, with ratings and numerical codes.&#10;&#10;AI-generated content may be incorrect.">
            <a:extLst>
              <a:ext uri="{FF2B5EF4-FFF2-40B4-BE49-F238E27FC236}">
                <a16:creationId xmlns:a16="http://schemas.microsoft.com/office/drawing/2014/main" id="{EFB27E2B-CA3F-8951-D6FC-E80AC6E38408}"/>
              </a:ext>
            </a:extLst>
          </p:cNvPr>
          <p:cNvPicPr>
            <a:picLocks noChangeAspect="1"/>
          </p:cNvPicPr>
          <p:nvPr/>
        </p:nvPicPr>
        <p:blipFill>
          <a:blip r:embed="rId3"/>
          <a:stretch>
            <a:fillRect/>
          </a:stretch>
        </p:blipFill>
        <p:spPr>
          <a:xfrm>
            <a:off x="5440283" y="2521297"/>
            <a:ext cx="6483202" cy="2873237"/>
          </a:xfrm>
          <a:prstGeom prst="rect">
            <a:avLst/>
          </a:prstGeom>
        </p:spPr>
      </p:pic>
      <p:sp>
        <p:nvSpPr>
          <p:cNvPr id="6" name="TextBox 5">
            <a:extLst>
              <a:ext uri="{FF2B5EF4-FFF2-40B4-BE49-F238E27FC236}">
                <a16:creationId xmlns:a16="http://schemas.microsoft.com/office/drawing/2014/main" id="{58F7C473-4C57-0ECC-0739-5705D9E6255A}"/>
              </a:ext>
            </a:extLst>
          </p:cNvPr>
          <p:cNvSpPr txBox="1"/>
          <p:nvPr/>
        </p:nvSpPr>
        <p:spPr>
          <a:xfrm>
            <a:off x="1181100" y="1696213"/>
            <a:ext cx="3931227" cy="1423595"/>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Agency Data Analysis</a:t>
            </a:r>
          </a:p>
          <a:p>
            <a:pPr marL="742950" indent="-285750">
              <a:lnSpc>
                <a:spcPct val="150000"/>
              </a:lnSpc>
              <a:buFont typeface="Arial" panose="020B0604020202020204" pitchFamily="34" charset="0"/>
              <a:buChar char="•"/>
            </a:pPr>
            <a:endParaRPr lang="en-US" sz="2000">
              <a:latin typeface="Neue Haas Grotesk Text Pro"/>
            </a:endParaRPr>
          </a:p>
          <a:p>
            <a:pPr marL="742950" indent="-285750">
              <a:lnSpc>
                <a:spcPct val="150000"/>
              </a:lnSpc>
              <a:buFont typeface="Arial" panose="020B0604020202020204" pitchFamily="34" charset="0"/>
              <a:buChar char="•"/>
            </a:pPr>
            <a:endParaRPr lang="en-US" sz="2000">
              <a:latin typeface="Neue Haas Grotesk Text Pro"/>
            </a:endParaRPr>
          </a:p>
        </p:txBody>
      </p:sp>
      <p:graphicFrame>
        <p:nvGraphicFramePr>
          <p:cNvPr id="8" name="Content Placeholder 4">
            <a:extLst>
              <a:ext uri="{FF2B5EF4-FFF2-40B4-BE49-F238E27FC236}">
                <a16:creationId xmlns:a16="http://schemas.microsoft.com/office/drawing/2014/main" id="{2272714E-3725-1DAF-58D6-168EC8A26391}"/>
              </a:ext>
            </a:extLst>
          </p:cNvPr>
          <p:cNvGraphicFramePr>
            <a:graphicFrameLocks/>
          </p:cNvGraphicFramePr>
          <p:nvPr>
            <p:extLst>
              <p:ext uri="{D42A27DB-BD31-4B8C-83A1-F6EECF244321}">
                <p14:modId xmlns:p14="http://schemas.microsoft.com/office/powerpoint/2010/main" val="3885675814"/>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a:extLst>
              <a:ext uri="{FF2B5EF4-FFF2-40B4-BE49-F238E27FC236}">
                <a16:creationId xmlns:a16="http://schemas.microsoft.com/office/drawing/2014/main" id="{3E4E59C7-5AFD-7E78-CD5D-836563F97F59}"/>
              </a:ext>
            </a:extLst>
          </p:cNvPr>
          <p:cNvSpPr txBox="1"/>
          <p:nvPr/>
        </p:nvSpPr>
        <p:spPr>
          <a:xfrm>
            <a:off x="5389163" y="1706304"/>
            <a:ext cx="6483202" cy="1423595"/>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Driver Survey Results</a:t>
            </a:r>
          </a:p>
          <a:p>
            <a:pPr marL="742950" indent="-285750">
              <a:lnSpc>
                <a:spcPct val="150000"/>
              </a:lnSpc>
              <a:buFont typeface="Arial" panose="020B0604020202020204" pitchFamily="34" charset="0"/>
              <a:buChar char="•"/>
            </a:pPr>
            <a:endParaRPr lang="en-US" sz="2000">
              <a:latin typeface="Neue Haas Grotesk Text Pro"/>
            </a:endParaRPr>
          </a:p>
          <a:p>
            <a:pPr marL="742950" indent="-285750">
              <a:lnSpc>
                <a:spcPct val="150000"/>
              </a:lnSpc>
              <a:buFont typeface="Arial" panose="020B0604020202020204" pitchFamily="34" charset="0"/>
              <a:buChar char="•"/>
            </a:pPr>
            <a:endParaRPr lang="en-US" sz="2000">
              <a:latin typeface="Neue Haas Grotesk Text Pro"/>
            </a:endParaRPr>
          </a:p>
        </p:txBody>
      </p:sp>
      <p:pic>
        <p:nvPicPr>
          <p:cNvPr id="10" name="Picture 9">
            <a:extLst>
              <a:ext uri="{FF2B5EF4-FFF2-40B4-BE49-F238E27FC236}">
                <a16:creationId xmlns:a16="http://schemas.microsoft.com/office/drawing/2014/main" id="{04F8AD4F-C802-71E5-0692-CABF7026DD60}"/>
              </a:ext>
            </a:extLst>
          </p:cNvPr>
          <p:cNvPicPr>
            <a:picLocks noChangeAspect="1"/>
          </p:cNvPicPr>
          <p:nvPr/>
        </p:nvPicPr>
        <p:blipFill>
          <a:blip r:embed="rId9"/>
          <a:stretch>
            <a:fillRect/>
          </a:stretch>
        </p:blipFill>
        <p:spPr>
          <a:xfrm>
            <a:off x="896000" y="2589842"/>
            <a:ext cx="4216327" cy="2538878"/>
          </a:xfrm>
          <a:prstGeom prst="rect">
            <a:avLst/>
          </a:prstGeom>
        </p:spPr>
      </p:pic>
    </p:spTree>
    <p:extLst>
      <p:ext uri="{BB962C8B-B14F-4D97-AF65-F5344CB8AC3E}">
        <p14:creationId xmlns:p14="http://schemas.microsoft.com/office/powerpoint/2010/main" val="1916741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354BE-76AF-BA58-DDD2-B168FC09D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852C5-2C77-24AF-FE6A-C2C71440AF26}"/>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Recommendations</a:t>
            </a:r>
          </a:p>
        </p:txBody>
      </p:sp>
      <p:sp>
        <p:nvSpPr>
          <p:cNvPr id="13" name="Slide Number Placeholder 12">
            <a:extLst>
              <a:ext uri="{FF2B5EF4-FFF2-40B4-BE49-F238E27FC236}">
                <a16:creationId xmlns:a16="http://schemas.microsoft.com/office/drawing/2014/main" id="{62A8757E-AC47-EA45-6B19-26B8D46D2643}"/>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6</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3E5DF719-26CD-AD8D-BCBC-6E89A2B94420}"/>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AS</a:t>
            </a:r>
          </a:p>
        </p:txBody>
      </p:sp>
      <p:sp>
        <p:nvSpPr>
          <p:cNvPr id="5" name="TextBox 4">
            <a:extLst>
              <a:ext uri="{FF2B5EF4-FFF2-40B4-BE49-F238E27FC236}">
                <a16:creationId xmlns:a16="http://schemas.microsoft.com/office/drawing/2014/main" id="{65A3E939-71A8-E877-1873-E40C024A6C5C}"/>
              </a:ext>
            </a:extLst>
          </p:cNvPr>
          <p:cNvSpPr txBox="1"/>
          <p:nvPr/>
        </p:nvSpPr>
        <p:spPr>
          <a:xfrm>
            <a:off x="1181100" y="1804287"/>
            <a:ext cx="4243307" cy="4378250"/>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To optimize scheduling strategy:</a:t>
            </a:r>
            <a:endParaRPr lang="en-US">
              <a:latin typeface="Neue Haas Grotesk Text Pro"/>
            </a:endParaRPr>
          </a:p>
          <a:p>
            <a:pPr marL="1200150" lvl="2" indent="-285750">
              <a:lnSpc>
                <a:spcPct val="150000"/>
              </a:lnSpc>
              <a:buFont typeface="Arial" panose="020B0604020202020204" pitchFamily="34" charset="0"/>
              <a:buChar char="•"/>
            </a:pPr>
            <a:r>
              <a:rPr lang="en-US" err="1">
                <a:latin typeface="Neue Haas Grotesk Text Pro"/>
              </a:rPr>
              <a:t>MyMaps</a:t>
            </a:r>
            <a:r>
              <a:rPr lang="en-US">
                <a:latin typeface="Neue Haas Grotesk Text Pro"/>
              </a:rPr>
              <a:t> Visual Clustering</a:t>
            </a:r>
          </a:p>
          <a:p>
            <a:pPr marL="1200150" lvl="2" indent="-285750">
              <a:lnSpc>
                <a:spcPct val="150000"/>
              </a:lnSpc>
              <a:buFont typeface="Arial" panose="020B0604020202020204" pitchFamily="34" charset="0"/>
              <a:buChar char="•"/>
            </a:pPr>
            <a:r>
              <a:rPr lang="en-US">
                <a:latin typeface="Neue Haas Grotesk Text Pro"/>
              </a:rPr>
              <a:t>EDL</a:t>
            </a:r>
          </a:p>
          <a:p>
            <a:pPr marL="1200150" lvl="2" indent="-285750">
              <a:lnSpc>
                <a:spcPct val="150000"/>
              </a:lnSpc>
              <a:buFont typeface="Arial" panose="020B0604020202020204" pitchFamily="34" charset="0"/>
              <a:buChar char="•"/>
            </a:pPr>
            <a:r>
              <a:rPr lang="en-US">
                <a:latin typeface="Neue Haas Grotesk Text Pro"/>
              </a:rPr>
              <a:t>Agency Pivot Tool</a:t>
            </a:r>
          </a:p>
          <a:p>
            <a:pPr marL="1200150" lvl="2" indent="-285750">
              <a:lnSpc>
                <a:spcPct val="150000"/>
              </a:lnSpc>
              <a:buFont typeface="Arial" panose="020B0604020202020204" pitchFamily="34" charset="0"/>
              <a:buChar char="•"/>
            </a:pPr>
            <a:r>
              <a:rPr lang="en-US">
                <a:latin typeface="Neue Haas Grotesk Text Pro"/>
              </a:rPr>
              <a:t>Google Form for Agency Information</a:t>
            </a:r>
          </a:p>
          <a:p>
            <a:pPr marL="1200150" lvl="2" indent="-285750">
              <a:lnSpc>
                <a:spcPct val="150000"/>
              </a:lnSpc>
              <a:buFont typeface="Arial" panose="020B0604020202020204" pitchFamily="34" charset="0"/>
              <a:buChar char="•"/>
            </a:pPr>
            <a:r>
              <a:rPr lang="en-US">
                <a:latin typeface="Neue Haas Grotesk Text Pro"/>
              </a:rPr>
              <a:t>Power BI Dashboard</a:t>
            </a:r>
          </a:p>
          <a:p>
            <a:pPr marL="1257300" lvl="2" indent="-342900">
              <a:lnSpc>
                <a:spcPct val="150000"/>
              </a:lnSpc>
              <a:buFont typeface="Wingdings" panose="020B0604020202020204" pitchFamily="34" charset="0"/>
              <a:buChar char="§"/>
            </a:pPr>
            <a:endParaRPr lang="en-US" sz="2000">
              <a:latin typeface="Neue Haas Grotesk Text Pro"/>
            </a:endParaRPr>
          </a:p>
          <a:p>
            <a:pPr marL="1257300" lvl="2" indent="-342900">
              <a:lnSpc>
                <a:spcPct val="150000"/>
              </a:lnSpc>
              <a:buFont typeface="Wingdings" panose="020B0604020202020204" pitchFamily="34" charset="0"/>
              <a:buChar char="§"/>
            </a:pPr>
            <a:endParaRPr lang="en-US" sz="2000">
              <a:latin typeface="Neue Haas Grotesk Text Pro"/>
            </a:endParaRPr>
          </a:p>
          <a:p>
            <a:pPr marL="1257300" lvl="2" indent="-342900">
              <a:lnSpc>
                <a:spcPct val="150000"/>
              </a:lnSpc>
              <a:buFont typeface="Wingdings" panose="020B0604020202020204" pitchFamily="34" charset="0"/>
              <a:buChar char="§"/>
            </a:pPr>
            <a:endParaRPr lang="en-US" sz="2000">
              <a:latin typeface="Neue Haas Grotesk Text Pro"/>
            </a:endParaRPr>
          </a:p>
        </p:txBody>
      </p:sp>
      <p:graphicFrame>
        <p:nvGraphicFramePr>
          <p:cNvPr id="6" name="Content Placeholder 4">
            <a:extLst>
              <a:ext uri="{FF2B5EF4-FFF2-40B4-BE49-F238E27FC236}">
                <a16:creationId xmlns:a16="http://schemas.microsoft.com/office/drawing/2014/main" id="{1AE82E9F-F130-81D1-C2E7-C2B78E76C1DE}"/>
              </a:ext>
            </a:extLst>
          </p:cNvPr>
          <p:cNvGraphicFramePr>
            <a:graphicFrameLocks/>
          </p:cNvGraphicFramePr>
          <p:nvPr>
            <p:extLst>
              <p:ext uri="{D42A27DB-BD31-4B8C-83A1-F6EECF244321}">
                <p14:modId xmlns:p14="http://schemas.microsoft.com/office/powerpoint/2010/main" val="238647545"/>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A chart with text and numbers&#10;&#10;Description automatically generated with medium confidence">
            <a:extLst>
              <a:ext uri="{FF2B5EF4-FFF2-40B4-BE49-F238E27FC236}">
                <a16:creationId xmlns:a16="http://schemas.microsoft.com/office/drawing/2014/main" id="{2FC03381-D25B-6FAF-4F3B-E0744473CE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73200" y="1245794"/>
            <a:ext cx="4381989" cy="3847934"/>
          </a:xfrm>
          <a:prstGeom prst="rect">
            <a:avLst/>
          </a:prstGeom>
        </p:spPr>
      </p:pic>
    </p:spTree>
    <p:extLst>
      <p:ext uri="{BB962C8B-B14F-4D97-AF65-F5344CB8AC3E}">
        <p14:creationId xmlns:p14="http://schemas.microsoft.com/office/powerpoint/2010/main" val="37974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2977-639A-3CC2-02ED-1911846F57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165DA-7835-02D3-720D-297D120F95E4}"/>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93BCBB4E-3CBA-537B-80E6-8ADEBE7846DB}"/>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7</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8B6B8038-655E-50B4-AD19-86840C2ACAE9}"/>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SD</a:t>
            </a:r>
          </a:p>
        </p:txBody>
      </p:sp>
      <p:sp>
        <p:nvSpPr>
          <p:cNvPr id="5" name="TextBox 4">
            <a:extLst>
              <a:ext uri="{FF2B5EF4-FFF2-40B4-BE49-F238E27FC236}">
                <a16:creationId xmlns:a16="http://schemas.microsoft.com/office/drawing/2014/main" id="{F751404E-489F-8F41-9EC0-BD4E695A410C}"/>
              </a:ext>
            </a:extLst>
          </p:cNvPr>
          <p:cNvSpPr txBox="1"/>
          <p:nvPr/>
        </p:nvSpPr>
        <p:spPr>
          <a:xfrm>
            <a:off x="1181100" y="1804287"/>
            <a:ext cx="2500423" cy="1792927"/>
          </a:xfrm>
          <a:prstGeom prst="rect">
            <a:avLst/>
          </a:prstGeom>
          <a:noFill/>
        </p:spPr>
        <p:txBody>
          <a:bodyPr wrap="square" lIns="91440" tIns="45720" rIns="91440" bIns="45720" rtlCol="0" anchor="t">
            <a:spAutoFit/>
          </a:bodyPr>
          <a:lstStyle/>
          <a:p>
            <a:pPr>
              <a:lnSpc>
                <a:spcPct val="150000"/>
              </a:lnSpc>
            </a:pPr>
            <a:r>
              <a:rPr lang="en-US" sz="2000" b="1" err="1">
                <a:latin typeface="Neue Haas Grotesk Text Pro"/>
              </a:rPr>
              <a:t>MyMaps</a:t>
            </a:r>
            <a:r>
              <a:rPr lang="en-US" sz="2000" b="1">
                <a:latin typeface="Neue Haas Grotesk Text Pro"/>
              </a:rPr>
              <a:t> Original</a:t>
            </a:r>
          </a:p>
          <a:p>
            <a:pPr marL="342900" indent="-342900">
              <a:lnSpc>
                <a:spcPct val="150000"/>
              </a:lnSpc>
              <a:buFont typeface="Arial" panose="020B0604020202020204" pitchFamily="34" charset="0"/>
              <a:buChar char="•"/>
            </a:pPr>
            <a:r>
              <a:rPr lang="en-US">
                <a:latin typeface="Neue Haas Grotesk Text Pro"/>
              </a:rPr>
              <a:t>Map of every week, each month</a:t>
            </a:r>
          </a:p>
          <a:p>
            <a:pPr marL="800100" lvl="1" indent="-342900">
              <a:lnSpc>
                <a:spcPct val="150000"/>
              </a:lnSpc>
              <a:buFont typeface="Arial" panose="020B0604020202020204" pitchFamily="34" charset="0"/>
              <a:buChar char="•"/>
            </a:pPr>
            <a:endParaRPr lang="en-US" sz="2000">
              <a:latin typeface="Neue Haas Grotesk Text Pro"/>
            </a:endParaRPr>
          </a:p>
        </p:txBody>
      </p:sp>
      <p:pic>
        <p:nvPicPr>
          <p:cNvPr id="11" name="Picture 10" descr="A map with colorful pins&#10;&#10;Description automatically generated">
            <a:extLst>
              <a:ext uri="{FF2B5EF4-FFF2-40B4-BE49-F238E27FC236}">
                <a16:creationId xmlns:a16="http://schemas.microsoft.com/office/drawing/2014/main" id="{793D82CF-1EA7-1CD4-DC3F-8593F3902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67832" y="1587860"/>
            <a:ext cx="3642109" cy="4021855"/>
          </a:xfrm>
          <a:prstGeom prst="rect">
            <a:avLst/>
          </a:prstGeom>
        </p:spPr>
      </p:pic>
      <p:pic>
        <p:nvPicPr>
          <p:cNvPr id="14" name="Picture 13" descr="A map with colorful pins&#10;&#10;Description automatically generated">
            <a:extLst>
              <a:ext uri="{FF2B5EF4-FFF2-40B4-BE49-F238E27FC236}">
                <a16:creationId xmlns:a16="http://schemas.microsoft.com/office/drawing/2014/main" id="{558C0874-4EE7-3214-1F20-72DC0DC461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01164" y="1635320"/>
            <a:ext cx="3590202" cy="3947479"/>
          </a:xfrm>
          <a:prstGeom prst="rect">
            <a:avLst/>
          </a:prstGeom>
        </p:spPr>
      </p:pic>
      <p:sp>
        <p:nvSpPr>
          <p:cNvPr id="15" name="Oval 14">
            <a:extLst>
              <a:ext uri="{FF2B5EF4-FFF2-40B4-BE49-F238E27FC236}">
                <a16:creationId xmlns:a16="http://schemas.microsoft.com/office/drawing/2014/main" id="{C471AB0A-F55C-9E86-E5F0-4C521BA628B1}"/>
              </a:ext>
            </a:extLst>
          </p:cNvPr>
          <p:cNvSpPr/>
          <p:nvPr/>
        </p:nvSpPr>
        <p:spPr>
          <a:xfrm>
            <a:off x="4955467" y="5013795"/>
            <a:ext cx="1076702" cy="58407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BDED4F0-6DC8-DEDA-1EA1-C604FB3E722C}"/>
              </a:ext>
            </a:extLst>
          </p:cNvPr>
          <p:cNvSpPr/>
          <p:nvPr/>
        </p:nvSpPr>
        <p:spPr>
          <a:xfrm rot="6439615">
            <a:off x="4608526" y="3986514"/>
            <a:ext cx="927856" cy="70357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585E349E-4ECD-DBB5-4839-9D534C5CA001}"/>
              </a:ext>
            </a:extLst>
          </p:cNvPr>
          <p:cNvCxnSpPr>
            <a:cxnSpLocks/>
          </p:cNvCxnSpPr>
          <p:nvPr/>
        </p:nvCxnSpPr>
        <p:spPr>
          <a:xfrm>
            <a:off x="7515328" y="3776724"/>
            <a:ext cx="52810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descr="A screenshot of a phone&#10;&#10;Description automatically generated">
            <a:extLst>
              <a:ext uri="{FF2B5EF4-FFF2-40B4-BE49-F238E27FC236}">
                <a16:creationId xmlns:a16="http://schemas.microsoft.com/office/drawing/2014/main" id="{30C6D80D-C491-5320-B526-E73354AB78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3259" y="3394267"/>
            <a:ext cx="1698962" cy="1923131"/>
          </a:xfrm>
          <a:prstGeom prst="rect">
            <a:avLst/>
          </a:prstGeom>
          <a:ln w="12700">
            <a:solidFill>
              <a:schemeClr val="accent1"/>
            </a:solidFill>
          </a:ln>
        </p:spPr>
      </p:pic>
      <p:graphicFrame>
        <p:nvGraphicFramePr>
          <p:cNvPr id="24" name="Content Placeholder 4">
            <a:extLst>
              <a:ext uri="{FF2B5EF4-FFF2-40B4-BE49-F238E27FC236}">
                <a16:creationId xmlns:a16="http://schemas.microsoft.com/office/drawing/2014/main" id="{63E22851-1535-EC84-7FEB-81AC26531A2D}"/>
              </a:ext>
            </a:extLst>
          </p:cNvPr>
          <p:cNvGraphicFramePr>
            <a:graphicFrameLocks/>
          </p:cNvGraphicFramePr>
          <p:nvPr>
            <p:extLst>
              <p:ext uri="{D42A27DB-BD31-4B8C-83A1-F6EECF244321}">
                <p14:modId xmlns:p14="http://schemas.microsoft.com/office/powerpoint/2010/main" val="1518914764"/>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Oval 3">
            <a:extLst>
              <a:ext uri="{FF2B5EF4-FFF2-40B4-BE49-F238E27FC236}">
                <a16:creationId xmlns:a16="http://schemas.microsoft.com/office/drawing/2014/main" id="{4992CCA3-0F19-6CE8-56CF-4E38F7157321}"/>
              </a:ext>
            </a:extLst>
          </p:cNvPr>
          <p:cNvSpPr/>
          <p:nvPr/>
        </p:nvSpPr>
        <p:spPr>
          <a:xfrm rot="20200452">
            <a:off x="6050366" y="2334229"/>
            <a:ext cx="1225360" cy="477617"/>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206036E-0AB0-B62A-6DAF-4F4295B2E671}"/>
              </a:ext>
            </a:extLst>
          </p:cNvPr>
          <p:cNvSpPr/>
          <p:nvPr/>
        </p:nvSpPr>
        <p:spPr>
          <a:xfrm rot="6439615">
            <a:off x="8307490" y="2104010"/>
            <a:ext cx="927856" cy="70357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FDA9990-677E-72D9-8F83-35AAD9955B7E}"/>
              </a:ext>
            </a:extLst>
          </p:cNvPr>
          <p:cNvSpPr/>
          <p:nvPr/>
        </p:nvSpPr>
        <p:spPr>
          <a:xfrm rot="6439615">
            <a:off x="4149931" y="2132026"/>
            <a:ext cx="945338" cy="647548"/>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00B23B9-16E0-5479-05A7-FC7179111475}"/>
              </a:ext>
            </a:extLst>
          </p:cNvPr>
          <p:cNvSpPr/>
          <p:nvPr/>
        </p:nvSpPr>
        <p:spPr>
          <a:xfrm rot="6439615">
            <a:off x="8713575" y="4109142"/>
            <a:ext cx="1063677" cy="59988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EC5C3D8-620D-02CA-329B-D610FAE79740}"/>
              </a:ext>
            </a:extLst>
          </p:cNvPr>
          <p:cNvSpPr/>
          <p:nvPr/>
        </p:nvSpPr>
        <p:spPr>
          <a:xfrm rot="9158049">
            <a:off x="10211317" y="2324540"/>
            <a:ext cx="1173356" cy="52981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33A7428-8B26-3217-BD1C-93D674190510}"/>
              </a:ext>
            </a:extLst>
          </p:cNvPr>
          <p:cNvSpPr/>
          <p:nvPr/>
        </p:nvSpPr>
        <p:spPr>
          <a:xfrm>
            <a:off x="9132632" y="5075769"/>
            <a:ext cx="1106521" cy="53394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1822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722D-1309-1C3B-D756-180353DFB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353B1-69A5-FEB8-7159-762C97C28BC1}"/>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58539DC5-63BB-C50F-BB65-851DDD209FB9}"/>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8</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A200DC0E-2A36-1B96-331A-1D231490FFCD}"/>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SD</a:t>
            </a:r>
          </a:p>
        </p:txBody>
      </p:sp>
      <p:sp>
        <p:nvSpPr>
          <p:cNvPr id="5" name="TextBox 4">
            <a:extLst>
              <a:ext uri="{FF2B5EF4-FFF2-40B4-BE49-F238E27FC236}">
                <a16:creationId xmlns:a16="http://schemas.microsoft.com/office/drawing/2014/main" id="{39F246B8-9B4A-0B64-D1F4-CF7249880120}"/>
              </a:ext>
            </a:extLst>
          </p:cNvPr>
          <p:cNvSpPr txBox="1"/>
          <p:nvPr/>
        </p:nvSpPr>
        <p:spPr>
          <a:xfrm>
            <a:off x="1181100" y="1804287"/>
            <a:ext cx="2762974" cy="3270254"/>
          </a:xfrm>
          <a:prstGeom prst="rect">
            <a:avLst/>
          </a:prstGeom>
          <a:noFill/>
        </p:spPr>
        <p:txBody>
          <a:bodyPr wrap="square" lIns="91440" tIns="45720" rIns="91440" bIns="45720" rtlCol="0" anchor="t">
            <a:spAutoFit/>
          </a:bodyPr>
          <a:lstStyle/>
          <a:p>
            <a:pPr>
              <a:lnSpc>
                <a:spcPct val="150000"/>
              </a:lnSpc>
            </a:pPr>
            <a:r>
              <a:rPr lang="en-US" sz="2000" b="1" err="1">
                <a:latin typeface="Neue Haas Grotesk Text Pro"/>
              </a:rPr>
              <a:t>MyMaps</a:t>
            </a:r>
            <a:r>
              <a:rPr lang="en-US" sz="2000" b="1">
                <a:latin typeface="Neue Haas Grotesk Text Pro"/>
              </a:rPr>
              <a:t> Zones</a:t>
            </a:r>
          </a:p>
          <a:p>
            <a:pPr marL="342900" indent="-342900">
              <a:lnSpc>
                <a:spcPct val="150000"/>
              </a:lnSpc>
              <a:buFont typeface="Arial" panose="020B0604020202020204" pitchFamily="34" charset="0"/>
              <a:buChar char="•"/>
            </a:pPr>
            <a:r>
              <a:rPr lang="en-US" sz="2000">
                <a:latin typeface="Neue Haas Grotesk Text Pro"/>
              </a:rPr>
              <a:t>k-means clustering</a:t>
            </a:r>
          </a:p>
          <a:p>
            <a:pPr marL="342900" indent="-342900">
              <a:lnSpc>
                <a:spcPct val="150000"/>
              </a:lnSpc>
              <a:buFont typeface="Arial" panose="020B0604020202020204" pitchFamily="34" charset="0"/>
              <a:buChar char="•"/>
            </a:pPr>
            <a:r>
              <a:rPr lang="en-US" sz="2000">
                <a:latin typeface="Neue Haas Grotesk Text Pro"/>
              </a:rPr>
              <a:t>7 zones</a:t>
            </a:r>
          </a:p>
          <a:p>
            <a:pPr marL="342900" indent="-342900">
              <a:lnSpc>
                <a:spcPct val="150000"/>
              </a:lnSpc>
              <a:buFont typeface="Arial" panose="020B0604020202020204" pitchFamily="34" charset="0"/>
              <a:buChar char="•"/>
            </a:pPr>
            <a:r>
              <a:rPr lang="en-US" sz="2000">
                <a:latin typeface="Neue Haas Grotesk Text Pro"/>
              </a:rPr>
              <a:t>Individual zone sheets</a:t>
            </a:r>
          </a:p>
          <a:p>
            <a:pPr marL="342900" indent="-342900">
              <a:lnSpc>
                <a:spcPct val="150000"/>
              </a:lnSpc>
              <a:buFont typeface="Arial" panose="020B0604020202020204" pitchFamily="34" charset="0"/>
              <a:buChar char="•"/>
            </a:pPr>
            <a:endParaRPr lang="en-US" sz="2000">
              <a:latin typeface="Neue Haas Grotesk Text Pro"/>
            </a:endParaRPr>
          </a:p>
          <a:p>
            <a:pPr marL="800100" lvl="1" indent="-342900">
              <a:lnSpc>
                <a:spcPct val="150000"/>
              </a:lnSpc>
              <a:buFont typeface="Arial" panose="020B0604020202020204" pitchFamily="34" charset="0"/>
              <a:buChar char="•"/>
            </a:pPr>
            <a:endParaRPr lang="en-US" sz="2000">
              <a:latin typeface="Neue Haas Grotesk Text Pro"/>
            </a:endParaRPr>
          </a:p>
        </p:txBody>
      </p:sp>
      <p:pic>
        <p:nvPicPr>
          <p:cNvPr id="7" name="Picture 6" descr="A map with many points&#10;&#10;Description automatically generated">
            <a:extLst>
              <a:ext uri="{FF2B5EF4-FFF2-40B4-BE49-F238E27FC236}">
                <a16:creationId xmlns:a16="http://schemas.microsoft.com/office/drawing/2014/main" id="{ACDF17AE-6120-6B0E-1F45-43A1655D6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3215" y="1104275"/>
            <a:ext cx="4484557" cy="4340474"/>
          </a:xfrm>
          <a:prstGeom prst="rect">
            <a:avLst/>
          </a:prstGeom>
        </p:spPr>
      </p:pic>
      <p:pic>
        <p:nvPicPr>
          <p:cNvPr id="9" name="Picture 8" descr="A map with a location pin&#10;&#10;Description automatically generated">
            <a:extLst>
              <a:ext uri="{FF2B5EF4-FFF2-40B4-BE49-F238E27FC236}">
                <a16:creationId xmlns:a16="http://schemas.microsoft.com/office/drawing/2014/main" id="{DEAFC663-AAC1-75C1-F74D-8E85AF71D7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2804" y="2233516"/>
            <a:ext cx="2857500" cy="3200400"/>
          </a:xfrm>
          <a:prstGeom prst="rect">
            <a:avLst/>
          </a:prstGeom>
        </p:spPr>
      </p:pic>
      <p:pic>
        <p:nvPicPr>
          <p:cNvPr id="11" name="Picture 10" descr="A screenshot of a calendar&#10;&#10;Description automatically generated">
            <a:extLst>
              <a:ext uri="{FF2B5EF4-FFF2-40B4-BE49-F238E27FC236}">
                <a16:creationId xmlns:a16="http://schemas.microsoft.com/office/drawing/2014/main" id="{77E53493-C0EE-8BBE-4216-021328F3FD09}"/>
              </a:ext>
            </a:extLst>
          </p:cNvPr>
          <p:cNvPicPr>
            <a:picLocks noChangeAspect="1"/>
          </p:cNvPicPr>
          <p:nvPr/>
        </p:nvPicPr>
        <p:blipFill>
          <a:blip r:embed="rId5">
            <a:extLst>
              <a:ext uri="{28A0092B-C50C-407E-A947-70E740481C1C}">
                <a14:useLocalDpi xmlns:a14="http://schemas.microsoft.com/office/drawing/2010/main" val="0"/>
              </a:ext>
            </a:extLst>
          </a:blip>
          <a:srcRect t="3730" r="8010"/>
          <a:stretch/>
        </p:blipFill>
        <p:spPr>
          <a:xfrm>
            <a:off x="4249946" y="2844378"/>
            <a:ext cx="1133215" cy="1406019"/>
          </a:xfrm>
          <a:prstGeom prst="rect">
            <a:avLst/>
          </a:prstGeom>
        </p:spPr>
      </p:pic>
      <p:pic>
        <p:nvPicPr>
          <p:cNvPr id="14" name="Picture 13" descr="A group of colorful pointers&#10;&#10;Description automatically generated">
            <a:extLst>
              <a:ext uri="{FF2B5EF4-FFF2-40B4-BE49-F238E27FC236}">
                <a16:creationId xmlns:a16="http://schemas.microsoft.com/office/drawing/2014/main" id="{B1477564-11A1-B965-B323-2B4636085D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47951" y="3429000"/>
            <a:ext cx="798167" cy="1934021"/>
          </a:xfrm>
          <a:prstGeom prst="rect">
            <a:avLst/>
          </a:prstGeom>
        </p:spPr>
      </p:pic>
      <p:graphicFrame>
        <p:nvGraphicFramePr>
          <p:cNvPr id="15" name="Content Placeholder 4">
            <a:extLst>
              <a:ext uri="{FF2B5EF4-FFF2-40B4-BE49-F238E27FC236}">
                <a16:creationId xmlns:a16="http://schemas.microsoft.com/office/drawing/2014/main" id="{1D99D29C-A192-40D0-A540-EB7DB881658B}"/>
              </a:ext>
            </a:extLst>
          </p:cNvPr>
          <p:cNvGraphicFramePr>
            <a:graphicFrameLocks/>
          </p:cNvGraphicFramePr>
          <p:nvPr>
            <p:extLst>
              <p:ext uri="{D42A27DB-BD31-4B8C-83A1-F6EECF244321}">
                <p14:modId xmlns:p14="http://schemas.microsoft.com/office/powerpoint/2010/main" val="690973176"/>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765694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CBB5-862E-8302-2839-6E9205479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03BFB9-C5EE-4761-FCAE-FFB25555BE82}"/>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1F7492AC-C5D8-B9A7-5E1A-14DC70C40471}"/>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9</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E0CCA694-C414-4301-70BE-EE7E20A24472}"/>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AS</a:t>
            </a:r>
          </a:p>
        </p:txBody>
      </p:sp>
      <p:sp>
        <p:nvSpPr>
          <p:cNvPr id="5" name="TextBox 4">
            <a:extLst>
              <a:ext uri="{FF2B5EF4-FFF2-40B4-BE49-F238E27FC236}">
                <a16:creationId xmlns:a16="http://schemas.microsoft.com/office/drawing/2014/main" id="{A35FBDA4-D7D3-BFAE-F7A6-5DC2B81136DF}"/>
              </a:ext>
            </a:extLst>
          </p:cNvPr>
          <p:cNvSpPr txBox="1"/>
          <p:nvPr/>
        </p:nvSpPr>
        <p:spPr>
          <a:xfrm>
            <a:off x="1181100" y="1804288"/>
            <a:ext cx="4185449" cy="1885260"/>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EDL</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Scanned the paper calendars into a searchable folder </a:t>
            </a:r>
            <a:endParaRPr lang="en-US" sz="2000">
              <a:latin typeface="Neue Haas Grotesk Text Pro"/>
            </a:endParaRPr>
          </a:p>
        </p:txBody>
      </p:sp>
      <p:pic>
        <p:nvPicPr>
          <p:cNvPr id="11" name="Picture 10" descr="A screenshot of a computer&#10;&#10;Description automatically generated">
            <a:extLst>
              <a:ext uri="{FF2B5EF4-FFF2-40B4-BE49-F238E27FC236}">
                <a16:creationId xmlns:a16="http://schemas.microsoft.com/office/drawing/2014/main" id="{7568A8C9-980F-7969-7046-70099F04AD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6549" y="1130754"/>
            <a:ext cx="5888640" cy="4139641"/>
          </a:xfrm>
          <a:prstGeom prst="rect">
            <a:avLst/>
          </a:prstGeom>
        </p:spPr>
      </p:pic>
      <p:graphicFrame>
        <p:nvGraphicFramePr>
          <p:cNvPr id="12" name="Content Placeholder 4">
            <a:extLst>
              <a:ext uri="{FF2B5EF4-FFF2-40B4-BE49-F238E27FC236}">
                <a16:creationId xmlns:a16="http://schemas.microsoft.com/office/drawing/2014/main" id="{152C1E4A-2576-FF2B-57F2-5DF13C588DBE}"/>
              </a:ext>
            </a:extLst>
          </p:cNvPr>
          <p:cNvGraphicFramePr>
            <a:graphicFrameLocks/>
          </p:cNvGraphicFramePr>
          <p:nvPr>
            <p:extLst>
              <p:ext uri="{D42A27DB-BD31-4B8C-83A1-F6EECF244321}">
                <p14:modId xmlns:p14="http://schemas.microsoft.com/office/powerpoint/2010/main" val="1845680949"/>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92379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D6684-78ED-6122-7E4C-11C13F4262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8E507-610F-DDF0-9914-4D148F91AA6E}"/>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47F5417B-0C37-B756-CC8B-74139C5675FE}"/>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10</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D04FB547-392D-3981-4075-F4C6DA94A73A}"/>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sp>
        <p:nvSpPr>
          <p:cNvPr id="5" name="TextBox 4">
            <a:extLst>
              <a:ext uri="{FF2B5EF4-FFF2-40B4-BE49-F238E27FC236}">
                <a16:creationId xmlns:a16="http://schemas.microsoft.com/office/drawing/2014/main" id="{ADBADA27-ED1A-24F5-2C28-9D1663089E3C}"/>
              </a:ext>
            </a:extLst>
          </p:cNvPr>
          <p:cNvSpPr txBox="1"/>
          <p:nvPr/>
        </p:nvSpPr>
        <p:spPr>
          <a:xfrm>
            <a:off x="1181100" y="1804287"/>
            <a:ext cx="6483202" cy="502830"/>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Pivot Tool</a:t>
            </a:r>
          </a:p>
        </p:txBody>
      </p:sp>
      <p:pic>
        <p:nvPicPr>
          <p:cNvPr id="1026" name="Picture 2">
            <a:extLst>
              <a:ext uri="{FF2B5EF4-FFF2-40B4-BE49-F238E27FC236}">
                <a16:creationId xmlns:a16="http://schemas.microsoft.com/office/drawing/2014/main" id="{20B0D7CA-6264-79F9-C07B-5CCA4559B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5096" y="1572473"/>
            <a:ext cx="7676270" cy="397345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ontent Placeholder 4">
            <a:extLst>
              <a:ext uri="{FF2B5EF4-FFF2-40B4-BE49-F238E27FC236}">
                <a16:creationId xmlns:a16="http://schemas.microsoft.com/office/drawing/2014/main" id="{C4C1243F-D149-8BCF-00E3-3569A6D84729}"/>
              </a:ext>
            </a:extLst>
          </p:cNvPr>
          <p:cNvGraphicFramePr>
            <a:graphicFrameLocks/>
          </p:cNvGraphicFramePr>
          <p:nvPr>
            <p:extLst>
              <p:ext uri="{D42A27DB-BD31-4B8C-83A1-F6EECF244321}">
                <p14:modId xmlns:p14="http://schemas.microsoft.com/office/powerpoint/2010/main" val="732178649"/>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3137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3243-1BBD-2139-6891-BF17C01AB4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99561-A5D5-1294-1CE6-1D5D6D1E7650}"/>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76F16290-4827-CF96-7CDF-6C15DDAEEF48}"/>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11</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59C48055-B82D-B947-FA46-9D3BA21C460F}"/>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SD</a:t>
            </a:r>
          </a:p>
        </p:txBody>
      </p:sp>
      <p:sp>
        <p:nvSpPr>
          <p:cNvPr id="5" name="TextBox 4">
            <a:extLst>
              <a:ext uri="{FF2B5EF4-FFF2-40B4-BE49-F238E27FC236}">
                <a16:creationId xmlns:a16="http://schemas.microsoft.com/office/drawing/2014/main" id="{6D6272E0-92BC-0208-89EF-97EC6F698E56}"/>
              </a:ext>
            </a:extLst>
          </p:cNvPr>
          <p:cNvSpPr txBox="1"/>
          <p:nvPr/>
        </p:nvSpPr>
        <p:spPr>
          <a:xfrm>
            <a:off x="1181100" y="1804287"/>
            <a:ext cx="6483202" cy="964495"/>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Google Form</a:t>
            </a:r>
          </a:p>
          <a:p>
            <a:pPr marL="800100" lvl="1" indent="-342900">
              <a:lnSpc>
                <a:spcPct val="150000"/>
              </a:lnSpc>
              <a:buFont typeface="Arial" panose="020B0604020202020204" pitchFamily="34" charset="0"/>
              <a:buChar char="•"/>
            </a:pPr>
            <a:endParaRPr lang="en-US" sz="2000">
              <a:latin typeface="Neue Haas Grotesk Text Pro"/>
            </a:endParaRPr>
          </a:p>
        </p:txBody>
      </p:sp>
      <p:pic>
        <p:nvPicPr>
          <p:cNvPr id="9" name="Picture 8" descr="A screenshot of a phone&#10;&#10;Description automatically generated">
            <a:extLst>
              <a:ext uri="{FF2B5EF4-FFF2-40B4-BE49-F238E27FC236}">
                <a16:creationId xmlns:a16="http://schemas.microsoft.com/office/drawing/2014/main" id="{6259FD47-93F9-85A7-C637-AEDAEBD1AFDD}"/>
              </a:ext>
            </a:extLst>
          </p:cNvPr>
          <p:cNvPicPr>
            <a:picLocks noChangeAspect="1"/>
          </p:cNvPicPr>
          <p:nvPr/>
        </p:nvPicPr>
        <p:blipFill>
          <a:blip r:embed="rId3">
            <a:extLst>
              <a:ext uri="{28A0092B-C50C-407E-A947-70E740481C1C}">
                <a14:useLocalDpi xmlns:a14="http://schemas.microsoft.com/office/drawing/2010/main" val="0"/>
              </a:ext>
            </a:extLst>
          </a:blip>
          <a:srcRect r="48556" b="27586"/>
          <a:stretch/>
        </p:blipFill>
        <p:spPr>
          <a:xfrm>
            <a:off x="3280678" y="1534416"/>
            <a:ext cx="2036323" cy="4109990"/>
          </a:xfrm>
          <a:prstGeom prst="rect">
            <a:avLst/>
          </a:prstGeom>
        </p:spPr>
      </p:pic>
      <p:pic>
        <p:nvPicPr>
          <p:cNvPr id="14" name="Picture 13" descr="A screenshot of a phone&#10;&#10;Description automatically generated">
            <a:extLst>
              <a:ext uri="{FF2B5EF4-FFF2-40B4-BE49-F238E27FC236}">
                <a16:creationId xmlns:a16="http://schemas.microsoft.com/office/drawing/2014/main" id="{A76A4309-1FED-E17C-5593-F8F773BFCE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7234" y="1188685"/>
            <a:ext cx="2909858" cy="4455721"/>
          </a:xfrm>
          <a:prstGeom prst="rect">
            <a:avLst/>
          </a:prstGeom>
        </p:spPr>
      </p:pic>
      <p:pic>
        <p:nvPicPr>
          <p:cNvPr id="16" name="Picture 15" descr="A screenshot of a computer&#10;&#10;Description automatically generated">
            <a:extLst>
              <a:ext uri="{FF2B5EF4-FFF2-40B4-BE49-F238E27FC236}">
                <a16:creationId xmlns:a16="http://schemas.microsoft.com/office/drawing/2014/main" id="{0FAD3A74-59D5-DF50-99C7-38ED05C0BE94}"/>
              </a:ext>
            </a:extLst>
          </p:cNvPr>
          <p:cNvPicPr>
            <a:picLocks noChangeAspect="1"/>
          </p:cNvPicPr>
          <p:nvPr/>
        </p:nvPicPr>
        <p:blipFill>
          <a:blip r:embed="rId5">
            <a:extLst>
              <a:ext uri="{28A0092B-C50C-407E-A947-70E740481C1C}">
                <a14:useLocalDpi xmlns:a14="http://schemas.microsoft.com/office/drawing/2010/main" val="0"/>
              </a:ext>
            </a:extLst>
          </a:blip>
          <a:srcRect r="27750" b="-2604"/>
          <a:stretch/>
        </p:blipFill>
        <p:spPr>
          <a:xfrm>
            <a:off x="8499329" y="1410355"/>
            <a:ext cx="3568827" cy="3816762"/>
          </a:xfrm>
          <a:prstGeom prst="rect">
            <a:avLst/>
          </a:prstGeom>
        </p:spPr>
      </p:pic>
      <p:graphicFrame>
        <p:nvGraphicFramePr>
          <p:cNvPr id="18" name="Content Placeholder 4">
            <a:extLst>
              <a:ext uri="{FF2B5EF4-FFF2-40B4-BE49-F238E27FC236}">
                <a16:creationId xmlns:a16="http://schemas.microsoft.com/office/drawing/2014/main" id="{66BAABFC-8758-0D21-9C34-5965310DA6AA}"/>
              </a:ext>
            </a:extLst>
          </p:cNvPr>
          <p:cNvGraphicFramePr>
            <a:graphicFrameLocks/>
          </p:cNvGraphicFramePr>
          <p:nvPr>
            <p:extLst>
              <p:ext uri="{D42A27DB-BD31-4B8C-83A1-F6EECF244321}">
                <p14:modId xmlns:p14="http://schemas.microsoft.com/office/powerpoint/2010/main" val="3264686281"/>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565540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4748A-5729-EC36-84CB-F291F1E4B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C8837-1DD6-35C9-EC23-030B49DE1C4A}"/>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22109862-BAE5-897E-302D-F07006C33311}"/>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12</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D290D376-C5C1-6F6D-C346-D51B155ECF2B}"/>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SD</a:t>
            </a:r>
          </a:p>
        </p:txBody>
      </p:sp>
      <p:sp>
        <p:nvSpPr>
          <p:cNvPr id="5" name="TextBox 4">
            <a:extLst>
              <a:ext uri="{FF2B5EF4-FFF2-40B4-BE49-F238E27FC236}">
                <a16:creationId xmlns:a16="http://schemas.microsoft.com/office/drawing/2014/main" id="{945FB4B9-C532-D878-2B30-C69E226ACEA5}"/>
              </a:ext>
            </a:extLst>
          </p:cNvPr>
          <p:cNvSpPr txBox="1"/>
          <p:nvPr/>
        </p:nvSpPr>
        <p:spPr>
          <a:xfrm>
            <a:off x="1181100" y="1804287"/>
            <a:ext cx="2893680" cy="1885260"/>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Google Form</a:t>
            </a:r>
          </a:p>
          <a:p>
            <a:pPr marL="800100" lvl="1" indent="-342900">
              <a:lnSpc>
                <a:spcPct val="150000"/>
              </a:lnSpc>
              <a:buFont typeface="Arial" panose="020B0604020202020204" pitchFamily="34" charset="0"/>
              <a:buChar char="•"/>
            </a:pPr>
            <a:r>
              <a:rPr lang="en-US" sz="2000">
                <a:latin typeface="Neue Haas Grotesk Text Pro"/>
              </a:rPr>
              <a:t>Assists with future digitization </a:t>
            </a:r>
          </a:p>
        </p:txBody>
      </p:sp>
      <p:pic>
        <p:nvPicPr>
          <p:cNvPr id="7" name="Picture 6" descr="A screenshot of a computer&#10;&#10;Description automatically generated">
            <a:extLst>
              <a:ext uri="{FF2B5EF4-FFF2-40B4-BE49-F238E27FC236}">
                <a16:creationId xmlns:a16="http://schemas.microsoft.com/office/drawing/2014/main" id="{BCBDB6DD-31BA-C514-FA8C-8E13E4CFAC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4780" y="1529898"/>
            <a:ext cx="7516586" cy="3949817"/>
          </a:xfrm>
          <a:prstGeom prst="rect">
            <a:avLst/>
          </a:prstGeom>
        </p:spPr>
      </p:pic>
      <p:graphicFrame>
        <p:nvGraphicFramePr>
          <p:cNvPr id="8" name="Content Placeholder 4">
            <a:extLst>
              <a:ext uri="{FF2B5EF4-FFF2-40B4-BE49-F238E27FC236}">
                <a16:creationId xmlns:a16="http://schemas.microsoft.com/office/drawing/2014/main" id="{DEFC0BAC-6E0A-F470-F08B-39B103E5C6A3}"/>
              </a:ext>
            </a:extLst>
          </p:cNvPr>
          <p:cNvGraphicFramePr>
            <a:graphicFrameLocks/>
          </p:cNvGraphicFramePr>
          <p:nvPr>
            <p:extLst>
              <p:ext uri="{D42A27DB-BD31-4B8C-83A1-F6EECF244321}">
                <p14:modId xmlns:p14="http://schemas.microsoft.com/office/powerpoint/2010/main" val="2862062560"/>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02303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AB74B-88A4-F54B-1173-24C61CDA9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39D30-BE76-B6AA-47BC-A2D78081C3D1}"/>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Implementation</a:t>
            </a:r>
          </a:p>
        </p:txBody>
      </p:sp>
      <p:sp>
        <p:nvSpPr>
          <p:cNvPr id="13" name="Slide Number Placeholder 12">
            <a:extLst>
              <a:ext uri="{FF2B5EF4-FFF2-40B4-BE49-F238E27FC236}">
                <a16:creationId xmlns:a16="http://schemas.microsoft.com/office/drawing/2014/main" id="{C0792AD2-BED4-24C2-11EE-585C3604EA96}"/>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13</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D59D0395-89E7-4703-8B7C-F6AE38629B9F}"/>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AS</a:t>
            </a:r>
          </a:p>
        </p:txBody>
      </p:sp>
      <p:sp>
        <p:nvSpPr>
          <p:cNvPr id="5" name="TextBox 4">
            <a:extLst>
              <a:ext uri="{FF2B5EF4-FFF2-40B4-BE49-F238E27FC236}">
                <a16:creationId xmlns:a16="http://schemas.microsoft.com/office/drawing/2014/main" id="{C0058D20-E73F-83BF-E391-C39D86DEB12C}"/>
              </a:ext>
            </a:extLst>
          </p:cNvPr>
          <p:cNvSpPr txBox="1"/>
          <p:nvPr/>
        </p:nvSpPr>
        <p:spPr>
          <a:xfrm>
            <a:off x="1181099" y="1804287"/>
            <a:ext cx="2963723" cy="2808589"/>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Power BI</a:t>
            </a:r>
          </a:p>
          <a:p>
            <a:pPr marL="342900" indent="-342900">
              <a:lnSpc>
                <a:spcPct val="150000"/>
              </a:lnSpc>
              <a:buFont typeface="Arial" panose="020B0604020202020204" pitchFamily="34" charset="0"/>
              <a:buChar char="•"/>
            </a:pPr>
            <a:r>
              <a:rPr lang="en-US" sz="2000">
                <a:latin typeface="Neue Haas Grotesk Text Pro"/>
              </a:rPr>
              <a:t>Driver Metrics Dashboard</a:t>
            </a:r>
          </a:p>
          <a:p>
            <a:pPr marL="342900" indent="-342900">
              <a:lnSpc>
                <a:spcPct val="150000"/>
              </a:lnSpc>
              <a:buFont typeface="Arial" panose="020B0604020202020204" pitchFamily="34" charset="0"/>
              <a:buChar char="•"/>
            </a:pPr>
            <a:r>
              <a:rPr lang="en-US" sz="2000">
                <a:latin typeface="Neue Haas Grotesk Text Pro"/>
              </a:rPr>
              <a:t>Information pulled from Samsara</a:t>
            </a:r>
          </a:p>
          <a:p>
            <a:pPr marL="800100" lvl="1" indent="-342900">
              <a:lnSpc>
                <a:spcPct val="150000"/>
              </a:lnSpc>
              <a:buFont typeface="Arial" panose="020B0604020202020204" pitchFamily="34" charset="0"/>
              <a:buChar char="•"/>
            </a:pPr>
            <a:endParaRPr lang="en-US" sz="2000">
              <a:latin typeface="Neue Haas Grotesk Text Pro"/>
            </a:endParaRPr>
          </a:p>
        </p:txBody>
      </p:sp>
      <p:pic>
        <p:nvPicPr>
          <p:cNvPr id="7" name="Picture 6" descr="A screenshot of a graph&#10;&#10;AI-generated content may be incorrect.">
            <a:extLst>
              <a:ext uri="{FF2B5EF4-FFF2-40B4-BE49-F238E27FC236}">
                <a16:creationId xmlns:a16="http://schemas.microsoft.com/office/drawing/2014/main" id="{1BD9E46F-9ECD-7375-9F22-209708B3AEC0}"/>
              </a:ext>
            </a:extLst>
          </p:cNvPr>
          <p:cNvPicPr>
            <a:picLocks noChangeAspect="1"/>
          </p:cNvPicPr>
          <p:nvPr/>
        </p:nvPicPr>
        <p:blipFill>
          <a:blip r:embed="rId3"/>
          <a:srcRect t="-998" r="5510" b="-59"/>
          <a:stretch>
            <a:fillRect/>
          </a:stretch>
        </p:blipFill>
        <p:spPr>
          <a:xfrm>
            <a:off x="4144823" y="1805780"/>
            <a:ext cx="6549146" cy="3899030"/>
          </a:xfrm>
          <a:prstGeom prst="rect">
            <a:avLst/>
          </a:prstGeom>
        </p:spPr>
      </p:pic>
      <p:graphicFrame>
        <p:nvGraphicFramePr>
          <p:cNvPr id="8" name="Content Placeholder 4">
            <a:extLst>
              <a:ext uri="{FF2B5EF4-FFF2-40B4-BE49-F238E27FC236}">
                <a16:creationId xmlns:a16="http://schemas.microsoft.com/office/drawing/2014/main" id="{6CCEE3D6-D2EB-2844-D29F-FF9B41C67BB1}"/>
              </a:ext>
            </a:extLst>
          </p:cNvPr>
          <p:cNvGraphicFramePr>
            <a:graphicFrameLocks/>
          </p:cNvGraphicFramePr>
          <p:nvPr>
            <p:extLst>
              <p:ext uri="{D42A27DB-BD31-4B8C-83A1-F6EECF244321}">
                <p14:modId xmlns:p14="http://schemas.microsoft.com/office/powerpoint/2010/main" val="1918812368"/>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15348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C205-035C-3307-63DF-29F5BD33E8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CE293-CCC2-5F4F-9FF9-D2DB279D1736}"/>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Economic Assessment</a:t>
            </a:r>
          </a:p>
        </p:txBody>
      </p:sp>
      <p:sp>
        <p:nvSpPr>
          <p:cNvPr id="13" name="Slide Number Placeholder 12">
            <a:extLst>
              <a:ext uri="{FF2B5EF4-FFF2-40B4-BE49-F238E27FC236}">
                <a16:creationId xmlns:a16="http://schemas.microsoft.com/office/drawing/2014/main" id="{1E387A02-73D3-31C7-274A-5A0D6219F5A4}"/>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14</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AECEFCE6-3BDD-831A-2BE9-7037D01EA7DD}"/>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SD</a:t>
            </a:r>
          </a:p>
        </p:txBody>
      </p:sp>
      <p:sp>
        <p:nvSpPr>
          <p:cNvPr id="5" name="TextBox 4">
            <a:extLst>
              <a:ext uri="{FF2B5EF4-FFF2-40B4-BE49-F238E27FC236}">
                <a16:creationId xmlns:a16="http://schemas.microsoft.com/office/drawing/2014/main" id="{707C4CB5-122F-CE19-5703-CED88EC58B7D}"/>
              </a:ext>
            </a:extLst>
          </p:cNvPr>
          <p:cNvSpPr txBox="1"/>
          <p:nvPr/>
        </p:nvSpPr>
        <p:spPr>
          <a:xfrm>
            <a:off x="1181100" y="1804287"/>
            <a:ext cx="9167232" cy="961930"/>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20% reduction of miles</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~$700 saved (Jan + Feb) if *$3.50/gallon -&gt; ~$4200/year</a:t>
            </a:r>
            <a:endParaRPr lang="en-US" sz="2000">
              <a:latin typeface="Neue Haas Grotesk Text Pro"/>
            </a:endParaRPr>
          </a:p>
        </p:txBody>
      </p:sp>
      <p:pic>
        <p:nvPicPr>
          <p:cNvPr id="6" name="Object 4">
            <a:extLst>
              <a:ext uri="{FF2B5EF4-FFF2-40B4-BE49-F238E27FC236}">
                <a16:creationId xmlns:a16="http://schemas.microsoft.com/office/drawing/2014/main" id="{2EAD8E86-EB4C-22C0-5A1C-11691C78B7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04036" y="2988876"/>
            <a:ext cx="8783928" cy="2055813"/>
          </a:xfrm>
          <a:prstGeom prst="rect">
            <a:avLst/>
          </a:prstGeom>
          <a:noFill/>
          <a:ln>
            <a:noFill/>
          </a:ln>
        </p:spPr>
      </p:pic>
      <p:graphicFrame>
        <p:nvGraphicFramePr>
          <p:cNvPr id="7" name="Content Placeholder 4">
            <a:extLst>
              <a:ext uri="{FF2B5EF4-FFF2-40B4-BE49-F238E27FC236}">
                <a16:creationId xmlns:a16="http://schemas.microsoft.com/office/drawing/2014/main" id="{A88CD1CF-AFB7-58E3-96EE-97D7CBD2E5A5}"/>
              </a:ext>
            </a:extLst>
          </p:cNvPr>
          <p:cNvGraphicFramePr>
            <a:graphicFrameLocks/>
          </p:cNvGraphicFramePr>
          <p:nvPr>
            <p:extLst>
              <p:ext uri="{D42A27DB-BD31-4B8C-83A1-F6EECF244321}">
                <p14:modId xmlns:p14="http://schemas.microsoft.com/office/powerpoint/2010/main" val="3338335046"/>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4201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F615B-CF3E-3905-0E39-493598DEC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4843C-86EF-05A5-37F5-DD47AA56AB2F}"/>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Statistical Assessment</a:t>
            </a:r>
          </a:p>
        </p:txBody>
      </p:sp>
      <p:sp>
        <p:nvSpPr>
          <p:cNvPr id="13" name="Slide Number Placeholder 12">
            <a:extLst>
              <a:ext uri="{FF2B5EF4-FFF2-40B4-BE49-F238E27FC236}">
                <a16:creationId xmlns:a16="http://schemas.microsoft.com/office/drawing/2014/main" id="{E1CB9256-981A-A9F7-4CEC-73EFA13648A8}"/>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15</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7AA2A3BA-4100-4DC6-A0DA-71ABB283A118}"/>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sp>
        <p:nvSpPr>
          <p:cNvPr id="5" name="TextBox 4">
            <a:extLst>
              <a:ext uri="{FF2B5EF4-FFF2-40B4-BE49-F238E27FC236}">
                <a16:creationId xmlns:a16="http://schemas.microsoft.com/office/drawing/2014/main" id="{2F48654B-45F0-B0FF-1134-1D9AA3FD1BF3}"/>
              </a:ext>
            </a:extLst>
          </p:cNvPr>
          <p:cNvSpPr txBox="1"/>
          <p:nvPr/>
        </p:nvSpPr>
        <p:spPr>
          <a:xfrm>
            <a:off x="1181101" y="1804286"/>
            <a:ext cx="4854388" cy="2346925"/>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Non-inferiority and time study</a:t>
            </a:r>
          </a:p>
          <a:p>
            <a:pPr marL="800100" lvl="1" indent="-342900">
              <a:lnSpc>
                <a:spcPct val="150000"/>
              </a:lnSpc>
              <a:buFont typeface="Arial" panose="020B0604020202020204" pitchFamily="34" charset="0"/>
              <a:buChar char="•"/>
            </a:pPr>
            <a:r>
              <a:rPr lang="en-US" sz="2000">
                <a:latin typeface="Neue Haas Grotesk Text Pro"/>
              </a:rPr>
              <a:t>Samsara route within 0.35 mi of optimal</a:t>
            </a:r>
            <a:endParaRPr lang="en-US" sz="2000">
              <a:latin typeface="Neue Haas Grotesk Text Pro" panose="020B0504020202020204" pitchFamily="34" charset="77"/>
            </a:endParaRPr>
          </a:p>
          <a:p>
            <a:pPr marL="800100" lvl="1" indent="-342900">
              <a:lnSpc>
                <a:spcPct val="150000"/>
              </a:lnSpc>
              <a:buFont typeface="Arial" panose="020B0604020202020204" pitchFamily="34" charset="0"/>
              <a:buChar char="•"/>
            </a:pPr>
            <a:r>
              <a:rPr lang="en-US" sz="2000">
                <a:latin typeface="Neue Haas Grotesk Text Pro"/>
              </a:rPr>
              <a:t>67 min -&gt; 45 min on average for calendar creation</a:t>
            </a:r>
          </a:p>
        </p:txBody>
      </p:sp>
      <p:pic>
        <p:nvPicPr>
          <p:cNvPr id="6" name="Picture 5" descr="A screenshot of a calculator&#10;&#10;Description automatically generated">
            <a:extLst>
              <a:ext uri="{FF2B5EF4-FFF2-40B4-BE49-F238E27FC236}">
                <a16:creationId xmlns:a16="http://schemas.microsoft.com/office/drawing/2014/main" id="{8AD09B5A-41BF-C128-2918-A9883091F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6621" y="1452198"/>
            <a:ext cx="4478192" cy="1681855"/>
          </a:xfrm>
          <a:prstGeom prst="rect">
            <a:avLst/>
          </a:prstGeom>
        </p:spPr>
      </p:pic>
      <p:pic>
        <p:nvPicPr>
          <p:cNvPr id="7" name="Picture 6" descr="A date and date of the day&#10;&#10;Description automatically generated with medium confidence">
            <a:extLst>
              <a:ext uri="{FF2B5EF4-FFF2-40B4-BE49-F238E27FC236}">
                <a16:creationId xmlns:a16="http://schemas.microsoft.com/office/drawing/2014/main" id="{627EE931-81DC-6394-BDEA-EE718EA5BA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6513" y="3312648"/>
            <a:ext cx="5825585" cy="1020661"/>
          </a:xfrm>
          <a:prstGeom prst="rect">
            <a:avLst/>
          </a:prstGeom>
        </p:spPr>
      </p:pic>
      <p:pic>
        <p:nvPicPr>
          <p:cNvPr id="8" name="Picture 7" descr="A calendar with a date and date&#10;&#10;Description automatically generated with medium confidence">
            <a:extLst>
              <a:ext uri="{FF2B5EF4-FFF2-40B4-BE49-F238E27FC236}">
                <a16:creationId xmlns:a16="http://schemas.microsoft.com/office/drawing/2014/main" id="{713C3262-8AF1-4E91-0AB0-973042C3BE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44719" y="4420347"/>
            <a:ext cx="7637379" cy="1012960"/>
          </a:xfrm>
          <a:prstGeom prst="rect">
            <a:avLst/>
          </a:prstGeom>
        </p:spPr>
      </p:pic>
      <p:graphicFrame>
        <p:nvGraphicFramePr>
          <p:cNvPr id="9" name="Content Placeholder 4">
            <a:extLst>
              <a:ext uri="{FF2B5EF4-FFF2-40B4-BE49-F238E27FC236}">
                <a16:creationId xmlns:a16="http://schemas.microsoft.com/office/drawing/2014/main" id="{DBFE5F73-7F7F-0646-41F8-564D01523169}"/>
              </a:ext>
            </a:extLst>
          </p:cNvPr>
          <p:cNvGraphicFramePr>
            <a:graphicFrameLocks/>
          </p:cNvGraphicFramePr>
          <p:nvPr>
            <p:extLst>
              <p:ext uri="{D42A27DB-BD31-4B8C-83A1-F6EECF244321}">
                <p14:modId xmlns:p14="http://schemas.microsoft.com/office/powerpoint/2010/main" val="2451503305"/>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224573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EEE75-079B-7DA5-9C49-AEB71F188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6E381-37B9-7DB4-8178-8ABBBA68C5C6}"/>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Project Continuation Plan</a:t>
            </a:r>
          </a:p>
        </p:txBody>
      </p:sp>
      <p:sp>
        <p:nvSpPr>
          <p:cNvPr id="13" name="Slide Number Placeholder 12">
            <a:extLst>
              <a:ext uri="{FF2B5EF4-FFF2-40B4-BE49-F238E27FC236}">
                <a16:creationId xmlns:a16="http://schemas.microsoft.com/office/drawing/2014/main" id="{818B730A-0657-E22C-F267-6B3EC36BF92A}"/>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16</a:t>
            </a:fld>
            <a:endParaRPr lang="en-US" sz="1050">
              <a:latin typeface="Neue Haas Grotesk Text Pro" panose="020B0504020202020204" pitchFamily="34" charset="77"/>
            </a:endParaRPr>
          </a:p>
        </p:txBody>
      </p:sp>
      <p:sp>
        <p:nvSpPr>
          <p:cNvPr id="3" name="TextBox 2">
            <a:extLst>
              <a:ext uri="{FF2B5EF4-FFF2-40B4-BE49-F238E27FC236}">
                <a16:creationId xmlns:a16="http://schemas.microsoft.com/office/drawing/2014/main" id="{4A661539-468C-C1DE-5A7A-50EBE0B5B63D}"/>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AS</a:t>
            </a:r>
          </a:p>
        </p:txBody>
      </p:sp>
      <p:sp>
        <p:nvSpPr>
          <p:cNvPr id="5" name="TextBox 4">
            <a:extLst>
              <a:ext uri="{FF2B5EF4-FFF2-40B4-BE49-F238E27FC236}">
                <a16:creationId xmlns:a16="http://schemas.microsoft.com/office/drawing/2014/main" id="{9C93E6E9-0DAE-137F-9B73-7CE23FF5C2BC}"/>
              </a:ext>
            </a:extLst>
          </p:cNvPr>
          <p:cNvSpPr txBox="1"/>
          <p:nvPr/>
        </p:nvSpPr>
        <p:spPr>
          <a:xfrm>
            <a:off x="1181100" y="1804287"/>
            <a:ext cx="6483202" cy="2808589"/>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a:rPr>
              <a:t>SOPs</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Pivot Tool</a:t>
            </a:r>
          </a:p>
          <a:p>
            <a:pPr marL="800100" lvl="1" indent="-342900">
              <a:lnSpc>
                <a:spcPct val="150000"/>
              </a:lnSpc>
              <a:buFont typeface="Arial" panose="020B0604020202020204" pitchFamily="34" charset="0"/>
              <a:buChar char="•"/>
            </a:pPr>
            <a:r>
              <a:rPr lang="en-US" sz="2000" err="1">
                <a:latin typeface="Neue Haas Grotesk Text Pro" panose="020B0504020202020204" pitchFamily="34" charset="77"/>
              </a:rPr>
              <a:t>MyMaps</a:t>
            </a:r>
            <a:endParaRPr lang="en-US" sz="2000">
              <a:latin typeface="Neue Haas Grotesk Text Pro" panose="020B0504020202020204" pitchFamily="34" charset="77"/>
            </a:endParaRP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Google Form</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Power BI</a:t>
            </a:r>
          </a:p>
          <a:p>
            <a:pPr marL="800100" lvl="1" indent="-342900">
              <a:lnSpc>
                <a:spcPct val="150000"/>
              </a:lnSpc>
              <a:buFont typeface="Arial" panose="020B0604020202020204" pitchFamily="34" charset="0"/>
              <a:buChar char="•"/>
            </a:pPr>
            <a:r>
              <a:rPr lang="en-US" sz="2000">
                <a:latin typeface="Neue Haas Grotesk Text Pro" panose="020B0504020202020204" pitchFamily="34" charset="77"/>
              </a:rPr>
              <a:t>Drivers </a:t>
            </a:r>
            <a:endParaRPr lang="en-US" sz="2000">
              <a:latin typeface="Neue Haas Grotesk Text Pro"/>
            </a:endParaRPr>
          </a:p>
        </p:txBody>
      </p:sp>
      <p:graphicFrame>
        <p:nvGraphicFramePr>
          <p:cNvPr id="6" name="Content Placeholder 4">
            <a:extLst>
              <a:ext uri="{FF2B5EF4-FFF2-40B4-BE49-F238E27FC236}">
                <a16:creationId xmlns:a16="http://schemas.microsoft.com/office/drawing/2014/main" id="{615E299F-1133-E0FF-6A7E-3D4BA23703B1}"/>
              </a:ext>
            </a:extLst>
          </p:cNvPr>
          <p:cNvGraphicFramePr>
            <a:graphicFrameLocks/>
          </p:cNvGraphicFramePr>
          <p:nvPr>
            <p:extLst>
              <p:ext uri="{D42A27DB-BD31-4B8C-83A1-F6EECF244321}">
                <p14:modId xmlns:p14="http://schemas.microsoft.com/office/powerpoint/2010/main" val="3284464699"/>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screenshot of a computer&#10;&#10;Description automatically generated">
            <a:extLst>
              <a:ext uri="{FF2B5EF4-FFF2-40B4-BE49-F238E27FC236}">
                <a16:creationId xmlns:a16="http://schemas.microsoft.com/office/drawing/2014/main" id="{BF9162BA-6B69-D42C-BB92-4312EB0CFF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55747" y="1607611"/>
            <a:ext cx="5422389" cy="3910738"/>
          </a:xfrm>
          <a:prstGeom prst="rect">
            <a:avLst/>
          </a:prstGeom>
        </p:spPr>
      </p:pic>
    </p:spTree>
    <p:extLst>
      <p:ext uri="{BB962C8B-B14F-4D97-AF65-F5344CB8AC3E}">
        <p14:creationId xmlns:p14="http://schemas.microsoft.com/office/powerpoint/2010/main" val="1836836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4B9B4-0458-2271-B77D-13D65B8F0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879A5-D56E-5AB0-D7CA-0426FDDC7DBC}"/>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0"/>
              </a:rPr>
              <a:t>Conclusion</a:t>
            </a:r>
          </a:p>
        </p:txBody>
      </p:sp>
      <p:sp>
        <p:nvSpPr>
          <p:cNvPr id="8" name="Slide Number Placeholder 7">
            <a:extLst>
              <a:ext uri="{FF2B5EF4-FFF2-40B4-BE49-F238E27FC236}">
                <a16:creationId xmlns:a16="http://schemas.microsoft.com/office/drawing/2014/main" id="{A85A20CE-200B-46BF-7111-BA7FE81B08BF}"/>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17</a:t>
            </a:fld>
            <a:endParaRPr lang="en-US" sz="1050">
              <a:latin typeface="Neue Haas Grotesk Text Pro" panose="020B0504020202020204" pitchFamily="34" charset="77"/>
            </a:endParaRPr>
          </a:p>
        </p:txBody>
      </p:sp>
      <p:sp>
        <p:nvSpPr>
          <p:cNvPr id="11" name="TextBox 10">
            <a:extLst>
              <a:ext uri="{FF2B5EF4-FFF2-40B4-BE49-F238E27FC236}">
                <a16:creationId xmlns:a16="http://schemas.microsoft.com/office/drawing/2014/main" id="{299478DC-CB4F-CFD8-68AB-F3B4D403D7E0}"/>
              </a:ext>
            </a:extLst>
          </p:cNvPr>
          <p:cNvSpPr txBox="1"/>
          <p:nvPr/>
        </p:nvSpPr>
        <p:spPr>
          <a:xfrm>
            <a:off x="1181100" y="2085473"/>
            <a:ext cx="9922764" cy="921086"/>
          </a:xfrm>
          <a:prstGeom prst="rect">
            <a:avLst/>
          </a:prstGeom>
          <a:noFill/>
        </p:spPr>
        <p:txBody>
          <a:bodyPr wrap="square" lIns="91440" tIns="45720" rIns="91440" bIns="45720" rtlCol="0" anchor="t">
            <a:spAutoFit/>
          </a:bodyPr>
          <a:lstStyle/>
          <a:p>
            <a:pPr>
              <a:lnSpc>
                <a:spcPct val="150000"/>
              </a:lnSpc>
            </a:pPr>
            <a:endParaRPr lang="en-US" sz="2000"/>
          </a:p>
          <a:p>
            <a:pPr>
              <a:lnSpc>
                <a:spcPct val="150000"/>
              </a:lnSpc>
            </a:pPr>
            <a:endParaRPr lang="en-US"/>
          </a:p>
        </p:txBody>
      </p:sp>
      <p:sp>
        <p:nvSpPr>
          <p:cNvPr id="4" name="TextBox 3">
            <a:extLst>
              <a:ext uri="{FF2B5EF4-FFF2-40B4-BE49-F238E27FC236}">
                <a16:creationId xmlns:a16="http://schemas.microsoft.com/office/drawing/2014/main" id="{CABC59A5-D598-601E-6BBF-9A07A36BDBB6}"/>
              </a:ext>
            </a:extLst>
          </p:cNvPr>
          <p:cNvSpPr txBox="1"/>
          <p:nvPr/>
        </p:nvSpPr>
        <p:spPr>
          <a:xfrm>
            <a:off x="742188" y="1946065"/>
            <a:ext cx="3788202" cy="459421"/>
          </a:xfrm>
          <a:prstGeom prst="rect">
            <a:avLst/>
          </a:prstGeom>
          <a:noFill/>
        </p:spPr>
        <p:txBody>
          <a:bodyPr wrap="square" rtlCol="0">
            <a:spAutoFit/>
          </a:bodyPr>
          <a:lstStyle/>
          <a:p>
            <a:pPr lvl="1">
              <a:lnSpc>
                <a:spcPct val="150000"/>
              </a:lnSpc>
            </a:pPr>
            <a:r>
              <a:rPr lang="en-US">
                <a:latin typeface="Neue Haas Grotesk Text Pro" panose="020B0504020202020204" pitchFamily="34" charset="0"/>
              </a:rPr>
              <a:t>Questions?</a:t>
            </a:r>
          </a:p>
        </p:txBody>
      </p:sp>
      <p:pic>
        <p:nvPicPr>
          <p:cNvPr id="10" name="Picture 9" descr="A logo for a food bank&#10;&#10;Description automatically generated">
            <a:extLst>
              <a:ext uri="{FF2B5EF4-FFF2-40B4-BE49-F238E27FC236}">
                <a16:creationId xmlns:a16="http://schemas.microsoft.com/office/drawing/2014/main" id="{C90CE91F-5644-CF8F-62F0-8A53835818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7821" y="1081494"/>
            <a:ext cx="4224512" cy="4224512"/>
          </a:xfrm>
          <a:prstGeom prst="rect">
            <a:avLst/>
          </a:prstGeom>
        </p:spPr>
      </p:pic>
      <p:sp>
        <p:nvSpPr>
          <p:cNvPr id="3" name="TextBox 2">
            <a:extLst>
              <a:ext uri="{FF2B5EF4-FFF2-40B4-BE49-F238E27FC236}">
                <a16:creationId xmlns:a16="http://schemas.microsoft.com/office/drawing/2014/main" id="{517B4C89-0C7F-475B-B3D9-E0E1B8108839}"/>
              </a:ext>
            </a:extLst>
          </p:cNvPr>
          <p:cNvSpPr txBox="1"/>
          <p:nvPr/>
        </p:nvSpPr>
        <p:spPr>
          <a:xfrm>
            <a:off x="10952797"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MP</a:t>
            </a:r>
          </a:p>
        </p:txBody>
      </p:sp>
      <p:graphicFrame>
        <p:nvGraphicFramePr>
          <p:cNvPr id="6" name="Content Placeholder 4">
            <a:extLst>
              <a:ext uri="{FF2B5EF4-FFF2-40B4-BE49-F238E27FC236}">
                <a16:creationId xmlns:a16="http://schemas.microsoft.com/office/drawing/2014/main" id="{29A9EFF8-C3B0-E7A9-8C0D-B5FA959B341C}"/>
              </a:ext>
            </a:extLst>
          </p:cNvPr>
          <p:cNvGraphicFramePr>
            <a:graphicFrameLocks/>
          </p:cNvGraphicFramePr>
          <p:nvPr>
            <p:extLst>
              <p:ext uri="{D42A27DB-BD31-4B8C-83A1-F6EECF244321}">
                <p14:modId xmlns:p14="http://schemas.microsoft.com/office/powerpoint/2010/main" val="1760062407"/>
              </p:ext>
            </p:extLst>
          </p:nvPr>
        </p:nvGraphicFramePr>
        <p:xfrm>
          <a:off x="185738" y="5479715"/>
          <a:ext cx="11737747" cy="9918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19309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CA4BC-308F-5835-AA0C-939FDFB6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89D1B-2ECD-4969-A491-FD71EFECD14C}"/>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Statistical Analysis</a:t>
            </a:r>
          </a:p>
        </p:txBody>
      </p:sp>
      <p:sp>
        <p:nvSpPr>
          <p:cNvPr id="8" name="Slide Number Placeholder 7">
            <a:extLst>
              <a:ext uri="{FF2B5EF4-FFF2-40B4-BE49-F238E27FC236}">
                <a16:creationId xmlns:a16="http://schemas.microsoft.com/office/drawing/2014/main" id="{9DCE5DE1-CD24-FBA3-FEE6-A0735D379224}"/>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18</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116C03CA-92F2-6390-1093-FD7A089C2334}"/>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08A7D18-0023-F320-7B5B-4A5FB7140CB8}"/>
                  </a:ext>
                </a:extLst>
              </p:cNvPr>
              <p:cNvSpPr txBox="1"/>
              <p:nvPr/>
            </p:nvSpPr>
            <p:spPr>
              <a:xfrm>
                <a:off x="947184" y="1755864"/>
                <a:ext cx="7547111" cy="3780202"/>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panose="020B0504020202020204" pitchFamily="34" charset="77"/>
                  </a:rPr>
                  <a:t>Pivot Tool Test for Time Reduction</a:t>
                </a:r>
              </a:p>
              <a:p>
                <a:pPr marL="800100" lvl="1" indent="-342900">
                  <a:lnSpc>
                    <a:spcPct val="150000"/>
                  </a:lnSpc>
                  <a:buFont typeface="Arial" panose="020B0604020202020204" pitchFamily="34" charset="0"/>
                  <a:buChar char="•"/>
                </a:pPr>
                <a:r>
                  <a:rPr lang="en-US">
                    <a:latin typeface="Neue Haas Grotesk Text Pro" panose="020B0504020202020204" pitchFamily="34" charset="77"/>
                    <a:cs typeface="Times New Roman"/>
                  </a:rPr>
                  <a:t>One sample, one-sided t-test</a:t>
                </a:r>
              </a:p>
              <a:p>
                <a:pPr marL="800100" lvl="1" indent="-342900">
                  <a:lnSpc>
                    <a:spcPct val="150000"/>
                  </a:lnSpc>
                  <a:buFont typeface="Arial" panose="020B0604020202020204" pitchFamily="34" charset="0"/>
                  <a:buChar char="•"/>
                </a:pPr>
                <a:r>
                  <a:rPr lang="en-US" sz="1800">
                    <a:effectLst/>
                    <a:latin typeface="Times New Roman" panose="02020603050405020304" pitchFamily="18" charset="0"/>
                    <a:ea typeface="Yu Mincho" panose="02020400000000000000" pitchFamily="18" charset="-128"/>
                    <a:cs typeface="Arial" panose="020B0604020202020204" pitchFamily="34" charset="0"/>
                  </a:rPr>
                  <a:t>H</a:t>
                </a:r>
                <a:r>
                  <a:rPr lang="en-US" sz="1800" baseline="-25000">
                    <a:effectLst/>
                    <a:latin typeface="Times New Roman" panose="02020603050405020304" pitchFamily="18" charset="0"/>
                    <a:ea typeface="Yu Mincho" panose="02020400000000000000" pitchFamily="18" charset="-128"/>
                    <a:cs typeface="Arial" panose="020B0604020202020204" pitchFamily="34" charset="0"/>
                  </a:rPr>
                  <a:t>0</a:t>
                </a:r>
                <a:r>
                  <a:rPr lang="en-US" sz="1800">
                    <a:effectLst/>
                    <a:latin typeface="Times New Roman" panose="02020603050405020304" pitchFamily="18" charset="0"/>
                    <a:ea typeface="Yu Mincho" panose="02020400000000000000" pitchFamily="18" charset="-128"/>
                    <a:cs typeface="Arial" panose="020B0604020202020204" pitchFamily="34" charset="0"/>
                  </a:rPr>
                  <a:t> (Null Hypothesis):</a:t>
                </a:r>
                <a14:m>
                  <m:oMath xmlns:m="http://schemas.openxmlformats.org/officeDocument/2006/math">
                    <m:sSub>
                      <m:sSubPr>
                        <m:ctrlPr>
                          <a:rPr lang="en-US" sz="1800"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a:effectLst/>
                            <a:latin typeface="Cambria Math" panose="02040503050406030204" pitchFamily="18" charset="0"/>
                            <a:ea typeface="Yu Mincho" panose="02020400000000000000" pitchFamily="18" charset="-128"/>
                            <a:cs typeface="Times New Roman" panose="02020603050405020304" pitchFamily="18" charset="0"/>
                          </a:rPr>
                          <m:t>  </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𝜇</m:t>
                        </m:r>
                      </m:e>
                      <m:sub>
                        <m:r>
                          <a:rPr lang="en-US" sz="1800" i="1">
                            <a:effectLst/>
                            <a:latin typeface="Cambria Math" panose="02040503050406030204" pitchFamily="18" charset="0"/>
                            <a:ea typeface="Yu Mincho" panose="02020400000000000000" pitchFamily="18" charset="-128"/>
                            <a:cs typeface="Times New Roman" panose="02020603050405020304" pitchFamily="18" charset="0"/>
                          </a:rPr>
                          <m:t>𝑡𝑜𝑜𝑙</m:t>
                        </m:r>
                      </m:sub>
                    </m:sSub>
                    <m:r>
                      <a:rPr lang="en-US" sz="1800" i="1">
                        <a:effectLst/>
                        <a:latin typeface="Cambria Math" panose="02040503050406030204" pitchFamily="18" charset="0"/>
                        <a:ea typeface="Yu Mincho" panose="02020400000000000000" pitchFamily="18" charset="-128"/>
                        <a:cs typeface="Times New Roman" panose="02020603050405020304" pitchFamily="18" charset="0"/>
                      </a:rPr>
                      <m:t>= </m:t>
                    </m:r>
                    <m:sSub>
                      <m:sSubPr>
                        <m:ctrlPr>
                          <a:rPr lang="en-US" sz="1800"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a:effectLst/>
                            <a:latin typeface="Cambria Math" panose="02040503050406030204" pitchFamily="18" charset="0"/>
                            <a:ea typeface="Yu Mincho" panose="02020400000000000000" pitchFamily="18" charset="-128"/>
                            <a:cs typeface="Times New Roman" panose="02020603050405020304" pitchFamily="18" charset="0"/>
                          </a:rPr>
                          <m:t>𝜇</m:t>
                        </m:r>
                      </m:e>
                      <m:sub>
                        <m:r>
                          <a:rPr lang="en-US" sz="1800" i="1">
                            <a:effectLst/>
                            <a:latin typeface="Cambria Math" panose="02040503050406030204" pitchFamily="18" charset="0"/>
                            <a:ea typeface="Yu Mincho" panose="02020400000000000000" pitchFamily="18" charset="-128"/>
                            <a:cs typeface="Times New Roman" panose="02020603050405020304" pitchFamily="18" charset="0"/>
                          </a:rPr>
                          <m:t>𝑜𝑟𝑖𝑔𝑖𝑛𝑎𝑙</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 (67 </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𝑚𝑖𝑛𝑢𝑡𝑒𝑠</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m:t>
                        </m:r>
                      </m:sub>
                    </m:sSub>
                  </m:oMath>
                </a14:m>
                <a:endParaRPr lang="en-US" sz="1800">
                  <a:effectLst/>
                  <a:latin typeface="Times New Roman" panose="02020603050405020304" pitchFamily="18" charset="0"/>
                  <a:ea typeface="Yu Mincho" panose="02020400000000000000" pitchFamily="18" charset="-128"/>
                  <a:cs typeface="Times New Roman" panose="02020603050405020304" pitchFamily="18" charset="0"/>
                </a:endParaRPr>
              </a:p>
              <a:p>
                <a:pPr marL="800100" lvl="1" indent="-342900">
                  <a:lnSpc>
                    <a:spcPct val="150000"/>
                  </a:lnSpc>
                  <a:buFont typeface="Arial" panose="020B0604020202020204" pitchFamily="34" charset="0"/>
                  <a:buChar char="•"/>
                </a:pPr>
                <a:r>
                  <a:rPr lang="en-US" sz="1800">
                    <a:effectLst/>
                    <a:latin typeface="Times New Roman" panose="02020603050405020304" pitchFamily="18" charset="0"/>
                    <a:ea typeface="Yu Mincho" panose="02020400000000000000" pitchFamily="18" charset="-128"/>
                    <a:cs typeface="Arial" panose="020B0604020202020204" pitchFamily="34" charset="0"/>
                  </a:rPr>
                  <a:t>H</a:t>
                </a:r>
                <a:r>
                  <a:rPr lang="en-US" sz="1800" baseline="-25000">
                    <a:effectLst/>
                    <a:latin typeface="Times New Roman" panose="02020603050405020304" pitchFamily="18" charset="0"/>
                    <a:ea typeface="Yu Mincho" panose="02020400000000000000" pitchFamily="18" charset="-128"/>
                    <a:cs typeface="Arial" panose="020B0604020202020204" pitchFamily="34" charset="0"/>
                  </a:rPr>
                  <a:t>1</a:t>
                </a:r>
                <a:r>
                  <a:rPr lang="en-US" sz="1800">
                    <a:effectLst/>
                    <a:latin typeface="Times New Roman" panose="02020603050405020304" pitchFamily="18" charset="0"/>
                    <a:ea typeface="Yu Mincho" panose="02020400000000000000" pitchFamily="18" charset="-128"/>
                    <a:cs typeface="Arial" panose="020B0604020202020204" pitchFamily="34" charset="0"/>
                  </a:rPr>
                  <a:t> (Alternative Hypothesis):</a:t>
                </a:r>
                <a14:m>
                  <m:oMath xmlns:m="http://schemas.openxmlformats.org/officeDocument/2006/math">
                    <m:sSub>
                      <m:sSubPr>
                        <m:ctrlPr>
                          <a:rPr lang="en-US" sz="1800"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a:effectLst/>
                            <a:latin typeface="Cambria Math" panose="02040503050406030204" pitchFamily="18" charset="0"/>
                            <a:ea typeface="Yu Mincho" panose="02020400000000000000" pitchFamily="18" charset="-128"/>
                            <a:cs typeface="Times New Roman" panose="02020603050405020304" pitchFamily="18" charset="0"/>
                          </a:rPr>
                          <m:t>  </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𝜇</m:t>
                        </m:r>
                      </m:e>
                      <m:sub>
                        <m:r>
                          <a:rPr lang="en-US" sz="1800" i="1">
                            <a:effectLst/>
                            <a:latin typeface="Cambria Math" panose="02040503050406030204" pitchFamily="18" charset="0"/>
                            <a:ea typeface="Yu Mincho" panose="02020400000000000000" pitchFamily="18" charset="-128"/>
                            <a:cs typeface="Times New Roman" panose="02020603050405020304" pitchFamily="18" charset="0"/>
                          </a:rPr>
                          <m:t>𝑡𝑜𝑜𝑙</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 &lt; </m:t>
                        </m:r>
                      </m:sub>
                    </m:sSub>
                    <m:sSub>
                      <m:sSubPr>
                        <m:ctrlPr>
                          <a:rPr lang="en-US" sz="1800"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sz="1800" i="1">
                            <a:effectLst/>
                            <a:latin typeface="Cambria Math" panose="02040503050406030204" pitchFamily="18" charset="0"/>
                            <a:ea typeface="Yu Mincho" panose="02020400000000000000" pitchFamily="18" charset="-128"/>
                            <a:cs typeface="Times New Roman" panose="02020603050405020304" pitchFamily="18" charset="0"/>
                          </a:rPr>
                          <m:t>𝜇</m:t>
                        </m:r>
                      </m:e>
                      <m:sub>
                        <m:r>
                          <a:rPr lang="en-US" sz="1800" i="1">
                            <a:effectLst/>
                            <a:latin typeface="Cambria Math" panose="02040503050406030204" pitchFamily="18" charset="0"/>
                            <a:ea typeface="Yu Mincho" panose="02020400000000000000" pitchFamily="18" charset="-128"/>
                            <a:cs typeface="Times New Roman" panose="02020603050405020304" pitchFamily="18" charset="0"/>
                          </a:rPr>
                          <m:t>𝑜𝑟𝑖𝑔𝑖𝑛𝑎𝑙</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 </m:t>
                        </m:r>
                        <m:d>
                          <m:dPr>
                            <m:ctrlPr>
                              <a:rPr lang="en-US" sz="1800" i="1">
                                <a:effectLst/>
                                <a:latin typeface="Cambria Math" panose="02040503050406030204" pitchFamily="18" charset="0"/>
                                <a:ea typeface="Yu Mincho" panose="02020400000000000000" pitchFamily="18" charset="-128"/>
                                <a:cs typeface="Times New Roman" panose="02020603050405020304" pitchFamily="18" charset="0"/>
                              </a:rPr>
                            </m:ctrlPr>
                          </m:dPr>
                          <m:e>
                            <m:r>
                              <a:rPr lang="en-US" sz="1800" i="1">
                                <a:effectLst/>
                                <a:latin typeface="Cambria Math" panose="02040503050406030204" pitchFamily="18" charset="0"/>
                                <a:ea typeface="Yu Mincho" panose="02020400000000000000" pitchFamily="18" charset="-128"/>
                                <a:cs typeface="Times New Roman" panose="02020603050405020304" pitchFamily="18" charset="0"/>
                              </a:rPr>
                              <m:t>67 </m:t>
                            </m:r>
                            <m:r>
                              <a:rPr lang="en-US" sz="1800" i="1">
                                <a:effectLst/>
                                <a:latin typeface="Cambria Math" panose="02040503050406030204" pitchFamily="18" charset="0"/>
                                <a:ea typeface="Yu Mincho" panose="02020400000000000000" pitchFamily="18" charset="-128"/>
                                <a:cs typeface="Times New Roman" panose="02020603050405020304" pitchFamily="18" charset="0"/>
                              </a:rPr>
                              <m:t>𝑚𝑖𝑛𝑢𝑡𝑒𝑠</m:t>
                            </m:r>
                          </m:e>
                        </m:d>
                      </m:sub>
                    </m:sSub>
                  </m:oMath>
                </a14:m>
                <a:endParaRPr lang="en-US" sz="1800">
                  <a:effectLst/>
                  <a:latin typeface="Aptos" panose="020B0004020202020204" pitchFamily="34" charset="0"/>
                  <a:ea typeface="Yu Mincho" panose="02020400000000000000" pitchFamily="18" charset="-128"/>
                  <a:cs typeface="Arial" panose="020B0604020202020204" pitchFamily="34" charset="0"/>
                </a:endParaRPr>
              </a:p>
              <a:p>
                <a:pPr marL="800100" lvl="1" indent="-342900">
                  <a:lnSpc>
                    <a:spcPct val="150000"/>
                  </a:lnSpc>
                  <a:buFont typeface="Arial" panose="020B0604020202020204" pitchFamily="34" charset="0"/>
                  <a:buChar char="•"/>
                </a:pPr>
                <a:r>
                  <a:rPr lang="en-US">
                    <a:latin typeface="Neue Haas Grotesk Text Pro" panose="020B0504020202020204" pitchFamily="34" charset="77"/>
                    <a:cs typeface="Times New Roman"/>
                  </a:rPr>
                  <a:t>Test Statistic: - 3.37</a:t>
                </a:r>
              </a:p>
              <a:p>
                <a:pPr marL="800100" lvl="1" indent="-342900">
                  <a:lnSpc>
                    <a:spcPct val="150000"/>
                  </a:lnSpc>
                  <a:buFont typeface="Arial" panose="020B0604020202020204" pitchFamily="34" charset="0"/>
                  <a:buChar char="•"/>
                </a:pPr>
                <a:r>
                  <a:rPr lang="en-US">
                    <a:latin typeface="Neue Haas Grotesk Text Pro" panose="020B0504020202020204" pitchFamily="34" charset="77"/>
                    <a:cs typeface="Times New Roman"/>
                  </a:rPr>
                  <a:t>Critical Statistic: - 2.92</a:t>
                </a:r>
              </a:p>
              <a:p>
                <a:pPr marL="800100" lvl="1" indent="-342900">
                  <a:lnSpc>
                    <a:spcPct val="150000"/>
                  </a:lnSpc>
                  <a:buFont typeface="Arial" panose="020B0604020202020204" pitchFamily="34" charset="0"/>
                  <a:buChar char="•"/>
                </a:pPr>
                <a:r>
                  <a:rPr lang="en-US">
                    <a:latin typeface="Neue Haas Grotesk Text Pro" panose="020B0504020202020204" pitchFamily="34" charset="77"/>
                    <a:cs typeface="Times New Roman"/>
                  </a:rPr>
                  <a:t>p-value: 0.039</a:t>
                </a:r>
              </a:p>
              <a:p>
                <a:pPr marL="800100" lvl="1" indent="-342900">
                  <a:lnSpc>
                    <a:spcPct val="150000"/>
                  </a:lnSpc>
                  <a:buFont typeface="Arial" panose="020B0604020202020204" pitchFamily="34" charset="0"/>
                  <a:buChar char="•"/>
                </a:pPr>
                <a:endParaRPr lang="en-US">
                  <a:latin typeface="Neue Haas Grotesk Text Pro" panose="020B0504020202020204" pitchFamily="34" charset="77"/>
                  <a:cs typeface="Times New Roman"/>
                </a:endParaRPr>
              </a:p>
              <a:p>
                <a:pPr marL="800100" lvl="1" indent="-342900">
                  <a:lnSpc>
                    <a:spcPct val="150000"/>
                  </a:lnSpc>
                  <a:buFont typeface="Arial" panose="020B0604020202020204" pitchFamily="34" charset="0"/>
                  <a:buChar char="•"/>
                </a:pPr>
                <a:endParaRPr lang="en-US" sz="1200">
                  <a:latin typeface="Times New Roman"/>
                  <a:cs typeface="Times New Roman"/>
                </a:endParaRPr>
              </a:p>
            </p:txBody>
          </p:sp>
        </mc:Choice>
        <mc:Fallback xmlns="">
          <p:sp>
            <p:nvSpPr>
              <p:cNvPr id="3" name="TextBox 2">
                <a:extLst>
                  <a:ext uri="{FF2B5EF4-FFF2-40B4-BE49-F238E27FC236}">
                    <a16:creationId xmlns:a16="http://schemas.microsoft.com/office/drawing/2014/main" id="{F08A7D18-0023-F320-7B5B-4A5FB7140CB8}"/>
                  </a:ext>
                </a:extLst>
              </p:cNvPr>
              <p:cNvSpPr txBox="1">
                <a:spLocks noRot="1" noChangeAspect="1" noMove="1" noResize="1" noEditPoints="1" noAdjustHandles="1" noChangeArrowheads="1" noChangeShapeType="1" noTextEdit="1"/>
              </p:cNvSpPr>
              <p:nvPr/>
            </p:nvSpPr>
            <p:spPr>
              <a:xfrm>
                <a:off x="947184" y="1755864"/>
                <a:ext cx="7547111" cy="3780202"/>
              </a:xfrm>
              <a:prstGeom prst="rect">
                <a:avLst/>
              </a:prstGeom>
              <a:blipFill>
                <a:blip r:embed="rId3"/>
                <a:stretch>
                  <a:fillRect l="-808"/>
                </a:stretch>
              </a:blipFill>
            </p:spPr>
            <p:txBody>
              <a:bodyPr/>
              <a:lstStyle/>
              <a:p>
                <a:r>
                  <a:rPr lang="en-US">
                    <a:noFill/>
                  </a:rPr>
                  <a:t> </a:t>
                </a:r>
              </a:p>
            </p:txBody>
          </p:sp>
        </mc:Fallback>
      </mc:AlternateContent>
      <p:pic>
        <p:nvPicPr>
          <p:cNvPr id="6" name="Picture 5" descr="A screenshot of a calculator&#10;&#10;Description automatically generated">
            <a:extLst>
              <a:ext uri="{FF2B5EF4-FFF2-40B4-BE49-F238E27FC236}">
                <a16:creationId xmlns:a16="http://schemas.microsoft.com/office/drawing/2014/main" id="{ECFE6E91-4292-3716-3DB5-695E5F78DA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1526" y="2683432"/>
            <a:ext cx="3970374" cy="1491136"/>
          </a:xfrm>
          <a:prstGeom prst="rect">
            <a:avLst/>
          </a:prstGeom>
        </p:spPr>
      </p:pic>
    </p:spTree>
    <p:extLst>
      <p:ext uri="{BB962C8B-B14F-4D97-AF65-F5344CB8AC3E}">
        <p14:creationId xmlns:p14="http://schemas.microsoft.com/office/powerpoint/2010/main" val="897091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832E6-7E4C-6360-39D8-8A2483CAE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BB22F-E2CA-42CB-45B4-986D9C2D0510}"/>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Time study</a:t>
            </a:r>
          </a:p>
        </p:txBody>
      </p:sp>
      <p:sp>
        <p:nvSpPr>
          <p:cNvPr id="8" name="Slide Number Placeholder 7">
            <a:extLst>
              <a:ext uri="{FF2B5EF4-FFF2-40B4-BE49-F238E27FC236}">
                <a16:creationId xmlns:a16="http://schemas.microsoft.com/office/drawing/2014/main" id="{8F188A30-31A0-0EF1-A535-31367E007F32}"/>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19</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F6A4D9C4-BA8C-8133-BB6D-9B18FA1587DC}"/>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5" name="Picture 4" descr="A screenshot of a calendar&#10;&#10;Description automatically generated">
            <a:extLst>
              <a:ext uri="{FF2B5EF4-FFF2-40B4-BE49-F238E27FC236}">
                <a16:creationId xmlns:a16="http://schemas.microsoft.com/office/drawing/2014/main" id="{86A97AD1-960D-4CBA-AFA3-D82B7AE261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74882" y="900681"/>
            <a:ext cx="6617018" cy="5035223"/>
          </a:xfrm>
          <a:prstGeom prst="rect">
            <a:avLst/>
          </a:prstGeom>
        </p:spPr>
      </p:pic>
    </p:spTree>
    <p:extLst>
      <p:ext uri="{BB962C8B-B14F-4D97-AF65-F5344CB8AC3E}">
        <p14:creationId xmlns:p14="http://schemas.microsoft.com/office/powerpoint/2010/main" val="4235186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C57DF-ED27-6219-C208-ED844B681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D0A9B-9242-651C-FC87-C344447BF5EA}"/>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Statistical Analysis</a:t>
            </a:r>
          </a:p>
        </p:txBody>
      </p:sp>
      <p:sp>
        <p:nvSpPr>
          <p:cNvPr id="8" name="Slide Number Placeholder 7">
            <a:extLst>
              <a:ext uri="{FF2B5EF4-FFF2-40B4-BE49-F238E27FC236}">
                <a16:creationId xmlns:a16="http://schemas.microsoft.com/office/drawing/2014/main" id="{19E25544-A6CA-82B7-DC21-0D5354A87E2D}"/>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20</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7CB2AF49-5CF9-8CC6-DFC8-E7155614567C}"/>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7A7F5A3-D666-761E-CD77-3838C727D945}"/>
                  </a:ext>
                </a:extLst>
              </p:cNvPr>
              <p:cNvSpPr txBox="1"/>
              <p:nvPr/>
            </p:nvSpPr>
            <p:spPr>
              <a:xfrm>
                <a:off x="947184" y="1755864"/>
                <a:ext cx="7547111" cy="4078617"/>
              </a:xfrm>
              <a:prstGeom prst="rect">
                <a:avLst/>
              </a:prstGeom>
              <a:noFill/>
            </p:spPr>
            <p:txBody>
              <a:bodyPr wrap="square" lIns="91440" tIns="45720" rIns="91440" bIns="45720" rtlCol="0" anchor="t">
                <a:spAutoFit/>
              </a:bodyPr>
              <a:lstStyle/>
              <a:p>
                <a:pPr>
                  <a:lnSpc>
                    <a:spcPct val="150000"/>
                  </a:lnSpc>
                </a:pPr>
                <a:r>
                  <a:rPr lang="en-US" sz="2000" b="1">
                    <a:latin typeface="Neue Haas Grotesk Text Pro" panose="020B0504020202020204" pitchFamily="34" charset="77"/>
                  </a:rPr>
                  <a:t>Quasi-Statistical Samsara Optimal Route Creation Test</a:t>
                </a:r>
              </a:p>
              <a:p>
                <a:pPr marL="742950" lvl="1" indent="-285750">
                  <a:lnSpc>
                    <a:spcPct val="150000"/>
                  </a:lnSpc>
                  <a:buFont typeface="Arial" panose="020B0604020202020204" pitchFamily="34" charset="0"/>
                  <a:buChar char="•"/>
                </a:pPr>
                <a:r>
                  <a:rPr lang="en-US">
                    <a:latin typeface="Neue Haas Grotesk Text Pro" panose="020B0504020202020204" pitchFamily="34" charset="77"/>
                    <a:cs typeface="Times New Roman"/>
                  </a:rPr>
                  <a:t>Non-Inferiority paired t-test</a:t>
                </a:r>
              </a:p>
              <a:p>
                <a:pPr marL="1200150" lvl="2" indent="-285750">
                  <a:lnSpc>
                    <a:spcPct val="107000"/>
                  </a:lnSpc>
                  <a:spcAft>
                    <a:spcPts val="800"/>
                  </a:spcAft>
                  <a:buFont typeface="Arial" panose="020B0604020202020204" pitchFamily="34" charset="0"/>
                  <a:buChar char="•"/>
                </a:pPr>
                <a14:m>
                  <m:oMath xmlns:m="http://schemas.openxmlformats.org/officeDocument/2006/math">
                    <m:r>
                      <a:rPr lang="en-US" i="1" smtClean="0">
                        <a:effectLst/>
                        <a:latin typeface="Cambria Math" panose="02040503050406030204" pitchFamily="18" charset="0"/>
                        <a:ea typeface="Yu Mincho" panose="02020400000000000000" pitchFamily="18" charset="-128"/>
                        <a:cs typeface="Times New Roman" panose="02020603050405020304" pitchFamily="18" charset="0"/>
                      </a:rPr>
                      <m:t>𝐷</m:t>
                    </m:r>
                    <m:r>
                      <a:rPr lang="en-US" i="1" smtClean="0">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i="1">
                            <a:effectLst/>
                            <a:latin typeface="Cambria Math" panose="02040503050406030204" pitchFamily="18" charset="0"/>
                            <a:ea typeface="Yu Mincho" panose="02020400000000000000" pitchFamily="18" charset="-128"/>
                            <a:cs typeface="Times New Roman" panose="02020603050405020304" pitchFamily="18" charset="0"/>
                          </a:rPr>
                          <m:t>𝑀𝑖𝑙𝑒𝑠</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𝑆𝑎𝑚𝑠𝑎𝑟𝑎</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m:t>
                    </m:r>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func>
                          <m:func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funcPr>
                          <m:fName>
                            <m:r>
                              <m:rPr>
                                <m:sty m:val="p"/>
                              </m:rPr>
                              <a:rPr lang="en-US">
                                <a:effectLst/>
                                <a:latin typeface="Cambria Math" panose="02040503050406030204" pitchFamily="18" charset="0"/>
                                <a:ea typeface="Yu Mincho" panose="02020400000000000000" pitchFamily="18" charset="-128"/>
                                <a:cs typeface="Times New Roman" panose="02020603050405020304" pitchFamily="18" charset="0"/>
                              </a:rPr>
                              <m:t>min</m:t>
                            </m:r>
                          </m:fName>
                          <m:e>
                            <m:r>
                              <a:rPr lang="en-US" i="1">
                                <a:effectLst/>
                                <a:latin typeface="Cambria Math" panose="02040503050406030204" pitchFamily="18" charset="0"/>
                                <a:ea typeface="Yu Mincho" panose="02020400000000000000" pitchFamily="18" charset="-128"/>
                                <a:cs typeface="Times New Roman" panose="02020603050405020304" pitchFamily="18" charset="0"/>
                              </a:rPr>
                              <m:t>[</m:t>
                            </m:r>
                          </m:e>
                        </m:func>
                        <m:r>
                          <a:rPr lang="en-US" i="1">
                            <a:effectLst/>
                            <a:latin typeface="Cambria Math" panose="02040503050406030204" pitchFamily="18" charset="0"/>
                            <a:ea typeface="Yu Mincho" panose="02020400000000000000" pitchFamily="18" charset="-128"/>
                            <a:cs typeface="Times New Roman" panose="02020603050405020304" pitchFamily="18" charset="0"/>
                          </a:rPr>
                          <m:t>𝑀𝑖𝑙𝑒𝑠</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𝑂𝑝𝑡𝑖𝑚𝑎𝑙</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m:t>
                    </m:r>
                  </m:oMath>
                </a14:m>
                <a:endParaRPr lang="en-US" i="1">
                  <a:effectLst/>
                  <a:latin typeface="Neue Haas Grotesk Text Pro" panose="020B0504020202020204" pitchFamily="34" charset="77"/>
                  <a:ea typeface="Yu Mincho" panose="02020400000000000000" pitchFamily="18" charset="-128"/>
                  <a:cs typeface="Times New Roman" panose="02020603050405020304" pitchFamily="18" charset="0"/>
                </a:endParaRPr>
              </a:p>
              <a:p>
                <a:pPr marL="1200150" lvl="2" indent="-285750">
                  <a:lnSpc>
                    <a:spcPct val="107000"/>
                  </a:lnSpc>
                  <a:spcAft>
                    <a:spcPts val="800"/>
                  </a:spcAft>
                  <a:buFont typeface="Arial" panose="020B0604020202020204" pitchFamily="34" charset="0"/>
                  <a:buChar char="•"/>
                </a:pPr>
                <a14:m>
                  <m:oMath xmlns:m="http://schemas.openxmlformats.org/officeDocument/2006/math">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i="1">
                            <a:effectLst/>
                            <a:latin typeface="Cambria Math" panose="02040503050406030204" pitchFamily="18" charset="0"/>
                            <a:ea typeface="Yu Mincho" panose="02020400000000000000" pitchFamily="18" charset="-128"/>
                            <a:cs typeface="Times New Roman" panose="02020603050405020304" pitchFamily="18" charset="0"/>
                          </a:rPr>
                          <m:t>𝑀</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𝑁𝐼</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=2 </m:t>
                    </m:r>
                    <m:r>
                      <a:rPr lang="en-US" i="1">
                        <a:effectLst/>
                        <a:latin typeface="Cambria Math" panose="02040503050406030204" pitchFamily="18" charset="0"/>
                        <a:ea typeface="Yu Mincho" panose="02020400000000000000" pitchFamily="18" charset="-128"/>
                        <a:cs typeface="Times New Roman" panose="02020603050405020304" pitchFamily="18" charset="0"/>
                      </a:rPr>
                      <m:t>𝑚𝑖𝑙𝑒𝑠</m:t>
                    </m:r>
                  </m:oMath>
                </a14:m>
                <a:endParaRPr lang="en-US">
                  <a:effectLst/>
                  <a:latin typeface="Neue Haas Grotesk Text Pro" panose="020B0504020202020204" pitchFamily="34" charset="77"/>
                  <a:ea typeface="Yu Mincho" panose="02020400000000000000" pitchFamily="18" charset="-128"/>
                  <a:cs typeface="Arial" panose="020B0604020202020204" pitchFamily="34" charset="0"/>
                </a:endParaRPr>
              </a:p>
              <a:p>
                <a:pPr marL="1200150" lvl="2" indent="-285750">
                  <a:lnSpc>
                    <a:spcPct val="107000"/>
                  </a:lnSpc>
                  <a:spcAft>
                    <a:spcPts val="800"/>
                  </a:spcAft>
                  <a:buFont typeface="Arial" panose="020B0604020202020204" pitchFamily="34" charset="0"/>
                  <a:buChar char="•"/>
                </a:pPr>
                <a14:m>
                  <m:oMath xmlns:m="http://schemas.openxmlformats.org/officeDocument/2006/math">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i="1">
                            <a:effectLst/>
                            <a:latin typeface="Cambria Math" panose="02040503050406030204" pitchFamily="18" charset="0"/>
                            <a:ea typeface="Yu Mincho" panose="02020400000000000000" pitchFamily="18" charset="-128"/>
                            <a:cs typeface="Times New Roman" panose="02020603050405020304" pitchFamily="18" charset="0"/>
                          </a:rPr>
                          <m:t>𝐻</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0</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 </m:t>
                    </m:r>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i="1">
                            <a:effectLst/>
                            <a:latin typeface="Cambria Math" panose="02040503050406030204" pitchFamily="18" charset="0"/>
                            <a:ea typeface="Yu Mincho" panose="02020400000000000000" pitchFamily="18" charset="-128"/>
                            <a:cs typeface="Times New Roman" panose="02020603050405020304" pitchFamily="18" charset="0"/>
                          </a:rPr>
                          <m:t>𝜇</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𝐷</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≥2 </m:t>
                    </m:r>
                    <m:r>
                      <a:rPr lang="en-US" i="1">
                        <a:effectLst/>
                        <a:latin typeface="Cambria Math" panose="02040503050406030204" pitchFamily="18" charset="0"/>
                        <a:ea typeface="Yu Mincho" panose="02020400000000000000" pitchFamily="18" charset="-128"/>
                        <a:cs typeface="Times New Roman" panose="02020603050405020304" pitchFamily="18" charset="0"/>
                      </a:rPr>
                      <m:t>𝑚𝑖𝑙𝑒𝑠</m:t>
                    </m:r>
                  </m:oMath>
                </a14:m>
                <a:endParaRPr lang="en-US">
                  <a:effectLst/>
                  <a:latin typeface="Neue Haas Grotesk Text Pro" panose="020B0504020202020204" pitchFamily="34" charset="77"/>
                  <a:ea typeface="Yu Mincho" panose="02020400000000000000" pitchFamily="18" charset="-128"/>
                  <a:cs typeface="Arial" panose="020B0604020202020204" pitchFamily="34" charset="0"/>
                </a:endParaRPr>
              </a:p>
              <a:p>
                <a:pPr marL="1200150" lvl="2" indent="-285750">
                  <a:lnSpc>
                    <a:spcPct val="107000"/>
                  </a:lnSpc>
                  <a:spcAft>
                    <a:spcPts val="800"/>
                  </a:spcAft>
                  <a:buFont typeface="Arial" panose="020B0604020202020204" pitchFamily="34" charset="0"/>
                  <a:buChar char="•"/>
                </a:pPr>
                <a14:m>
                  <m:oMath xmlns:m="http://schemas.openxmlformats.org/officeDocument/2006/math">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i="1">
                            <a:effectLst/>
                            <a:latin typeface="Cambria Math" panose="02040503050406030204" pitchFamily="18" charset="0"/>
                            <a:ea typeface="Yu Mincho" panose="02020400000000000000" pitchFamily="18" charset="-128"/>
                            <a:cs typeface="Times New Roman" panose="02020603050405020304" pitchFamily="18" charset="0"/>
                          </a:rPr>
                          <m:t>𝐻</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1</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 </m:t>
                    </m:r>
                    <m:sSub>
                      <m:sSubPr>
                        <m:ctrlPr>
                          <a:rPr lang="en-US" i="1">
                            <a:effectLst/>
                            <a:latin typeface="Cambria Math" panose="02040503050406030204" pitchFamily="18" charset="0"/>
                            <a:ea typeface="Yu Mincho" panose="02020400000000000000" pitchFamily="18" charset="-128"/>
                            <a:cs typeface="Times New Roman" panose="02020603050405020304" pitchFamily="18" charset="0"/>
                          </a:rPr>
                        </m:ctrlPr>
                      </m:sSubPr>
                      <m:e>
                        <m:r>
                          <a:rPr lang="en-US" i="1">
                            <a:effectLst/>
                            <a:latin typeface="Cambria Math" panose="02040503050406030204" pitchFamily="18" charset="0"/>
                            <a:ea typeface="Yu Mincho" panose="02020400000000000000" pitchFamily="18" charset="-128"/>
                            <a:cs typeface="Times New Roman" panose="02020603050405020304" pitchFamily="18" charset="0"/>
                          </a:rPr>
                          <m:t>𝜇</m:t>
                        </m:r>
                      </m:e>
                      <m:sub>
                        <m:r>
                          <a:rPr lang="en-US" i="1">
                            <a:effectLst/>
                            <a:latin typeface="Cambria Math" panose="02040503050406030204" pitchFamily="18" charset="0"/>
                            <a:ea typeface="Yu Mincho" panose="02020400000000000000" pitchFamily="18" charset="-128"/>
                            <a:cs typeface="Times New Roman" panose="02020603050405020304" pitchFamily="18" charset="0"/>
                          </a:rPr>
                          <m:t>𝐷</m:t>
                        </m:r>
                      </m:sub>
                    </m:sSub>
                    <m:r>
                      <a:rPr lang="en-US" i="1">
                        <a:effectLst/>
                        <a:latin typeface="Cambria Math" panose="02040503050406030204" pitchFamily="18" charset="0"/>
                        <a:ea typeface="Yu Mincho" panose="02020400000000000000" pitchFamily="18" charset="-128"/>
                        <a:cs typeface="Times New Roman" panose="02020603050405020304" pitchFamily="18" charset="0"/>
                      </a:rPr>
                      <m:t>&lt;2 </m:t>
                    </m:r>
                    <m:r>
                      <a:rPr lang="en-US" i="1">
                        <a:effectLst/>
                        <a:latin typeface="Cambria Math" panose="02040503050406030204" pitchFamily="18" charset="0"/>
                        <a:ea typeface="Yu Mincho" panose="02020400000000000000" pitchFamily="18" charset="-128"/>
                        <a:cs typeface="Times New Roman" panose="02020603050405020304" pitchFamily="18" charset="0"/>
                      </a:rPr>
                      <m:t>𝑚𝑖𝑙𝑒𝑠</m:t>
                    </m:r>
                  </m:oMath>
                </a14:m>
                <a:endParaRPr lang="en-US">
                  <a:latin typeface="Neue Haas Grotesk Text Pro" panose="020B0504020202020204" pitchFamily="34" charset="77"/>
                  <a:cs typeface="Times New Roman"/>
                </a:endParaRPr>
              </a:p>
              <a:p>
                <a:pPr marL="742950" lvl="1" indent="-285750">
                  <a:lnSpc>
                    <a:spcPct val="150000"/>
                  </a:lnSpc>
                  <a:buFont typeface="Arial" panose="020B0604020202020204" pitchFamily="34" charset="0"/>
                  <a:buChar char="•"/>
                </a:pPr>
                <a:r>
                  <a:rPr lang="en-US">
                    <a:latin typeface="Neue Haas Grotesk Text Pro" panose="020B0504020202020204" pitchFamily="34" charset="77"/>
                    <a:cs typeface="Times New Roman"/>
                  </a:rPr>
                  <a:t>Test Statistic: - 5.47 </a:t>
                </a:r>
              </a:p>
              <a:p>
                <a:pPr marL="742950" lvl="1" indent="-285750">
                  <a:lnSpc>
                    <a:spcPct val="150000"/>
                  </a:lnSpc>
                  <a:buFont typeface="Arial" panose="020B0604020202020204" pitchFamily="34" charset="0"/>
                  <a:buChar char="•"/>
                </a:pPr>
                <a:r>
                  <a:rPr lang="en-US">
                    <a:latin typeface="Neue Haas Grotesk Text Pro" panose="020B0504020202020204" pitchFamily="34" charset="77"/>
                    <a:cs typeface="Times New Roman"/>
                  </a:rPr>
                  <a:t>Critical Statistic: - 1.685</a:t>
                </a:r>
              </a:p>
              <a:p>
                <a:pPr marL="742950" lvl="1" indent="-285750">
                  <a:lnSpc>
                    <a:spcPct val="150000"/>
                  </a:lnSpc>
                  <a:buFont typeface="Arial" panose="020B0604020202020204" pitchFamily="34" charset="0"/>
                  <a:buChar char="•"/>
                </a:pPr>
                <a:r>
                  <a:rPr lang="en-US">
                    <a:latin typeface="Neue Haas Grotesk Text Pro" panose="020B0504020202020204" pitchFamily="34" charset="77"/>
                    <a:cs typeface="Times New Roman"/>
                  </a:rPr>
                  <a:t>p-value: </a:t>
                </a:r>
                <a:r>
                  <a:rPr lang="en-US" sz="1800">
                    <a:solidFill>
                      <a:srgbClr val="000000"/>
                    </a:solidFill>
                    <a:effectLst/>
                    <a:latin typeface="Neue Haas Grotesk Text Pro" panose="020B0504020202020204" pitchFamily="34" charset="77"/>
                    <a:ea typeface="Times New Roman" panose="02020603050405020304" pitchFamily="18" charset="0"/>
                  </a:rPr>
                  <a:t>1.6 x 10</a:t>
                </a:r>
                <a:r>
                  <a:rPr lang="en-US" baseline="30000">
                    <a:solidFill>
                      <a:srgbClr val="000000"/>
                    </a:solidFill>
                    <a:latin typeface="Neue Haas Grotesk Text Pro" panose="020B0504020202020204" pitchFamily="34" charset="77"/>
                    <a:ea typeface="Times New Roman" panose="02020603050405020304" pitchFamily="18" charset="0"/>
                  </a:rPr>
                  <a:t>-6</a:t>
                </a:r>
                <a:endParaRPr lang="en-US">
                  <a:effectLst/>
                  <a:latin typeface="Neue Haas Grotesk Text Pro" panose="020B0504020202020204" pitchFamily="34" charset="77"/>
                  <a:ea typeface="Yu Mincho" panose="02020400000000000000" pitchFamily="18" charset="-128"/>
                  <a:cs typeface="Arial" panose="020B0604020202020204" pitchFamily="34" charset="0"/>
                </a:endParaRPr>
              </a:p>
              <a:p>
                <a:pPr marL="1257300" lvl="2" indent="-342900">
                  <a:lnSpc>
                    <a:spcPct val="150000"/>
                  </a:lnSpc>
                  <a:buFont typeface="Arial" panose="020B0604020202020204" pitchFamily="34" charset="0"/>
                  <a:buChar char="•"/>
                </a:pPr>
                <a:endParaRPr lang="en-US" sz="1200">
                  <a:latin typeface="Times New Roman"/>
                  <a:cs typeface="Times New Roman"/>
                </a:endParaRPr>
              </a:p>
            </p:txBody>
          </p:sp>
        </mc:Choice>
        <mc:Fallback xmlns="">
          <p:sp>
            <p:nvSpPr>
              <p:cNvPr id="3" name="TextBox 2">
                <a:extLst>
                  <a:ext uri="{FF2B5EF4-FFF2-40B4-BE49-F238E27FC236}">
                    <a16:creationId xmlns:a16="http://schemas.microsoft.com/office/drawing/2014/main" id="{57A7F5A3-D666-761E-CD77-3838C727D945}"/>
                  </a:ext>
                </a:extLst>
              </p:cNvPr>
              <p:cNvSpPr txBox="1">
                <a:spLocks noRot="1" noChangeAspect="1" noMove="1" noResize="1" noEditPoints="1" noAdjustHandles="1" noChangeArrowheads="1" noChangeShapeType="1" noTextEdit="1"/>
              </p:cNvSpPr>
              <p:nvPr/>
            </p:nvSpPr>
            <p:spPr>
              <a:xfrm>
                <a:off x="947184" y="1755864"/>
                <a:ext cx="7547111" cy="4078617"/>
              </a:xfrm>
              <a:prstGeom prst="rect">
                <a:avLst/>
              </a:prstGeom>
              <a:blipFill>
                <a:blip r:embed="rId3"/>
                <a:stretch>
                  <a:fillRect l="-808"/>
                </a:stretch>
              </a:blipFill>
            </p:spPr>
            <p:txBody>
              <a:bodyPr/>
              <a:lstStyle/>
              <a:p>
                <a:r>
                  <a:rPr lang="en-US">
                    <a:noFill/>
                  </a:rPr>
                  <a:t> </a:t>
                </a:r>
              </a:p>
            </p:txBody>
          </p:sp>
        </mc:Fallback>
      </mc:AlternateContent>
      <p:pic>
        <p:nvPicPr>
          <p:cNvPr id="6" name="Picture 5" descr="A mathematical equation with black text&#10;&#10;Description automatically generated">
            <a:extLst>
              <a:ext uri="{FF2B5EF4-FFF2-40B4-BE49-F238E27FC236}">
                <a16:creationId xmlns:a16="http://schemas.microsoft.com/office/drawing/2014/main" id="{04D17D2A-0AEB-96AC-3F99-FEDE2A3FA8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6980" y="2086887"/>
            <a:ext cx="2136261" cy="1049522"/>
          </a:xfrm>
          <a:prstGeom prst="rect">
            <a:avLst/>
          </a:prstGeom>
        </p:spPr>
      </p:pic>
      <p:pic>
        <p:nvPicPr>
          <p:cNvPr id="7" name="Picture 6" descr="A date and date of the day&#10;&#10;Description automatically generated with medium confidence">
            <a:extLst>
              <a:ext uri="{FF2B5EF4-FFF2-40B4-BE49-F238E27FC236}">
                <a16:creationId xmlns:a16="http://schemas.microsoft.com/office/drawing/2014/main" id="{ECDB04F4-33B5-DE7F-F890-427CB5D025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5266" y="3474363"/>
            <a:ext cx="5285207" cy="854729"/>
          </a:xfrm>
          <a:prstGeom prst="rect">
            <a:avLst/>
          </a:prstGeom>
        </p:spPr>
      </p:pic>
      <p:pic>
        <p:nvPicPr>
          <p:cNvPr id="9" name="Picture 8" descr="A calendar with a date and date&#10;&#10;Description automatically generated with medium confidence">
            <a:extLst>
              <a:ext uri="{FF2B5EF4-FFF2-40B4-BE49-F238E27FC236}">
                <a16:creationId xmlns:a16="http://schemas.microsoft.com/office/drawing/2014/main" id="{803E5AEC-2376-A933-24FC-EA80E2EE79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95266" y="4554854"/>
            <a:ext cx="6528220" cy="813066"/>
          </a:xfrm>
          <a:prstGeom prst="rect">
            <a:avLst/>
          </a:prstGeom>
        </p:spPr>
      </p:pic>
    </p:spTree>
    <p:extLst>
      <p:ext uri="{BB962C8B-B14F-4D97-AF65-F5344CB8AC3E}">
        <p14:creationId xmlns:p14="http://schemas.microsoft.com/office/powerpoint/2010/main" val="1714411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8BDD-28B0-7E86-A520-69F01F359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7B0EBC-F88F-6229-965F-D27C09FA6146}"/>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MILEAGE</a:t>
            </a:r>
          </a:p>
        </p:txBody>
      </p:sp>
      <p:sp>
        <p:nvSpPr>
          <p:cNvPr id="8" name="Slide Number Placeholder 7">
            <a:extLst>
              <a:ext uri="{FF2B5EF4-FFF2-40B4-BE49-F238E27FC236}">
                <a16:creationId xmlns:a16="http://schemas.microsoft.com/office/drawing/2014/main" id="{6A19EB89-8865-E273-F155-5F23E88FDD41}"/>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21</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57B0C60F-707A-4DB7-0145-2100C72A5326}"/>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3" name="Picture 2" descr="A screenshot of a truck&#10;&#10;Description automatically generated">
            <a:extLst>
              <a:ext uri="{FF2B5EF4-FFF2-40B4-BE49-F238E27FC236}">
                <a16:creationId xmlns:a16="http://schemas.microsoft.com/office/drawing/2014/main" id="{9EFD3A42-3464-18E7-E846-2DBA80B668B4}"/>
              </a:ext>
            </a:extLst>
          </p:cNvPr>
          <p:cNvPicPr>
            <a:picLocks noChangeAspect="1"/>
          </p:cNvPicPr>
          <p:nvPr/>
        </p:nvPicPr>
        <p:blipFill rotWithShape="1">
          <a:blip r:embed="rId3">
            <a:extLst>
              <a:ext uri="{28A0092B-C50C-407E-A947-70E740481C1C}">
                <a14:useLocalDpi xmlns:a14="http://schemas.microsoft.com/office/drawing/2010/main" val="0"/>
              </a:ext>
            </a:extLst>
          </a:blip>
          <a:srcRect b="1293"/>
          <a:stretch/>
        </p:blipFill>
        <p:spPr bwMode="auto">
          <a:xfrm>
            <a:off x="1264134" y="1818648"/>
            <a:ext cx="9564265" cy="322070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86782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34460-2F5D-6C96-54A1-00F49C03B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A7126-7021-7F7D-2A66-D717C4129AA5}"/>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Driver utilization</a:t>
            </a:r>
          </a:p>
        </p:txBody>
      </p:sp>
      <p:sp>
        <p:nvSpPr>
          <p:cNvPr id="8" name="Slide Number Placeholder 7">
            <a:extLst>
              <a:ext uri="{FF2B5EF4-FFF2-40B4-BE49-F238E27FC236}">
                <a16:creationId xmlns:a16="http://schemas.microsoft.com/office/drawing/2014/main" id="{01E80B8A-7B6F-D497-0FDB-FF39E0D43863}"/>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22</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C0ABCBC3-0C6C-D79B-58B6-A1CC529589F5}"/>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3" name="Picture 2" descr="A screenshot of a graph&#10;&#10;Description automatically generated">
            <a:extLst>
              <a:ext uri="{FF2B5EF4-FFF2-40B4-BE49-F238E27FC236}">
                <a16:creationId xmlns:a16="http://schemas.microsoft.com/office/drawing/2014/main" id="{2F2FD049-789F-6DBC-B092-91020D1A3B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5377" y="2690940"/>
            <a:ext cx="5274914" cy="1873935"/>
          </a:xfrm>
          <a:prstGeom prst="rect">
            <a:avLst/>
          </a:prstGeom>
        </p:spPr>
      </p:pic>
      <p:pic>
        <p:nvPicPr>
          <p:cNvPr id="6" name="Picture 5" descr="A screenshot of a graph&#10;&#10;Description automatically generated">
            <a:extLst>
              <a:ext uri="{FF2B5EF4-FFF2-40B4-BE49-F238E27FC236}">
                <a16:creationId xmlns:a16="http://schemas.microsoft.com/office/drawing/2014/main" id="{085906F2-1EDD-F7A3-B524-EED5771A23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00346" y="2690940"/>
            <a:ext cx="5136997" cy="1873935"/>
          </a:xfrm>
          <a:prstGeom prst="rect">
            <a:avLst/>
          </a:prstGeom>
        </p:spPr>
      </p:pic>
    </p:spTree>
    <p:extLst>
      <p:ext uri="{BB962C8B-B14F-4D97-AF65-F5344CB8AC3E}">
        <p14:creationId xmlns:p14="http://schemas.microsoft.com/office/powerpoint/2010/main" val="1883629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3F388-82D2-66AE-297B-544917CF68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93CA9-4D45-2F0F-4CB3-50FCEC6BA003}"/>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SOP-001: Client Record Pivot Tool</a:t>
            </a:r>
          </a:p>
        </p:txBody>
      </p:sp>
      <p:sp>
        <p:nvSpPr>
          <p:cNvPr id="8" name="Slide Number Placeholder 7">
            <a:extLst>
              <a:ext uri="{FF2B5EF4-FFF2-40B4-BE49-F238E27FC236}">
                <a16:creationId xmlns:a16="http://schemas.microsoft.com/office/drawing/2014/main" id="{334A27CF-E9F3-4912-6E82-B95F3F76BEDD}"/>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23</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8D05FAA7-6A7C-DE18-0935-666D848DD4B2}"/>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7" name="Picture 6" descr="A screenshot of a computer&#10;&#10;Description automatically generated">
            <a:extLst>
              <a:ext uri="{FF2B5EF4-FFF2-40B4-BE49-F238E27FC236}">
                <a16:creationId xmlns:a16="http://schemas.microsoft.com/office/drawing/2014/main" id="{C5146AB8-1E07-18A9-D3D5-27B481C75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6717" y="1782708"/>
            <a:ext cx="5758566" cy="4153196"/>
          </a:xfrm>
          <a:prstGeom prst="rect">
            <a:avLst/>
          </a:prstGeom>
        </p:spPr>
      </p:pic>
    </p:spTree>
    <p:extLst>
      <p:ext uri="{BB962C8B-B14F-4D97-AF65-F5344CB8AC3E}">
        <p14:creationId xmlns:p14="http://schemas.microsoft.com/office/powerpoint/2010/main" val="2609622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A10DC-0E7D-685D-890A-D3A6F0AE4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404FC-8D11-AA6D-8679-D282B198413F}"/>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SOP-002: Google Form</a:t>
            </a:r>
          </a:p>
        </p:txBody>
      </p:sp>
      <p:sp>
        <p:nvSpPr>
          <p:cNvPr id="8" name="Slide Number Placeholder 7">
            <a:extLst>
              <a:ext uri="{FF2B5EF4-FFF2-40B4-BE49-F238E27FC236}">
                <a16:creationId xmlns:a16="http://schemas.microsoft.com/office/drawing/2014/main" id="{96DDC5F8-3FA0-18C2-73F4-33AF4A3F5EAF}"/>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24</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810DFDF8-0FCC-522D-FA15-36A00032623F}"/>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5" name="Picture 4" descr="A screenshot of a computer&#10;&#10;Description automatically generated">
            <a:extLst>
              <a:ext uri="{FF2B5EF4-FFF2-40B4-BE49-F238E27FC236}">
                <a16:creationId xmlns:a16="http://schemas.microsoft.com/office/drawing/2014/main" id="{4448FFD5-62DF-264B-EDAD-881F18B62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468" y="1576132"/>
            <a:ext cx="7391063" cy="4362114"/>
          </a:xfrm>
          <a:prstGeom prst="rect">
            <a:avLst/>
          </a:prstGeom>
        </p:spPr>
      </p:pic>
    </p:spTree>
    <p:extLst>
      <p:ext uri="{BB962C8B-B14F-4D97-AF65-F5344CB8AC3E}">
        <p14:creationId xmlns:p14="http://schemas.microsoft.com/office/powerpoint/2010/main" val="3668758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C9B6D-5C63-5FF7-4216-36C23F6B9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4CE9F-689A-601F-9C47-E47B6CC7E905}"/>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SOP-003: </a:t>
            </a:r>
            <a:r>
              <a:rPr lang="en-US" sz="3600" b="1" err="1">
                <a:solidFill>
                  <a:schemeClr val="tx1">
                    <a:lumMod val="65000"/>
                    <a:lumOff val="35000"/>
                  </a:schemeClr>
                </a:solidFill>
                <a:latin typeface="Neue Haas Grotesk Text Pro" panose="020B0504020202020204" pitchFamily="34" charset="77"/>
              </a:rPr>
              <a:t>MyMaps</a:t>
            </a:r>
            <a:endParaRPr lang="en-US" sz="3600" b="1">
              <a:solidFill>
                <a:schemeClr val="tx1">
                  <a:lumMod val="65000"/>
                  <a:lumOff val="35000"/>
                </a:schemeClr>
              </a:solidFill>
              <a:latin typeface="Neue Haas Grotesk Text Pro" panose="020B0504020202020204" pitchFamily="34" charset="77"/>
            </a:endParaRPr>
          </a:p>
        </p:txBody>
      </p:sp>
      <p:sp>
        <p:nvSpPr>
          <p:cNvPr id="8" name="Slide Number Placeholder 7">
            <a:extLst>
              <a:ext uri="{FF2B5EF4-FFF2-40B4-BE49-F238E27FC236}">
                <a16:creationId xmlns:a16="http://schemas.microsoft.com/office/drawing/2014/main" id="{79439840-4484-C8A0-5D56-06C499359027}"/>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25</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05E435F0-B32C-3C7B-53DA-832786330636}"/>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6" name="Picture 5" descr="A screenshot of a computer&#10;&#10;Description automatically generated">
            <a:extLst>
              <a:ext uri="{FF2B5EF4-FFF2-40B4-BE49-F238E27FC236}">
                <a16:creationId xmlns:a16="http://schemas.microsoft.com/office/drawing/2014/main" id="{65226FC3-DDB4-C73D-C84C-F8D0B72B3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3274" y="1556776"/>
            <a:ext cx="5625451" cy="5129088"/>
          </a:xfrm>
          <a:prstGeom prst="rect">
            <a:avLst/>
          </a:prstGeom>
        </p:spPr>
      </p:pic>
    </p:spTree>
    <p:extLst>
      <p:ext uri="{BB962C8B-B14F-4D97-AF65-F5344CB8AC3E}">
        <p14:creationId xmlns:p14="http://schemas.microsoft.com/office/powerpoint/2010/main" val="2857787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E1379-2181-AF46-9EB5-6CDF92B15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023A3-974D-0B28-25AD-5D8CD6A939F0}"/>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SOP-004: Power BI Dashboard</a:t>
            </a:r>
          </a:p>
        </p:txBody>
      </p:sp>
      <p:sp>
        <p:nvSpPr>
          <p:cNvPr id="8" name="Slide Number Placeholder 7">
            <a:extLst>
              <a:ext uri="{FF2B5EF4-FFF2-40B4-BE49-F238E27FC236}">
                <a16:creationId xmlns:a16="http://schemas.microsoft.com/office/drawing/2014/main" id="{0A6282CA-BEB7-DBA8-B70D-CC14A8A48023}"/>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26</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1C945FB0-5690-4DAE-E055-F6B4C2D268B8}"/>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5" name="Picture 4" descr="A screenshot of a computer&#10;&#10;Description automatically generated">
            <a:extLst>
              <a:ext uri="{FF2B5EF4-FFF2-40B4-BE49-F238E27FC236}">
                <a16:creationId xmlns:a16="http://schemas.microsoft.com/office/drawing/2014/main" id="{DE1A448A-DB5F-1B4A-8BD1-4E5383885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6651" y="1607611"/>
            <a:ext cx="5799232" cy="5208493"/>
          </a:xfrm>
          <a:prstGeom prst="rect">
            <a:avLst/>
          </a:prstGeom>
        </p:spPr>
      </p:pic>
    </p:spTree>
    <p:extLst>
      <p:ext uri="{BB962C8B-B14F-4D97-AF65-F5344CB8AC3E}">
        <p14:creationId xmlns:p14="http://schemas.microsoft.com/office/powerpoint/2010/main" val="1780455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1DBF-EABE-1F91-B6D7-9A67D1B63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97ADC-FE95-4B9E-2481-72036D625A9F}"/>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SOP-005: Driver / management SOP</a:t>
            </a:r>
          </a:p>
        </p:txBody>
      </p:sp>
      <p:sp>
        <p:nvSpPr>
          <p:cNvPr id="8" name="Slide Number Placeholder 7">
            <a:extLst>
              <a:ext uri="{FF2B5EF4-FFF2-40B4-BE49-F238E27FC236}">
                <a16:creationId xmlns:a16="http://schemas.microsoft.com/office/drawing/2014/main" id="{892E73E6-FAF9-E0EA-1288-8E3B5AD0FAF8}"/>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27</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93973C75-9F15-1DFB-928D-D999FEF6EE5B}"/>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6" name="Picture 5" descr="A screenshot of a document&#10;&#10;Description automatically generated">
            <a:extLst>
              <a:ext uri="{FF2B5EF4-FFF2-40B4-BE49-F238E27FC236}">
                <a16:creationId xmlns:a16="http://schemas.microsoft.com/office/drawing/2014/main" id="{1A572385-4709-0ED0-2FA1-211BC0694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5972" y="1607611"/>
            <a:ext cx="6060590" cy="4825196"/>
          </a:xfrm>
          <a:prstGeom prst="rect">
            <a:avLst/>
          </a:prstGeom>
        </p:spPr>
      </p:pic>
    </p:spTree>
    <p:extLst>
      <p:ext uri="{BB962C8B-B14F-4D97-AF65-F5344CB8AC3E}">
        <p14:creationId xmlns:p14="http://schemas.microsoft.com/office/powerpoint/2010/main" val="4138765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42F90-2212-3465-B882-E6B3DE8B9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4BF4A-97CF-4805-DD32-B6E4358E4CAC}"/>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Feedback form</a:t>
            </a:r>
          </a:p>
        </p:txBody>
      </p:sp>
      <p:sp>
        <p:nvSpPr>
          <p:cNvPr id="8" name="Slide Number Placeholder 7">
            <a:extLst>
              <a:ext uri="{FF2B5EF4-FFF2-40B4-BE49-F238E27FC236}">
                <a16:creationId xmlns:a16="http://schemas.microsoft.com/office/drawing/2014/main" id="{63FEE424-DEF4-AB5C-3A99-033161A54BBE}"/>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28</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0FC57167-1195-0AFC-746E-4A3B18F94961}"/>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3" name="Picture 2" descr="A screenshot of a survey&#10;&#10;Description automatically generated">
            <a:extLst>
              <a:ext uri="{FF2B5EF4-FFF2-40B4-BE49-F238E27FC236}">
                <a16:creationId xmlns:a16="http://schemas.microsoft.com/office/drawing/2014/main" id="{CD9280DF-90A4-6756-D8E6-2D818D920BB9}"/>
              </a:ext>
            </a:extLst>
          </p:cNvPr>
          <p:cNvPicPr/>
          <p:nvPr/>
        </p:nvPicPr>
        <p:blipFill>
          <a:blip r:embed="rId3"/>
          <a:stretch>
            <a:fillRect/>
          </a:stretch>
        </p:blipFill>
        <p:spPr>
          <a:xfrm>
            <a:off x="3699872" y="1608737"/>
            <a:ext cx="4692790" cy="4327167"/>
          </a:xfrm>
          <a:prstGeom prst="rect">
            <a:avLst/>
          </a:prstGeom>
        </p:spPr>
      </p:pic>
    </p:spTree>
    <p:extLst>
      <p:ext uri="{BB962C8B-B14F-4D97-AF65-F5344CB8AC3E}">
        <p14:creationId xmlns:p14="http://schemas.microsoft.com/office/powerpoint/2010/main" val="4066942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13587-5248-6449-29A8-40D1E0879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D3BBD-217C-F67D-2176-04A66FDC283D}"/>
              </a:ext>
            </a:extLst>
          </p:cNvPr>
          <p:cNvSpPr>
            <a:spLocks noGrp="1"/>
          </p:cNvSpPr>
          <p:nvPr>
            <p:ph type="title"/>
          </p:nvPr>
        </p:nvSpPr>
        <p:spPr/>
        <p:txBody>
          <a:bodyPr>
            <a:normAutofit/>
          </a:bodyPr>
          <a:lstStyle/>
          <a:p>
            <a:r>
              <a:rPr lang="en-US" sz="3600" b="1">
                <a:solidFill>
                  <a:schemeClr val="tx1">
                    <a:lumMod val="65000"/>
                    <a:lumOff val="35000"/>
                  </a:schemeClr>
                </a:solidFill>
                <a:latin typeface="Neue Haas Grotesk Text Pro" panose="020B0504020202020204" pitchFamily="34" charset="77"/>
              </a:rPr>
              <a:t>Feedback form</a:t>
            </a:r>
          </a:p>
        </p:txBody>
      </p:sp>
      <p:sp>
        <p:nvSpPr>
          <p:cNvPr id="8" name="Slide Number Placeholder 7">
            <a:extLst>
              <a:ext uri="{FF2B5EF4-FFF2-40B4-BE49-F238E27FC236}">
                <a16:creationId xmlns:a16="http://schemas.microsoft.com/office/drawing/2014/main" id="{299E0073-DA80-E57B-1BCE-3CD8F08BF5B7}"/>
              </a:ext>
            </a:extLst>
          </p:cNvPr>
          <p:cNvSpPr>
            <a:spLocks noGrp="1"/>
          </p:cNvSpPr>
          <p:nvPr>
            <p:ph type="sldNum" sz="quarter" idx="12"/>
          </p:nvPr>
        </p:nvSpPr>
        <p:spPr/>
        <p:txBody>
          <a:bodyPr/>
          <a:lstStyle/>
          <a:p>
            <a:fld id="{719D7796-F675-488F-AC46-C88938C80352}" type="slidenum">
              <a:rPr lang="en-US" sz="1050" smtClean="0">
                <a:latin typeface="Neue Haas Grotesk Text Pro" panose="020B0504020202020204" pitchFamily="34" charset="77"/>
              </a:rPr>
              <a:t>29</a:t>
            </a:fld>
            <a:endParaRPr lang="en-US" sz="1050">
              <a:latin typeface="Neue Haas Grotesk Text Pro" panose="020B0504020202020204" pitchFamily="34" charset="77"/>
            </a:endParaRPr>
          </a:p>
        </p:txBody>
      </p:sp>
      <p:sp>
        <p:nvSpPr>
          <p:cNvPr id="4" name="TextBox 3">
            <a:extLst>
              <a:ext uri="{FF2B5EF4-FFF2-40B4-BE49-F238E27FC236}">
                <a16:creationId xmlns:a16="http://schemas.microsoft.com/office/drawing/2014/main" id="{877A88D5-76E5-2EDF-9C9C-CF5398A7EA32}"/>
              </a:ext>
            </a:extLst>
          </p:cNvPr>
          <p:cNvSpPr txBox="1"/>
          <p:nvPr/>
        </p:nvSpPr>
        <p:spPr>
          <a:xfrm>
            <a:off x="10964372" y="6424254"/>
            <a:ext cx="427528"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a:latin typeface="Neue Haas Grotesk Text Pro" panose="020B0504020202020204" pitchFamily="34" charset="77"/>
              </a:rPr>
              <a:t>RS</a:t>
            </a:r>
          </a:p>
        </p:txBody>
      </p:sp>
      <p:pic>
        <p:nvPicPr>
          <p:cNvPr id="6" name="Picture 5" descr="A screenshot of a white page&#10;&#10;Description automatically generated">
            <a:extLst>
              <a:ext uri="{FF2B5EF4-FFF2-40B4-BE49-F238E27FC236}">
                <a16:creationId xmlns:a16="http://schemas.microsoft.com/office/drawing/2014/main" id="{FE18F46D-7E63-8D44-2835-C4C57E95FF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2822" y="1182729"/>
            <a:ext cx="5796537" cy="5434254"/>
          </a:xfrm>
          <a:prstGeom prst="rect">
            <a:avLst/>
          </a:prstGeom>
        </p:spPr>
      </p:pic>
      <p:pic>
        <p:nvPicPr>
          <p:cNvPr id="9" name="Picture 8" descr="A screenshot of a survey&#10;&#10;Description automatically generated">
            <a:extLst>
              <a:ext uri="{FF2B5EF4-FFF2-40B4-BE49-F238E27FC236}">
                <a16:creationId xmlns:a16="http://schemas.microsoft.com/office/drawing/2014/main" id="{67AE9A6C-C6CA-4707-28EA-7956C1EEBE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641" y="1432739"/>
            <a:ext cx="6124642" cy="5184244"/>
          </a:xfrm>
          <a:prstGeom prst="rect">
            <a:avLst/>
          </a:prstGeom>
        </p:spPr>
      </p:pic>
    </p:spTree>
    <p:extLst>
      <p:ext uri="{BB962C8B-B14F-4D97-AF65-F5344CB8AC3E}">
        <p14:creationId xmlns:p14="http://schemas.microsoft.com/office/powerpoint/2010/main" val="1621917648"/>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585FB5EA22044F81050FFCA8092BB9" ma:contentTypeVersion="11" ma:contentTypeDescription="Create a new document." ma:contentTypeScope="" ma:versionID="4c2056a4055ea320d3733986c005964d">
  <xsd:schema xmlns:xsd="http://www.w3.org/2001/XMLSchema" xmlns:xs="http://www.w3.org/2001/XMLSchema" xmlns:p="http://schemas.microsoft.com/office/2006/metadata/properties" xmlns:ns2="1b6692e0-99fd-4c48-87b5-5852eb2608e7" xmlns:ns3="d0506902-72ee-42b3-8b01-62d2da0793f1" targetNamespace="http://schemas.microsoft.com/office/2006/metadata/properties" ma:root="true" ma:fieldsID="8940a54f92af3796fcd2aa10ef4e3833" ns2:_="" ns3:_="">
    <xsd:import namespace="1b6692e0-99fd-4c48-87b5-5852eb2608e7"/>
    <xsd:import namespace="d0506902-72ee-42b3-8b01-62d2da0793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Locatio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692e0-99fd-4c48-87b5-5852eb2608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ff5f06a-e980-4152-9b94-92a1b6e5e21e" ma:termSetId="09814cd3-568e-fe90-9814-8d621ff8fb84" ma:anchorId="fba54fb3-c3e1-fe81-a776-ca4b69148c4d" ma:open="true" ma:isKeyword="false">
      <xsd:complexType>
        <xsd:sequence>
          <xsd:element ref="pc:Terms" minOccurs="0" maxOccurs="1"/>
        </xsd:sequence>
      </xsd:complexType>
    </xsd:element>
    <xsd:element name="MediaServiceLocation" ma:index="15" nillable="true" ma:displayName="Location" ma:indexed="true"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506902-72ee-42b3-8b01-62d2da0793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1e034b8-ba07-4785-a62c-3a7dbdde7110}" ma:internalName="TaxCatchAll" ma:showField="CatchAllData" ma:web="d0506902-72ee-42b3-8b01-62d2da079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b6692e0-99fd-4c48-87b5-5852eb2608e7">
      <Terms xmlns="http://schemas.microsoft.com/office/infopath/2007/PartnerControls"/>
    </lcf76f155ced4ddcb4097134ff3c332f>
    <TaxCatchAll xmlns="d0506902-72ee-42b3-8b01-62d2da0793f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568597-AA1A-4771-BC96-0C37E9919AE4}">
  <ds:schemaRefs>
    <ds:schemaRef ds:uri="1b6692e0-99fd-4c48-87b5-5852eb2608e7"/>
    <ds:schemaRef ds:uri="d0506902-72ee-42b3-8b01-62d2da0793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6B5E3E5-EF68-4E56-936B-850C1D8FD674}">
  <ds:schemaRefs>
    <ds:schemaRef ds:uri="1b6692e0-99fd-4c48-87b5-5852eb2608e7"/>
    <ds:schemaRef ds:uri="d0506902-72ee-42b3-8b01-62d2da0793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654A159-9DE0-41A7-A55C-2A9A602254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30</Slides>
  <Notes>30</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ChronicleVTI</vt:lpstr>
      <vt:lpstr>Routing Optimization for deliveries</vt:lpstr>
      <vt:lpstr>Introduction</vt:lpstr>
      <vt:lpstr>Introduction</vt:lpstr>
      <vt:lpstr>Data Collection</vt:lpstr>
      <vt:lpstr>Data Collection</vt:lpstr>
      <vt:lpstr>Data Analysis</vt:lpstr>
      <vt:lpstr>Recommendations</vt:lpstr>
      <vt:lpstr>Implementation</vt:lpstr>
      <vt:lpstr>Implementation</vt:lpstr>
      <vt:lpstr>Implementation</vt:lpstr>
      <vt:lpstr>Implementation</vt:lpstr>
      <vt:lpstr>Implementation</vt:lpstr>
      <vt:lpstr>Implementation</vt:lpstr>
      <vt:lpstr>Implementation</vt:lpstr>
      <vt:lpstr>Economic Assessment</vt:lpstr>
      <vt:lpstr>Statistical Assessment</vt:lpstr>
      <vt:lpstr>Project Continuation Plan</vt:lpstr>
      <vt:lpstr>Conclusion</vt:lpstr>
      <vt:lpstr>Statistical Analysis</vt:lpstr>
      <vt:lpstr>Time study</vt:lpstr>
      <vt:lpstr>Statistical Analysis</vt:lpstr>
      <vt:lpstr>MILEAGE</vt:lpstr>
      <vt:lpstr>Driver utilization</vt:lpstr>
      <vt:lpstr>SOP-001: Client Record Pivot Tool</vt:lpstr>
      <vt:lpstr>SOP-002: Google Form</vt:lpstr>
      <vt:lpstr>SOP-003: MyMaps</vt:lpstr>
      <vt:lpstr>SOP-004: Power BI Dashboard</vt:lpstr>
      <vt:lpstr>SOP-005: Driver / management SOP</vt:lpstr>
      <vt:lpstr>Feedback form</vt:lpstr>
      <vt:lpstr>Feedback 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2025-09-23T01:40:21Z</dcterms:created>
  <dcterms:modified xsi:type="dcterms:W3CDTF">2026-10-27T23:47:35Z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0x0101003A585FB5EA22044F81050FFCA8092BB9</vt:lpwstr>
  </property>
  <property fmtid="{D5CDD505-2E9C-101B-9397-08002B2CF9AE}" pid="3" name="MediaServiceImageTags">
    <vt:lpwstr/>
  </property>
</Properties>
</file>