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8.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9.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0.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1.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2.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11" r:id="rId4"/>
  </p:sldMasterIdLst>
  <p:notesMasterIdLst>
    <p:notesMasterId r:id="rId28"/>
  </p:notesMasterIdLst>
  <p:sldIdLst>
    <p:sldId id="256" r:id="rId5"/>
    <p:sldId id="266" r:id="rId6"/>
    <p:sldId id="278" r:id="rId7"/>
    <p:sldId id="293" r:id="rId8"/>
    <p:sldId id="294" r:id="rId9"/>
    <p:sldId id="299" r:id="rId10"/>
    <p:sldId id="302" r:id="rId11"/>
    <p:sldId id="303" r:id="rId12"/>
    <p:sldId id="304" r:id="rId13"/>
    <p:sldId id="287" r:id="rId14"/>
    <p:sldId id="305" r:id="rId15"/>
    <p:sldId id="306" r:id="rId16"/>
    <p:sldId id="289" r:id="rId17"/>
    <p:sldId id="309" r:id="rId18"/>
    <p:sldId id="313" r:id="rId19"/>
    <p:sldId id="276" r:id="rId20"/>
    <p:sldId id="314" r:id="rId21"/>
    <p:sldId id="315" r:id="rId22"/>
    <p:sldId id="318" r:id="rId23"/>
    <p:sldId id="319" r:id="rId24"/>
    <p:sldId id="320" r:id="rId25"/>
    <p:sldId id="292" r:id="rId26"/>
    <p:sldId id="27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97EF01-CC76-3561-7B35-67470D04679B}" name="Rachel Stone" initials="RS" userId="S::rstone7@lsu.edu::ee4a1293-b819-450a-9574-b914e636ffe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2B48"/>
    <a:srgbClr val="F59BA6"/>
    <a:srgbClr val="E42D49"/>
    <a:srgbClr val="FFF2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15C8AD-9AA0-A348-B71B-20B87B0E19E0}" v="1084" dt="2025-12-01T20:31:45.521"/>
    <p1510:client id="{588359A4-A019-8C3B-F34D-48BFF90AF779}" v="53" dt="2025-12-01T18:12:53.634"/>
    <p1510:client id="{7DA067F3-CAAF-4D2B-BE6B-EEA4A5DA99CE}" v="2834" dt="2025-12-02T16:01:29.871"/>
    <p1510:client id="{B885329C-8B1C-417C-BA76-2BBA0E948586}" v="327" dt="2025-12-01T19:43:23.700"/>
    <p1510:client id="{BC95AE9E-99C8-6E4B-8061-3EDE60D6DAA4}" v="2340" dt="2025-12-02T18:46:17.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59"/>
    <p:restoredTop sz="65842"/>
  </p:normalViewPr>
  <p:slideViewPr>
    <p:cSldViewPr snapToGrid="0">
      <p:cViewPr varScale="1">
        <p:scale>
          <a:sx n="78" d="100"/>
          <a:sy n="78"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DE2B48"/>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DE2B48"/>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DE2B48"/>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DE2B48"/>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DE2B48"/>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custT="1"/>
      <dgm:spPr>
        <a:solidFill>
          <a:srgbClr val="DE2B48"/>
        </a:solidFill>
      </dgm:spPr>
      <dgm:t>
        <a:bodyPr/>
        <a:lstStyle/>
        <a:p>
          <a:r>
            <a:rPr lang="en-US" sz="1800"/>
            <a:t>Simulation Model</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B1C9683C-5C9F-B445-836A-C0E0720D5ACD}">
      <dgm:prSet custT="1"/>
      <dgm:spPr>
        <a:solidFill>
          <a:srgbClr val="F59BA6"/>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t>
        <a:bodyPr/>
        <a:lstStyle/>
        <a:p>
          <a:endParaRPr lang="en-US"/>
        </a:p>
      </dgm:t>
    </dgm:pt>
    <dgm:pt modelId="{EA7BFF59-6C57-4F47-9548-4B6E815EC1E8}">
      <dgm:prSet phldrT="[Text]" custT="1"/>
      <dgm:spPr>
        <a:solidFill>
          <a:srgbClr val="F59BA6"/>
        </a:solidFill>
      </dgm:spPr>
      <dgm:t>
        <a:bodyPr/>
        <a:lstStyle/>
        <a:p>
          <a:r>
            <a:rPr lang="en-US" sz="1800"/>
            <a:t>Problem and Conceptual Model</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r>
            <a:rPr lang="en-US" sz="1800"/>
            <a:t>Input Analysis</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B1C9683C-5C9F-B445-836A-C0E0720D5ACD}">
      <dgm:prSet custT="1"/>
      <dgm:spPr>
        <a:solidFill>
          <a:srgbClr val="DE2B48"/>
        </a:solidFill>
      </dgm:spPr>
      <dgm:t>
        <a:bodyPr/>
        <a:lstStyle/>
        <a:p>
          <a:r>
            <a:rPr lang="en-US" sz="1800"/>
            <a:t>Output Analysis</a:t>
          </a:r>
        </a:p>
      </dgm:t>
    </dgm:pt>
    <dgm:pt modelId="{E34CD074-1D4E-9047-ADDC-1AB06CF40237}" type="parTrans" cxnId="{D933E9CD-C711-B740-B63A-52847F63F269}">
      <dgm:prSet/>
      <dgm:spPr/>
      <dgm:t>
        <a:bodyPr/>
        <a:lstStyle/>
        <a:p>
          <a:endParaRPr lang="en-US"/>
        </a:p>
      </dgm:t>
    </dgm:pt>
    <dgm:pt modelId="{11A2DCE4-A59F-F540-8667-874EB5539A4D}" type="sibTrans" cxnId="{D933E9CD-C711-B740-B63A-52847F63F269}">
      <dgm:prSet/>
      <dgm:spPr/>
      <dgm:t>
        <a:bodyPr/>
        <a:lstStyle/>
        <a:p>
          <a:endParaRPr lang="en-US"/>
        </a:p>
      </dgm:t>
    </dgm:pt>
    <dgm:pt modelId="{C8CD26E7-1FBD-4440-9514-34E6256F3FEA}">
      <dgm:prSet custT="1"/>
      <dgm:spPr>
        <a:solidFill>
          <a:srgbClr val="F59BA6"/>
        </a:solidFill>
      </dgm:spPr>
      <dgm:t>
        <a:bodyPr/>
        <a:lstStyle/>
        <a:p>
          <a:r>
            <a:rPr lang="en-US" sz="1800"/>
            <a:t>Conclusion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F5B604D9-AD6D-574C-8034-FC222493C60F}">
      <dgm:prSet custT="1"/>
      <dgm:spPr>
        <a:solidFill>
          <a:srgbClr val="F59BA6"/>
        </a:solidFill>
      </dgm:spPr>
      <dgm:t>
        <a:bodyPr/>
        <a:lstStyle/>
        <a:p>
          <a:r>
            <a:rPr lang="en-US" sz="1800"/>
            <a:t>Simulation Model</a:t>
          </a:r>
        </a:p>
      </dgm:t>
    </dgm:pt>
    <dgm:pt modelId="{7E3D69FA-700C-7448-8067-D6CF919C43B9}" type="sibTrans" cxnId="{E0A4AFC7-ABE1-FD45-89C7-251B50BC03B6}">
      <dgm:prSet/>
      <dgm:spPr/>
      <dgm:t>
        <a:bodyPr/>
        <a:lstStyle/>
        <a:p>
          <a:endParaRPr lang="en-US"/>
        </a:p>
      </dgm:t>
    </dgm:pt>
    <dgm:pt modelId="{923520FD-4482-5840-937F-38C8C87E8B6A}" type="parTrans" cxnId="{E0A4AFC7-ABE1-FD45-89C7-251B50BC03B6}">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5C91F2A2-D2B3-B14F-AD40-6AD38E5705B4}" type="pres">
      <dgm:prSet presAssocID="{B1C9683C-5C9F-B445-836A-C0E0720D5ACD}" presName="parTxOnly" presStyleLbl="node1" presStyleIdx="3" presStyleCnt="5">
        <dgm:presLayoutVars>
          <dgm:bulletEnabled val="1"/>
        </dgm:presLayoutVars>
      </dgm:prSet>
      <dgm:spPr/>
    </dgm:pt>
    <dgm:pt modelId="{EE4F1FFF-2B91-EA48-9D66-0F7905292FD2}" type="pres">
      <dgm:prSet presAssocID="{11A2DCE4-A59F-F540-8667-874EB5539A4D}" presName="parSpace" presStyleCnt="0"/>
      <dgm:spPr/>
    </dgm:pt>
    <dgm:pt modelId="{E50F1E1E-4B1A-5D4D-9BDF-5A459F747BF8}" type="pres">
      <dgm:prSet presAssocID="{C8CD26E7-1FBD-4440-9514-34E6256F3FEA}"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4" destOrd="0" parTransId="{E93BF2A8-B713-D84D-9B0C-10D3D24F4754}" sibTransId="{538943CE-2274-CC40-9A4C-B9DB9BBC2907}"/>
    <dgm:cxn modelId="{AE123567-1948-154F-B6BD-DE287F048E7F}" type="presOf" srcId="{F5B604D9-AD6D-574C-8034-FC222493C60F}" destId="{8EEED474-FB90-7E4E-ACFF-D013A4F21753}" srcOrd="0" destOrd="0" presId="urn:microsoft.com/office/officeart/2005/8/layout/hChevron3"/>
    <dgm:cxn modelId="{3033BF6E-523E-5842-9ED1-DCB83B8CD4AA}" type="presOf" srcId="{B1C9683C-5C9F-B445-836A-C0E0720D5ACD}" destId="{5C91F2A2-D2B3-B14F-AD40-6AD38E5705B4}"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D933E9CD-C711-B740-B63A-52847F63F269}" srcId="{17D57858-FD5A-8947-B040-A82384FFDC9F}" destId="{B1C9683C-5C9F-B445-836A-C0E0720D5ACD}" srcOrd="3" destOrd="0" parTransId="{E34CD074-1D4E-9047-ADDC-1AB06CF40237}" sibTransId="{11A2DCE4-A59F-F540-8667-874EB5539A4D}"/>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460AEC0D-274E-CD45-B9C9-7DD44EACA94A}" type="presParOf" srcId="{B6D553CC-4C59-CE4D-952E-78A174608CFD}" destId="{5C91F2A2-D2B3-B14F-AD40-6AD38E5705B4}" srcOrd="6" destOrd="0" presId="urn:microsoft.com/office/officeart/2005/8/layout/hChevron3"/>
    <dgm:cxn modelId="{8CF3241A-9BE2-E04C-8E79-C4E5362DA136}" type="presParOf" srcId="{B6D553CC-4C59-CE4D-952E-78A174608CFD}" destId="{EE4F1FFF-2B91-EA48-9D66-0F7905292FD2}" srcOrd="7" destOrd="0" presId="urn:microsoft.com/office/officeart/2005/8/layout/hChevron3"/>
    <dgm:cxn modelId="{DF331B82-1591-4E4B-8DFC-FDB80E0E27C7}" type="presParOf" srcId="{B6D553CC-4C59-CE4D-952E-78A174608CFD}" destId="{E50F1E1E-4B1A-5D4D-9BDF-5A459F747B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dgm:spPr>
        <a:solidFill>
          <a:srgbClr val="F59BA6"/>
        </a:solidFill>
      </dgm:spPr>
      <dgm:t>
        <a:bodyPr/>
        <a:lstStyle/>
        <a:p>
          <a:r>
            <a:rPr lang="en-US"/>
            <a:t>Introduction</a:t>
          </a: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dgm:spPr>
        <a:solidFill>
          <a:srgbClr val="F59BA6"/>
        </a:solidFill>
      </dgm:spPr>
      <dgm:t>
        <a:bodyPr/>
        <a:lstStyle/>
        <a:p>
          <a:r>
            <a:rPr lang="en-US"/>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5B604D9-AD6D-574C-8034-FC222493C60F}">
      <dgm:prSet/>
      <dgm:spPr>
        <a:solidFill>
          <a:srgbClr val="F59BA6"/>
        </a:solidFill>
      </dgm:spPr>
      <dgm:t>
        <a:bodyPr/>
        <a:lstStyle/>
        <a:p>
          <a:r>
            <a:rPr lang="en-US"/>
            <a:t>Data Analysis</a:t>
          </a:r>
        </a:p>
      </dgm:t>
    </dgm:pt>
    <dgm:pt modelId="{923520FD-4482-5840-937F-38C8C87E8B6A}" type="parTrans" cxnId="{E0A4AFC7-ABE1-FD45-89C7-251B50BC03B6}">
      <dgm:prSet/>
      <dgm:spPr/>
      <dgm:t>
        <a:bodyPr/>
        <a:lstStyle/>
        <a:p>
          <a:endParaRPr lang="en-US"/>
        </a:p>
      </dgm:t>
    </dgm:pt>
    <dgm:pt modelId="{7E3D69FA-700C-7448-8067-D6CF919C43B9}" type="sibTrans" cxnId="{E0A4AFC7-ABE1-FD45-89C7-251B50BC03B6}">
      <dgm:prSet/>
      <dgm:spPr/>
      <dgm:t>
        <a:bodyPr/>
        <a:lstStyle/>
        <a:p>
          <a:endParaRPr lang="en-US"/>
        </a:p>
      </dgm:t>
    </dgm:pt>
    <dgm:pt modelId="{C8CD26E7-1FBD-4440-9514-34E6256F3FEA}">
      <dgm:prSet/>
      <dgm:spPr>
        <a:solidFill>
          <a:srgbClr val="F59BA6"/>
        </a:solidFill>
      </dgm:spPr>
      <dgm:t>
        <a:bodyPr/>
        <a:lstStyle/>
        <a:p>
          <a:r>
            <a:rPr lang="en-US"/>
            <a:t>Project Plan</a:t>
          </a:r>
        </a:p>
      </dgm:t>
    </dgm:pt>
    <dgm:pt modelId="{E93BF2A8-B713-D84D-9B0C-10D3D24F4754}" type="parTrans" cxnId="{94F9D147-EBF2-C949-BDB9-3D9820DA007A}">
      <dgm:prSet/>
      <dgm:spPr/>
      <dgm:t>
        <a:bodyPr/>
        <a:lstStyle/>
        <a:p>
          <a:endParaRPr lang="en-US"/>
        </a:p>
      </dgm:t>
    </dgm:pt>
    <dgm:pt modelId="{538943CE-2274-CC40-9A4C-B9DB9BBC2907}" type="sibTrans" cxnId="{94F9D147-EBF2-C949-BDB9-3D9820DA007A}">
      <dgm:prSet/>
      <dgm:spPr/>
      <dgm:t>
        <a:bodyPr/>
        <a:lstStyle/>
        <a:p>
          <a:endParaRPr lang="en-US"/>
        </a:p>
      </dgm:t>
    </dgm:pt>
    <dgm:pt modelId="{0CE7E252-16B0-9442-BCE6-31F4D9A662AB}">
      <dgm:prSet/>
      <dgm:spPr>
        <a:solidFill>
          <a:srgbClr val="DE2B48"/>
        </a:solidFill>
      </dgm:spPr>
      <dgm:t>
        <a:bodyPr/>
        <a:lstStyle/>
        <a:p>
          <a:r>
            <a:rPr lang="en-US"/>
            <a:t>Conclusion</a:t>
          </a:r>
        </a:p>
      </dgm:t>
    </dgm:pt>
    <dgm:pt modelId="{72118C76-05FC-8144-8C24-8874523F84BA}" type="parTrans" cxnId="{86FC61C8-C0C3-8C43-A7CB-D6D90243BFA3}">
      <dgm:prSet/>
      <dgm:spPr/>
      <dgm:t>
        <a:bodyPr/>
        <a:lstStyle/>
        <a:p>
          <a:endParaRPr lang="en-US"/>
        </a:p>
      </dgm:t>
    </dgm:pt>
    <dgm:pt modelId="{137F78F5-9D8F-C648-804C-1683E6A8811B}" type="sibTrans" cxnId="{86FC61C8-C0C3-8C43-A7CB-D6D90243BFA3}">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E6986CF5-A401-444D-A452-BBF44A859161}" type="pres">
      <dgm:prSet presAssocID="{EA7BFF59-6C57-4F47-9548-4B6E815EC1E8}" presName="parTxOnly" presStyleLbl="node1" presStyleIdx="0" presStyleCnt="5">
        <dgm:presLayoutVars>
          <dgm:bulletEnabled val="1"/>
        </dgm:presLayoutVars>
      </dgm:prSet>
      <dgm:spPr/>
    </dgm:pt>
    <dgm:pt modelId="{AEF138EC-1FD4-1944-B797-594291A125D2}" type="pres">
      <dgm:prSet presAssocID="{B279CA41-9B90-4344-A770-341A5842F9FB}" presName="parSpace" presStyleCnt="0"/>
      <dgm:spPr/>
    </dgm:pt>
    <dgm:pt modelId="{EDC379D2-4DD5-F148-8B2F-DFC054A09F80}" type="pres">
      <dgm:prSet presAssocID="{3A6BF496-5AC2-6E44-AA0F-F7F1F8A07AAA}" presName="parTxOnly" presStyleLbl="node1" presStyleIdx="1" presStyleCnt="5">
        <dgm:presLayoutVars>
          <dgm:bulletEnabled val="1"/>
        </dgm:presLayoutVars>
      </dgm:prSet>
      <dgm:spPr/>
    </dgm:pt>
    <dgm:pt modelId="{6EBCD23A-A0AE-5E49-A413-D69C225810D9}" type="pres">
      <dgm:prSet presAssocID="{3886C9E6-5EC8-2D47-B037-005AC7EB76FC}" presName="parSpace" presStyleCnt="0"/>
      <dgm:spPr/>
    </dgm:pt>
    <dgm:pt modelId="{8EEED474-FB90-7E4E-ACFF-D013A4F21753}" type="pres">
      <dgm:prSet presAssocID="{F5B604D9-AD6D-574C-8034-FC222493C60F}" presName="parTxOnly" presStyleLbl="node1" presStyleIdx="2" presStyleCnt="5">
        <dgm:presLayoutVars>
          <dgm:bulletEnabled val="1"/>
        </dgm:presLayoutVars>
      </dgm:prSet>
      <dgm:spPr/>
    </dgm:pt>
    <dgm:pt modelId="{95A818F5-316C-2542-94F2-1BD38ECB3C0D}" type="pres">
      <dgm:prSet presAssocID="{7E3D69FA-700C-7448-8067-D6CF919C43B9}" presName="parSpace" presStyleCnt="0"/>
      <dgm:spPr/>
    </dgm:pt>
    <dgm:pt modelId="{E50F1E1E-4B1A-5D4D-9BDF-5A459F747BF8}" type="pres">
      <dgm:prSet presAssocID="{C8CD26E7-1FBD-4440-9514-34E6256F3FEA}" presName="parTxOnly" presStyleLbl="node1" presStyleIdx="3" presStyleCnt="5">
        <dgm:presLayoutVars>
          <dgm:bulletEnabled val="1"/>
        </dgm:presLayoutVars>
      </dgm:prSet>
      <dgm:spPr/>
    </dgm:pt>
    <dgm:pt modelId="{F7623B72-276E-2F49-816C-D17F7C76F0B2}" type="pres">
      <dgm:prSet presAssocID="{538943CE-2274-CC40-9A4C-B9DB9BBC2907}" presName="parSpace" presStyleCnt="0"/>
      <dgm:spPr/>
    </dgm:pt>
    <dgm:pt modelId="{D9A0FEC3-F577-B747-9ABE-F8DA810FC00E}" type="pres">
      <dgm:prSet presAssocID="{0CE7E252-16B0-9442-BCE6-31F4D9A662AB}" presName="parTxOnly" presStyleLbl="node1" presStyleIdx="4" presStyleCnt="5">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1E20C71E-97F3-7E4D-9570-AEE62D7B19B9}" srcId="{17D57858-FD5A-8947-B040-A82384FFDC9F}" destId="{3A6BF496-5AC2-6E44-AA0F-F7F1F8A07AAA}" srcOrd="1" destOrd="0" parTransId="{E595F904-E6E7-914E-BDAA-0C037E722007}" sibTransId="{3886C9E6-5EC8-2D47-B037-005AC7EB76FC}"/>
    <dgm:cxn modelId="{B03F3745-AD7F-8141-ABD3-41D4E8B07717}" type="presOf" srcId="{C8CD26E7-1FBD-4440-9514-34E6256F3FEA}" destId="{E50F1E1E-4B1A-5D4D-9BDF-5A459F747BF8}" srcOrd="0" destOrd="0" presId="urn:microsoft.com/office/officeart/2005/8/layout/hChevron3"/>
    <dgm:cxn modelId="{94F9D147-EBF2-C949-BDB9-3D9820DA007A}" srcId="{17D57858-FD5A-8947-B040-A82384FFDC9F}" destId="{C8CD26E7-1FBD-4440-9514-34E6256F3FEA}" srcOrd="3" destOrd="0" parTransId="{E93BF2A8-B713-D84D-9B0C-10D3D24F4754}" sibTransId="{538943CE-2274-CC40-9A4C-B9DB9BBC2907}"/>
    <dgm:cxn modelId="{427CE452-5D58-D446-B589-5DD31EDED21D}" type="presOf" srcId="{0CE7E252-16B0-9442-BCE6-31F4D9A662AB}" destId="{D9A0FEC3-F577-B747-9ABE-F8DA810FC00E}" srcOrd="0" destOrd="0" presId="urn:microsoft.com/office/officeart/2005/8/layout/hChevron3"/>
    <dgm:cxn modelId="{AE123567-1948-154F-B6BD-DE287F048E7F}" type="presOf" srcId="{F5B604D9-AD6D-574C-8034-FC222493C60F}" destId="{8EEED474-FB90-7E4E-ACFF-D013A4F21753}" srcOrd="0" destOrd="0" presId="urn:microsoft.com/office/officeart/2005/8/layout/hChevron3"/>
    <dgm:cxn modelId="{18323B86-D9F7-1340-B006-093F503CFA0E}" type="presOf" srcId="{3A6BF496-5AC2-6E44-AA0F-F7F1F8A07AAA}" destId="{EDC379D2-4DD5-F148-8B2F-DFC054A09F80}" srcOrd="0" destOrd="0" presId="urn:microsoft.com/office/officeart/2005/8/layout/hChevron3"/>
    <dgm:cxn modelId="{B5D465B0-AADD-CA4E-9A62-4F5926785D7E}" type="presOf" srcId="{EA7BFF59-6C57-4F47-9548-4B6E815EC1E8}" destId="{E6986CF5-A401-444D-A452-BBF44A859161}" srcOrd="0" destOrd="0" presId="urn:microsoft.com/office/officeart/2005/8/layout/hChevron3"/>
    <dgm:cxn modelId="{E0A4AFC7-ABE1-FD45-89C7-251B50BC03B6}" srcId="{17D57858-FD5A-8947-B040-A82384FFDC9F}" destId="{F5B604D9-AD6D-574C-8034-FC222493C60F}" srcOrd="2" destOrd="0" parTransId="{923520FD-4482-5840-937F-38C8C87E8B6A}" sibTransId="{7E3D69FA-700C-7448-8067-D6CF919C43B9}"/>
    <dgm:cxn modelId="{86FC61C8-C0C3-8C43-A7CB-D6D90243BFA3}" srcId="{17D57858-FD5A-8947-B040-A82384FFDC9F}" destId="{0CE7E252-16B0-9442-BCE6-31F4D9A662AB}" srcOrd="4" destOrd="0" parTransId="{72118C76-05FC-8144-8C24-8874523F84BA}" sibTransId="{137F78F5-9D8F-C648-804C-1683E6A8811B}"/>
    <dgm:cxn modelId="{69FA4CD7-C926-4E4B-AE58-43BFD6E0B5AC}" srcId="{17D57858-FD5A-8947-B040-A82384FFDC9F}" destId="{EA7BFF59-6C57-4F47-9548-4B6E815EC1E8}" srcOrd="0" destOrd="0" parTransId="{AF8C7167-3FCF-D143-956E-6454556763F4}" sibTransId="{B279CA41-9B90-4344-A770-341A5842F9FB}"/>
    <dgm:cxn modelId="{5EF59951-7F06-E845-8948-366C95B08565}" type="presParOf" srcId="{B6D553CC-4C59-CE4D-952E-78A174608CFD}" destId="{E6986CF5-A401-444D-A452-BBF44A859161}" srcOrd="0" destOrd="0" presId="urn:microsoft.com/office/officeart/2005/8/layout/hChevron3"/>
    <dgm:cxn modelId="{C77277C6-F4BA-4341-B74A-8D05BCF87BB1}" type="presParOf" srcId="{B6D553CC-4C59-CE4D-952E-78A174608CFD}" destId="{AEF138EC-1FD4-1944-B797-594291A125D2}" srcOrd="1" destOrd="0" presId="urn:microsoft.com/office/officeart/2005/8/layout/hChevron3"/>
    <dgm:cxn modelId="{7E4F0E34-EE49-7C44-A586-42465BDE40C7}" type="presParOf" srcId="{B6D553CC-4C59-CE4D-952E-78A174608CFD}" destId="{EDC379D2-4DD5-F148-8B2F-DFC054A09F80}" srcOrd="2" destOrd="0" presId="urn:microsoft.com/office/officeart/2005/8/layout/hChevron3"/>
    <dgm:cxn modelId="{FC4FC490-8CF6-144C-9ECA-482EBEF09C98}" type="presParOf" srcId="{B6D553CC-4C59-CE4D-952E-78A174608CFD}" destId="{6EBCD23A-A0AE-5E49-A413-D69C225810D9}" srcOrd="3" destOrd="0" presId="urn:microsoft.com/office/officeart/2005/8/layout/hChevron3"/>
    <dgm:cxn modelId="{159BE941-A3DD-5B48-83DB-1B76AA12F800}" type="presParOf" srcId="{B6D553CC-4C59-CE4D-952E-78A174608CFD}" destId="{8EEED474-FB90-7E4E-ACFF-D013A4F21753}" srcOrd="4" destOrd="0" presId="urn:microsoft.com/office/officeart/2005/8/layout/hChevron3"/>
    <dgm:cxn modelId="{97BC4B60-71D3-AA44-B296-BE0C449645ED}" type="presParOf" srcId="{B6D553CC-4C59-CE4D-952E-78A174608CFD}" destId="{95A818F5-316C-2542-94F2-1BD38ECB3C0D}" srcOrd="5" destOrd="0" presId="urn:microsoft.com/office/officeart/2005/8/layout/hChevron3"/>
    <dgm:cxn modelId="{DF331B82-1591-4E4B-8DFC-FDB80E0E27C7}" type="presParOf" srcId="{B6D553CC-4C59-CE4D-952E-78A174608CFD}" destId="{E50F1E1E-4B1A-5D4D-9BDF-5A459F747BF8}" srcOrd="6" destOrd="0" presId="urn:microsoft.com/office/officeart/2005/8/layout/hChevron3"/>
    <dgm:cxn modelId="{13797F7B-B8A3-544F-952F-0DECC719BAAB}" type="presParOf" srcId="{B6D553CC-4C59-CE4D-952E-78A174608CFD}" destId="{F7623B72-276E-2F49-816C-D17F7C76F0B2}" srcOrd="7" destOrd="0" presId="urn:microsoft.com/office/officeart/2005/8/layout/hChevron3"/>
    <dgm:cxn modelId="{F0256097-9649-1E46-AC34-E80A627A8479}" type="presParOf" srcId="{B6D553CC-4C59-CE4D-952E-78A174608CFD}" destId="{D9A0FEC3-F577-B747-9ABE-F8DA810FC00E}"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Problem and Conceptual Model</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Input Analysis</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Simulation Model</a:t>
          </a:r>
        </a:p>
      </dsp:txBody>
      <dsp:txXfrm>
        <a:off x="4507034" y="0"/>
        <a:ext cx="1728317" cy="828769"/>
      </dsp:txXfrm>
    </dsp:sp>
    <dsp:sp modelId="{5C91F2A2-D2B3-B14F-AD40-6AD38E5705B4}">
      <dsp:nvSpPr>
        <dsp:cNvPr id="0" name=""/>
        <dsp:cNvSpPr/>
      </dsp:nvSpPr>
      <dsp:spPr>
        <a:xfrm>
          <a:off x="613831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Output Analysis</a:t>
          </a:r>
        </a:p>
      </dsp:txBody>
      <dsp:txXfrm>
        <a:off x="6552703" y="0"/>
        <a:ext cx="1728317" cy="828769"/>
      </dsp:txXfrm>
    </dsp:sp>
    <dsp:sp modelId="{E50F1E1E-4B1A-5D4D-9BDF-5A459F747BF8}">
      <dsp:nvSpPr>
        <dsp:cNvPr id="0" name=""/>
        <dsp:cNvSpPr/>
      </dsp:nvSpPr>
      <dsp:spPr>
        <a:xfrm>
          <a:off x="818398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a:t>Conclusion</a:t>
          </a:r>
        </a:p>
      </dsp:txBody>
      <dsp:txXfrm>
        <a:off x="8598373" y="0"/>
        <a:ext cx="1728317" cy="82876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86CF5-A401-444D-A452-BBF44A859161}">
      <dsp:nvSpPr>
        <dsp:cNvPr id="0" name=""/>
        <dsp:cNvSpPr/>
      </dsp:nvSpPr>
      <dsp:spPr>
        <a:xfrm>
          <a:off x="1311" y="0"/>
          <a:ext cx="2557086" cy="828769"/>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a:t>Introduction</a:t>
          </a:r>
        </a:p>
      </dsp:txBody>
      <dsp:txXfrm>
        <a:off x="1311" y="0"/>
        <a:ext cx="2349894" cy="828769"/>
      </dsp:txXfrm>
    </dsp:sp>
    <dsp:sp modelId="{EDC379D2-4DD5-F148-8B2F-DFC054A09F80}">
      <dsp:nvSpPr>
        <dsp:cNvPr id="0" name=""/>
        <dsp:cNvSpPr/>
      </dsp:nvSpPr>
      <dsp:spPr>
        <a:xfrm>
          <a:off x="2046980"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a:t>Data Collection</a:t>
          </a:r>
        </a:p>
      </dsp:txBody>
      <dsp:txXfrm>
        <a:off x="2461365" y="0"/>
        <a:ext cx="1728317" cy="828769"/>
      </dsp:txXfrm>
    </dsp:sp>
    <dsp:sp modelId="{8EEED474-FB90-7E4E-ACFF-D013A4F21753}">
      <dsp:nvSpPr>
        <dsp:cNvPr id="0" name=""/>
        <dsp:cNvSpPr/>
      </dsp:nvSpPr>
      <dsp:spPr>
        <a:xfrm>
          <a:off x="4092649"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a:t>Data Analysis</a:t>
          </a:r>
        </a:p>
      </dsp:txBody>
      <dsp:txXfrm>
        <a:off x="4507034" y="0"/>
        <a:ext cx="1728317" cy="828769"/>
      </dsp:txXfrm>
    </dsp:sp>
    <dsp:sp modelId="{E50F1E1E-4B1A-5D4D-9BDF-5A459F747BF8}">
      <dsp:nvSpPr>
        <dsp:cNvPr id="0" name=""/>
        <dsp:cNvSpPr/>
      </dsp:nvSpPr>
      <dsp:spPr>
        <a:xfrm>
          <a:off x="6138318" y="0"/>
          <a:ext cx="2557086" cy="828769"/>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a:t>Project Plan</a:t>
          </a:r>
        </a:p>
      </dsp:txBody>
      <dsp:txXfrm>
        <a:off x="6552703" y="0"/>
        <a:ext cx="1728317" cy="828769"/>
      </dsp:txXfrm>
    </dsp:sp>
    <dsp:sp modelId="{D9A0FEC3-F577-B747-9ABE-F8DA810FC00E}">
      <dsp:nvSpPr>
        <dsp:cNvPr id="0" name=""/>
        <dsp:cNvSpPr/>
      </dsp:nvSpPr>
      <dsp:spPr>
        <a:xfrm>
          <a:off x="8183988" y="0"/>
          <a:ext cx="2557086" cy="828769"/>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a:t>Conclusion</a:t>
          </a:r>
        </a:p>
      </dsp:txBody>
      <dsp:txXfrm>
        <a:off x="8598373" y="0"/>
        <a:ext cx="1728317" cy="828769"/>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129A7-2624-394D-9AC0-649BE851F013}"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CBC78-88DF-6447-89DF-6EAD6709636E}" type="slidenum">
              <a:rPr lang="en-US" smtClean="0"/>
              <a:t>‹#›</a:t>
            </a:fld>
            <a:endParaRPr lang="en-US"/>
          </a:p>
        </p:txBody>
      </p:sp>
    </p:spTree>
    <p:extLst>
      <p:ext uri="{BB962C8B-B14F-4D97-AF65-F5344CB8AC3E}">
        <p14:creationId xmlns:p14="http://schemas.microsoft.com/office/powerpoint/2010/main" val="426089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The Greater baton rouge food bank has been in operation for 40 years, suppling meals to those in need across 11 parishes in greater baton rouge. Currently, the food bank plans their deliveries around the requests of their 126 agencies, however, these requests do not result in the most optimal delivery schedules. The food bank also struggles with using their online system, Samsara, to its fullest potential. Our overall objective is to plan the 2026 operational schedule with a focus on delivery location clustering, with the goal of reducing key KPIs, such as fuel consumption, by 5-10%</a:t>
            </a:r>
          </a:p>
          <a:p>
            <a:endParaRPr lang="en-US"/>
          </a:p>
          <a:p>
            <a:r>
              <a:rPr lang="en-US"/>
              <a:t>Main issue at hand is that schedules are based on agency requests, rather than delivery location proximity . Important to keep agencies in mind, however the current setup ineffectively uses the routing optimization software and leads to increased fuel costs and excess miles. The main objective is to optimize the </a:t>
            </a:r>
            <a:r>
              <a:rPr lang="en-US" err="1"/>
              <a:t>delievry</a:t>
            </a:r>
            <a:r>
              <a:rPr lang="en-US"/>
              <a:t> schedule based on locations, so that we can cut fuel concumption</a:t>
            </a:r>
          </a:p>
        </p:txBody>
      </p:sp>
      <p:sp>
        <p:nvSpPr>
          <p:cNvPr id="4" name="Slide Number Placeholder 3"/>
          <p:cNvSpPr>
            <a:spLocks noGrp="1"/>
          </p:cNvSpPr>
          <p:nvPr>
            <p:ph type="sldNum" sz="quarter" idx="5"/>
          </p:nvPr>
        </p:nvSpPr>
        <p:spPr/>
        <p:txBody>
          <a:bodyPr/>
          <a:lstStyle/>
          <a:p>
            <a:fld id="{695CBC78-88DF-6447-89DF-6EAD6709636E}" type="slidenum">
              <a:rPr lang="en-US" smtClean="0"/>
              <a:t>1</a:t>
            </a:fld>
            <a:endParaRPr lang="en-US"/>
          </a:p>
        </p:txBody>
      </p:sp>
    </p:spTree>
    <p:extLst>
      <p:ext uri="{BB962C8B-B14F-4D97-AF65-F5344CB8AC3E}">
        <p14:creationId xmlns:p14="http://schemas.microsoft.com/office/powerpoint/2010/main" val="3792059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C714-E7D2-060B-C3E5-EF30F8C5A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1C01F-4677-4B1D-6191-4A9D08CD11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88D335-2319-1C52-36EB-ECF7FF5AAE9E}"/>
              </a:ext>
            </a:extLst>
          </p:cNvPr>
          <p:cNvSpPr>
            <a:spLocks noGrp="1"/>
          </p:cNvSpPr>
          <p:nvPr>
            <p:ph type="body" idx="1"/>
          </p:nvPr>
        </p:nvSpPr>
        <p:spPr/>
        <p:txBody>
          <a:bodyPr/>
          <a:lstStyle/>
          <a:p>
            <a:r>
              <a:rPr lang="en-US"/>
              <a:t>The Greater baton rouge food bank has been in operation for 40 years, suppling meals to those in need across 11 parishes in greater baton rouge. Currently, the food bank plans their deliveries around the requests of their 126 agencies, however, these requests do not result in the most optimal delivery schedules. The food bank also struggles with using their online system, Samsara, to its fullest potential. Our overall objective is to plan the 2026 operational schedule with a focus on delivery location clustering, with the goal of reducing key KPIs, such as fuel consumption, by 5-10%</a:t>
            </a:r>
          </a:p>
          <a:p>
            <a:endParaRPr lang="en-US"/>
          </a:p>
          <a:p>
            <a:r>
              <a:rPr lang="en-US"/>
              <a:t>Main issue at hand is that schedules are based on agency requests, rather than delivery location proximity . Important to keep agencies in mind, however the current setup ineffectively uses the routing optimization software and leads to increased fuel costs and excess miles. The main objective is to optimize the </a:t>
            </a:r>
            <a:r>
              <a:rPr lang="en-US" err="1"/>
              <a:t>delievry</a:t>
            </a:r>
            <a:r>
              <a:rPr lang="en-US"/>
              <a:t> schedule based on locations, so that we can cut fuel concumption</a:t>
            </a:r>
          </a:p>
        </p:txBody>
      </p:sp>
      <p:sp>
        <p:nvSpPr>
          <p:cNvPr id="4" name="Slide Number Placeholder 3">
            <a:extLst>
              <a:ext uri="{FF2B5EF4-FFF2-40B4-BE49-F238E27FC236}">
                <a16:creationId xmlns:a16="http://schemas.microsoft.com/office/drawing/2014/main" id="{3C03710C-9155-608D-4BB3-2CDE5394C0A6}"/>
              </a:ext>
            </a:extLst>
          </p:cNvPr>
          <p:cNvSpPr>
            <a:spLocks noGrp="1"/>
          </p:cNvSpPr>
          <p:nvPr>
            <p:ph type="sldNum" sz="quarter" idx="5"/>
          </p:nvPr>
        </p:nvSpPr>
        <p:spPr/>
        <p:txBody>
          <a:bodyPr/>
          <a:lstStyle/>
          <a:p>
            <a:fld id="{695CBC78-88DF-6447-89DF-6EAD6709636E}" type="slidenum">
              <a:rPr lang="en-US" smtClean="0"/>
              <a:t>2</a:t>
            </a:fld>
            <a:endParaRPr lang="en-US"/>
          </a:p>
        </p:txBody>
      </p:sp>
    </p:spTree>
    <p:extLst>
      <p:ext uri="{BB962C8B-B14F-4D97-AF65-F5344CB8AC3E}">
        <p14:creationId xmlns:p14="http://schemas.microsoft.com/office/powerpoint/2010/main" val="1328130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66EB5-0F09-3C15-1240-CBA9F4DD3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774FA-87BA-885A-FCB8-8BD0DCAF73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FF3730-B84D-E1C7-4A94-AB3CCB99C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C70D8B-2629-F662-3C36-E6784E57BA55}"/>
              </a:ext>
            </a:extLst>
          </p:cNvPr>
          <p:cNvSpPr>
            <a:spLocks noGrp="1"/>
          </p:cNvSpPr>
          <p:nvPr>
            <p:ph type="sldNum" sz="quarter" idx="5"/>
          </p:nvPr>
        </p:nvSpPr>
        <p:spPr/>
        <p:txBody>
          <a:bodyPr/>
          <a:lstStyle/>
          <a:p>
            <a:fld id="{695CBC78-88DF-6447-89DF-6EAD6709636E}" type="slidenum">
              <a:rPr lang="en-US" smtClean="0"/>
              <a:t>3</a:t>
            </a:fld>
            <a:endParaRPr lang="en-US"/>
          </a:p>
        </p:txBody>
      </p:sp>
    </p:spTree>
    <p:extLst>
      <p:ext uri="{BB962C8B-B14F-4D97-AF65-F5344CB8AC3E}">
        <p14:creationId xmlns:p14="http://schemas.microsoft.com/office/powerpoint/2010/main" val="746936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6118A-B54F-EE1F-77CD-80C49FC15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EADBE-25CE-B181-27C4-D777B667B3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E60F30-6CBF-9F55-BFD1-FAD220D86091}"/>
              </a:ext>
            </a:extLst>
          </p:cNvPr>
          <p:cNvSpPr>
            <a:spLocks noGrp="1"/>
          </p:cNvSpPr>
          <p:nvPr>
            <p:ph type="body" idx="1"/>
          </p:nvPr>
        </p:nvSpPr>
        <p:spPr/>
        <p:txBody>
          <a:bodyPr/>
          <a:lstStyle/>
          <a:p>
            <a:r>
              <a:rPr lang="en-US"/>
              <a:t>The Greater baton rouge food bank has been in operation for 40 years, suppling meals to those in need across 11 parishes in greater baton rouge. Currently, the food bank plans their deliveries around the requests of their 126 agencies, however, these requests do not result in the most optimal delivery schedules. The food bank also struggles with using their online system, Samsara, to its fullest potential. Our overall objective is to plan the 2026 operational schedule with a focus on delivery location clustering, with the goal of reducing key KPIs, such as fuel consumption, by 5-10%</a:t>
            </a:r>
          </a:p>
          <a:p>
            <a:endParaRPr lang="en-US"/>
          </a:p>
          <a:p>
            <a:r>
              <a:rPr lang="en-US"/>
              <a:t>Main issue at hand is that schedules are based on agency requests, rather than delivery location proximity . Important to keep agencies in mind, however the current setup ineffectively uses the routing optimization software and leads to increased fuel costs and excess miles. The main objective is to optimize the </a:t>
            </a:r>
            <a:r>
              <a:rPr lang="en-US" err="1"/>
              <a:t>delievry</a:t>
            </a:r>
            <a:r>
              <a:rPr lang="en-US"/>
              <a:t> schedule based on locations, so that we can cut fuel concumption</a:t>
            </a:r>
          </a:p>
        </p:txBody>
      </p:sp>
      <p:sp>
        <p:nvSpPr>
          <p:cNvPr id="4" name="Slide Number Placeholder 3">
            <a:extLst>
              <a:ext uri="{FF2B5EF4-FFF2-40B4-BE49-F238E27FC236}">
                <a16:creationId xmlns:a16="http://schemas.microsoft.com/office/drawing/2014/main" id="{695D942C-0CB9-74F1-5501-AD1B6755E0DC}"/>
              </a:ext>
            </a:extLst>
          </p:cNvPr>
          <p:cNvSpPr>
            <a:spLocks noGrp="1"/>
          </p:cNvSpPr>
          <p:nvPr>
            <p:ph type="sldNum" sz="quarter" idx="5"/>
          </p:nvPr>
        </p:nvSpPr>
        <p:spPr/>
        <p:txBody>
          <a:bodyPr/>
          <a:lstStyle/>
          <a:p>
            <a:fld id="{695CBC78-88DF-6447-89DF-6EAD6709636E}" type="slidenum">
              <a:rPr lang="en-US" smtClean="0"/>
              <a:t>4</a:t>
            </a:fld>
            <a:endParaRPr lang="en-US"/>
          </a:p>
        </p:txBody>
      </p:sp>
    </p:spTree>
    <p:extLst>
      <p:ext uri="{BB962C8B-B14F-4D97-AF65-F5344CB8AC3E}">
        <p14:creationId xmlns:p14="http://schemas.microsoft.com/office/powerpoint/2010/main" val="698779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8B37-35CF-4EF5-4548-4B1F2F8E6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41DF7-CA87-F863-7A4E-23E4E837B6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EB7D39-F433-3565-AC7C-37B6FFA704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4D25CF-EB4A-778D-4ED6-96EA313ACE7F}"/>
              </a:ext>
            </a:extLst>
          </p:cNvPr>
          <p:cNvSpPr>
            <a:spLocks noGrp="1"/>
          </p:cNvSpPr>
          <p:nvPr>
            <p:ph type="sldNum" sz="quarter" idx="5"/>
          </p:nvPr>
        </p:nvSpPr>
        <p:spPr/>
        <p:txBody>
          <a:bodyPr/>
          <a:lstStyle/>
          <a:p>
            <a:fld id="{695CBC78-88DF-6447-89DF-6EAD6709636E}" type="slidenum">
              <a:rPr lang="en-US" smtClean="0"/>
              <a:t>5</a:t>
            </a:fld>
            <a:endParaRPr lang="en-US"/>
          </a:p>
        </p:txBody>
      </p:sp>
    </p:spTree>
    <p:extLst>
      <p:ext uri="{BB962C8B-B14F-4D97-AF65-F5344CB8AC3E}">
        <p14:creationId xmlns:p14="http://schemas.microsoft.com/office/powerpoint/2010/main" val="371509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88DD-CFD6-F3AD-959D-D22AB09BF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E0825-56A9-F143-3382-F820D0785E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0321EC-E043-128F-8AE5-1E0AF0478421}"/>
              </a:ext>
            </a:extLst>
          </p:cNvPr>
          <p:cNvSpPr>
            <a:spLocks noGrp="1"/>
          </p:cNvSpPr>
          <p:nvPr>
            <p:ph type="body" idx="1"/>
          </p:nvPr>
        </p:nvSpPr>
        <p:spPr/>
        <p:txBody>
          <a:bodyPr/>
          <a:lstStyle/>
          <a:p>
            <a:r>
              <a:rPr lang="en-US"/>
              <a:t>Husbands and wives and children</a:t>
            </a:r>
          </a:p>
        </p:txBody>
      </p:sp>
      <p:sp>
        <p:nvSpPr>
          <p:cNvPr id="4" name="Slide Number Placeholder 3">
            <a:extLst>
              <a:ext uri="{FF2B5EF4-FFF2-40B4-BE49-F238E27FC236}">
                <a16:creationId xmlns:a16="http://schemas.microsoft.com/office/drawing/2014/main" id="{EAA2D102-4772-D6B3-C762-5B8B2ACB9B82}"/>
              </a:ext>
            </a:extLst>
          </p:cNvPr>
          <p:cNvSpPr>
            <a:spLocks noGrp="1"/>
          </p:cNvSpPr>
          <p:nvPr>
            <p:ph type="sldNum" sz="quarter" idx="5"/>
          </p:nvPr>
        </p:nvSpPr>
        <p:spPr/>
        <p:txBody>
          <a:bodyPr/>
          <a:lstStyle/>
          <a:p>
            <a:fld id="{695CBC78-88DF-6447-89DF-6EAD6709636E}" type="slidenum">
              <a:rPr lang="en-US" smtClean="0"/>
              <a:t>6</a:t>
            </a:fld>
            <a:endParaRPr lang="en-US"/>
          </a:p>
        </p:txBody>
      </p:sp>
    </p:spTree>
    <p:extLst>
      <p:ext uri="{BB962C8B-B14F-4D97-AF65-F5344CB8AC3E}">
        <p14:creationId xmlns:p14="http://schemas.microsoft.com/office/powerpoint/2010/main" val="2536329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AF17-82BF-D3E0-6B7F-077D34D51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4FE28-E83F-CB5A-FDB5-5828B8039D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2CF499-77B5-277C-58C8-6CC7E3D255A5}"/>
              </a:ext>
            </a:extLst>
          </p:cNvPr>
          <p:cNvSpPr>
            <a:spLocks noGrp="1"/>
          </p:cNvSpPr>
          <p:nvPr>
            <p:ph type="body" idx="1"/>
          </p:nvPr>
        </p:nvSpPr>
        <p:spPr/>
        <p:txBody>
          <a:bodyPr/>
          <a:lstStyle/>
          <a:p>
            <a:pPr marL="171450" indent="-171450">
              <a:buFontTx/>
              <a:buChar char="-"/>
            </a:pPr>
            <a:r>
              <a:rPr lang="en-US"/>
              <a:t>4 entities, time varying arrival rate </a:t>
            </a:r>
          </a:p>
          <a:p>
            <a:pPr marL="171450" indent="-171450">
              <a:buFontTx/>
              <a:buChar char="-"/>
            </a:pPr>
            <a:r>
              <a:rPr lang="en-US"/>
              <a:t>2 W and 2 M</a:t>
            </a:r>
          </a:p>
          <a:p>
            <a:pPr marL="171450" indent="-171450">
              <a:buFontTx/>
              <a:buChar char="-"/>
            </a:pPr>
            <a:r>
              <a:rPr lang="en-US"/>
              <a:t>Paths to simulate walking</a:t>
            </a:r>
          </a:p>
          <a:p>
            <a:pPr marL="171450" indent="-171450">
              <a:buFontTx/>
              <a:buChar char="-"/>
            </a:pPr>
            <a:r>
              <a:rPr lang="en-US"/>
              <a:t>Basic nodes with add on process delays for shopping areas</a:t>
            </a:r>
          </a:p>
          <a:p>
            <a:pPr marL="171450" indent="-171450">
              <a:buFontTx/>
              <a:buChar char="-"/>
            </a:pPr>
            <a:r>
              <a:rPr lang="en-US"/>
              <a:t>Transfer nodes with logic for shoppers to pick the shortest queue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Probabilistic Balk Decision Type at the source, with the probability at 35%</a:t>
            </a:r>
          </a:p>
          <a:p>
            <a:pPr marL="171450" indent="-171450">
              <a:buFontTx/>
              <a:buChar char="-"/>
            </a:pPr>
            <a:r>
              <a:rPr lang="en-US"/>
              <a:t>Renege triggers if in line for an hour</a:t>
            </a:r>
          </a:p>
          <a:p>
            <a:pPr marL="171450" indent="-171450">
              <a:buFontTx/>
              <a:buChar char="-"/>
            </a:pPr>
            <a:r>
              <a:rPr lang="en-US"/>
              <a:t>Balk is set at 50</a:t>
            </a:r>
          </a:p>
          <a:p>
            <a:pPr marL="171450" indent="-171450">
              <a:buFontTx/>
              <a:buChar char="-"/>
            </a:pPr>
            <a:endParaRPr lang="en-US"/>
          </a:p>
        </p:txBody>
      </p:sp>
      <p:sp>
        <p:nvSpPr>
          <p:cNvPr id="4" name="Slide Number Placeholder 3">
            <a:extLst>
              <a:ext uri="{FF2B5EF4-FFF2-40B4-BE49-F238E27FC236}">
                <a16:creationId xmlns:a16="http://schemas.microsoft.com/office/drawing/2014/main" id="{646EE4CB-E0F2-C72B-61A0-AEC5DB95FCCE}"/>
              </a:ext>
            </a:extLst>
          </p:cNvPr>
          <p:cNvSpPr>
            <a:spLocks noGrp="1"/>
          </p:cNvSpPr>
          <p:nvPr>
            <p:ph type="sldNum" sz="quarter" idx="5"/>
          </p:nvPr>
        </p:nvSpPr>
        <p:spPr/>
        <p:txBody>
          <a:bodyPr/>
          <a:lstStyle/>
          <a:p>
            <a:fld id="{695CBC78-88DF-6447-89DF-6EAD6709636E}" type="slidenum">
              <a:rPr lang="en-US" smtClean="0"/>
              <a:t>7</a:t>
            </a:fld>
            <a:endParaRPr lang="en-US"/>
          </a:p>
        </p:txBody>
      </p:sp>
    </p:spTree>
    <p:extLst>
      <p:ext uri="{BB962C8B-B14F-4D97-AF65-F5344CB8AC3E}">
        <p14:creationId xmlns:p14="http://schemas.microsoft.com/office/powerpoint/2010/main" val="709583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FD107-4D57-0DC2-36F6-2CA59BAEC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DBD36-2B7A-3892-F938-A88FC75673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911B59-A631-1A35-690D-B32549A7F5F3}"/>
              </a:ext>
            </a:extLst>
          </p:cNvPr>
          <p:cNvSpPr>
            <a:spLocks noGrp="1"/>
          </p:cNvSpPr>
          <p:nvPr>
            <p:ph type="body" idx="1"/>
          </p:nvPr>
        </p:nvSpPr>
        <p:spPr/>
        <p:txBody>
          <a:bodyPr/>
          <a:lstStyle/>
          <a:p>
            <a:r>
              <a:rPr lang="en-US"/>
              <a:t>To analyze our agency information, we used lookup functions to pull notes, frequencies, and days into the main datasheet, to create an all </a:t>
            </a:r>
            <a:r>
              <a:rPr lang="en-US" err="1"/>
              <a:t>encompasing</a:t>
            </a:r>
            <a:r>
              <a:rPr lang="en-US"/>
              <a:t> tool to be used by the food bank for future calendar creation. </a:t>
            </a:r>
          </a:p>
        </p:txBody>
      </p:sp>
      <p:sp>
        <p:nvSpPr>
          <p:cNvPr id="4" name="Slide Number Placeholder 3">
            <a:extLst>
              <a:ext uri="{FF2B5EF4-FFF2-40B4-BE49-F238E27FC236}">
                <a16:creationId xmlns:a16="http://schemas.microsoft.com/office/drawing/2014/main" id="{B1C88457-1A4F-847F-5846-2DDDC329E5F7}"/>
              </a:ext>
            </a:extLst>
          </p:cNvPr>
          <p:cNvSpPr>
            <a:spLocks noGrp="1"/>
          </p:cNvSpPr>
          <p:nvPr>
            <p:ph type="sldNum" sz="quarter" idx="5"/>
          </p:nvPr>
        </p:nvSpPr>
        <p:spPr/>
        <p:txBody>
          <a:bodyPr/>
          <a:lstStyle/>
          <a:p>
            <a:fld id="{695CBC78-88DF-6447-89DF-6EAD6709636E}" type="slidenum">
              <a:rPr lang="en-US" smtClean="0"/>
              <a:t>8</a:t>
            </a:fld>
            <a:endParaRPr lang="en-US"/>
          </a:p>
        </p:txBody>
      </p:sp>
    </p:spTree>
    <p:extLst>
      <p:ext uri="{BB962C8B-B14F-4D97-AF65-F5344CB8AC3E}">
        <p14:creationId xmlns:p14="http://schemas.microsoft.com/office/powerpoint/2010/main" val="1263355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6FB5E-EDA2-B516-99F3-5ADF58C0D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C8201-8226-5F79-8329-A54E3C2251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B3C09A-F797-ECEB-3F99-BB3CB0963A4B}"/>
              </a:ext>
            </a:extLst>
          </p:cNvPr>
          <p:cNvSpPr>
            <a:spLocks noGrp="1"/>
          </p:cNvSpPr>
          <p:nvPr>
            <p:ph type="body" idx="1"/>
          </p:nvPr>
        </p:nvSpPr>
        <p:spPr/>
        <p:txBody>
          <a:bodyPr/>
          <a:lstStyle/>
          <a:p>
            <a:pPr marL="342900" marR="0" lvl="0" indent="-342900">
              <a:lnSpc>
                <a:spcPct val="150000"/>
              </a:lnSpc>
              <a:spcBef>
                <a:spcPts val="0"/>
              </a:spcBef>
              <a:spcAft>
                <a:spcPts val="0"/>
              </a:spcAft>
              <a:buFont typeface="Symbol" pitchFamily="2" charset="2"/>
              <a:buChar char=""/>
            </a:pPr>
            <a:r>
              <a:rPr lang="en-US"/>
              <a:t>Our first alternative to better the Black Friday shopping experience was to adjust capacity within our service departments</a:t>
            </a:r>
          </a:p>
          <a:p>
            <a:pPr marL="342900" marR="0" lvl="0" indent="-342900">
              <a:lnSpc>
                <a:spcPct val="150000"/>
              </a:lnSpc>
              <a:spcBef>
                <a:spcPts val="0"/>
              </a:spcBef>
              <a:spcAft>
                <a:spcPts val="0"/>
              </a:spcAft>
              <a:buFont typeface="Symbol" pitchFamily="2" charset="2"/>
              <a:buChar char=""/>
            </a:pPr>
            <a:r>
              <a:rPr lang="en-US"/>
              <a:t>INITIAL:</a:t>
            </a:r>
            <a:br>
              <a:rPr lang="en-US"/>
            </a:br>
            <a:br>
              <a:rPr lang="en-US"/>
            </a:br>
            <a:br>
              <a:rPr lang="en-US"/>
            </a:br>
            <a:r>
              <a:rPr lang="en-US" sz="1800">
                <a:effectLst/>
                <a:latin typeface="Times New Roman" panose="02020603050405020304" pitchFamily="18" charset="0"/>
                <a:ea typeface="Times New Roman" panose="02020603050405020304" pitchFamily="18" charset="0"/>
              </a:rPr>
              <a:t>Men’s and children’s clothing: 4 servers (capacity 2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Furniture/household appliances: 2 servers (capacity 4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Macy’s Backstage: 4 servers (capacity 2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Women’s clothing: 3 servers (capacity 2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Shoes and junior’s clothing: 2 servers (capacity 4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Jewelry: 5 servers (capacity 2 each)</a:t>
            </a:r>
          </a:p>
          <a:p>
            <a:pPr marL="342900" marR="0" lvl="0" indent="-342900">
              <a:lnSpc>
                <a:spcPct val="150000"/>
              </a:lnSpc>
              <a:spcBef>
                <a:spcPts val="0"/>
              </a:spcBef>
              <a:spcAft>
                <a:spcPts val="0"/>
              </a:spcAft>
              <a:buFont typeface="Symbol" pitchFamily="2" charset="2"/>
              <a:buChar char=""/>
            </a:pPr>
            <a:r>
              <a:rPr lang="en-US" sz="1800">
                <a:effectLst/>
                <a:latin typeface="Times New Roman" panose="02020603050405020304" pitchFamily="18" charset="0"/>
                <a:ea typeface="Times New Roman" panose="02020603050405020304" pitchFamily="18" charset="0"/>
              </a:rPr>
              <a:t>Perfume: 6 servers (capacity 2 each)</a:t>
            </a:r>
          </a:p>
          <a:p>
            <a:endParaRPr lang="en-US"/>
          </a:p>
        </p:txBody>
      </p:sp>
      <p:sp>
        <p:nvSpPr>
          <p:cNvPr id="4" name="Slide Number Placeholder 3">
            <a:extLst>
              <a:ext uri="{FF2B5EF4-FFF2-40B4-BE49-F238E27FC236}">
                <a16:creationId xmlns:a16="http://schemas.microsoft.com/office/drawing/2014/main" id="{94856BB5-66EA-AB96-6EA7-833ABF82E483}"/>
              </a:ext>
            </a:extLst>
          </p:cNvPr>
          <p:cNvSpPr>
            <a:spLocks noGrp="1"/>
          </p:cNvSpPr>
          <p:nvPr>
            <p:ph type="sldNum" sz="quarter" idx="5"/>
          </p:nvPr>
        </p:nvSpPr>
        <p:spPr/>
        <p:txBody>
          <a:bodyPr/>
          <a:lstStyle/>
          <a:p>
            <a:fld id="{695CBC78-88DF-6447-89DF-6EAD6709636E}" type="slidenum">
              <a:rPr lang="en-US" smtClean="0"/>
              <a:t>9</a:t>
            </a:fld>
            <a:endParaRPr lang="en-US"/>
          </a:p>
        </p:txBody>
      </p:sp>
    </p:spTree>
    <p:extLst>
      <p:ext uri="{BB962C8B-B14F-4D97-AF65-F5344CB8AC3E}">
        <p14:creationId xmlns:p14="http://schemas.microsoft.com/office/powerpoint/2010/main" val="4161222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A447-7432-3366-9422-91A694347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B7FE0-E7A6-5F7F-BF26-B9D25ACADA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F1A38F-098C-2A99-9EA4-9465A9EBE87A}"/>
              </a:ext>
            </a:extLst>
          </p:cNvPr>
          <p:cNvSpPr>
            <a:spLocks noGrp="1"/>
          </p:cNvSpPr>
          <p:nvPr>
            <p:ph type="body" idx="1"/>
          </p:nvPr>
        </p:nvSpPr>
        <p:spPr/>
        <p:txBody>
          <a:bodyPr/>
          <a:lstStyle/>
          <a:p>
            <a:r>
              <a:rPr lang="en-US"/>
              <a:t>To analyze our agency information, we used lookup functions to pull notes, frequencies, and days into the main datasheet, to create an all </a:t>
            </a:r>
            <a:r>
              <a:rPr lang="en-US" err="1"/>
              <a:t>encompasing</a:t>
            </a:r>
            <a:r>
              <a:rPr lang="en-US"/>
              <a:t> tool to be used by the food bank for future calendar creation. </a:t>
            </a:r>
          </a:p>
        </p:txBody>
      </p:sp>
      <p:sp>
        <p:nvSpPr>
          <p:cNvPr id="4" name="Slide Number Placeholder 3">
            <a:extLst>
              <a:ext uri="{FF2B5EF4-FFF2-40B4-BE49-F238E27FC236}">
                <a16:creationId xmlns:a16="http://schemas.microsoft.com/office/drawing/2014/main" id="{8EF07D2C-60D8-1136-45D9-71BFC9E78FD7}"/>
              </a:ext>
            </a:extLst>
          </p:cNvPr>
          <p:cNvSpPr>
            <a:spLocks noGrp="1"/>
          </p:cNvSpPr>
          <p:nvPr>
            <p:ph type="sldNum" sz="quarter" idx="5"/>
          </p:nvPr>
        </p:nvSpPr>
        <p:spPr/>
        <p:txBody>
          <a:bodyPr/>
          <a:lstStyle/>
          <a:p>
            <a:fld id="{695CBC78-88DF-6447-89DF-6EAD6709636E}" type="slidenum">
              <a:rPr lang="en-US" smtClean="0"/>
              <a:t>10</a:t>
            </a:fld>
            <a:endParaRPr lang="en-US"/>
          </a:p>
        </p:txBody>
      </p:sp>
    </p:spTree>
    <p:extLst>
      <p:ext uri="{BB962C8B-B14F-4D97-AF65-F5344CB8AC3E}">
        <p14:creationId xmlns:p14="http://schemas.microsoft.com/office/powerpoint/2010/main" val="1824272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B4C8-FE02-E63C-C9BC-F6CF5531D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F99FD-876F-3D4E-040D-DD44BD5309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5AA91C-7CB1-2936-ED69-D6E6CF639D6A}"/>
              </a:ext>
            </a:extLst>
          </p:cNvPr>
          <p:cNvSpPr>
            <a:spLocks noGrp="1"/>
          </p:cNvSpPr>
          <p:nvPr>
            <p:ph type="body" idx="1"/>
          </p:nvPr>
        </p:nvSpPr>
        <p:spPr/>
        <p:txBody>
          <a:bodyPr/>
          <a:lstStyle/>
          <a:p>
            <a:r>
              <a:rPr lang="en-US"/>
              <a:t>After running experiments for each alternative, we can visually see that the capacity alt, in green, reduced customer flow time the most</a:t>
            </a:r>
          </a:p>
        </p:txBody>
      </p:sp>
      <p:sp>
        <p:nvSpPr>
          <p:cNvPr id="4" name="Slide Number Placeholder 3">
            <a:extLst>
              <a:ext uri="{FF2B5EF4-FFF2-40B4-BE49-F238E27FC236}">
                <a16:creationId xmlns:a16="http://schemas.microsoft.com/office/drawing/2014/main" id="{25334E6C-C270-7B97-C3F6-7F99B2733047}"/>
              </a:ext>
            </a:extLst>
          </p:cNvPr>
          <p:cNvSpPr>
            <a:spLocks noGrp="1"/>
          </p:cNvSpPr>
          <p:nvPr>
            <p:ph type="sldNum" sz="quarter" idx="5"/>
          </p:nvPr>
        </p:nvSpPr>
        <p:spPr/>
        <p:txBody>
          <a:bodyPr/>
          <a:lstStyle/>
          <a:p>
            <a:fld id="{695CBC78-88DF-6447-89DF-6EAD6709636E}" type="slidenum">
              <a:rPr lang="en-US" smtClean="0"/>
              <a:t>11</a:t>
            </a:fld>
            <a:endParaRPr lang="en-US"/>
          </a:p>
        </p:txBody>
      </p:sp>
    </p:spTree>
    <p:extLst>
      <p:ext uri="{BB962C8B-B14F-4D97-AF65-F5344CB8AC3E}">
        <p14:creationId xmlns:p14="http://schemas.microsoft.com/office/powerpoint/2010/main" val="3261640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AA82-7942-341E-0D3E-9D9038939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602BA-2BF0-3763-B9AC-856E4F0CBE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0CE946-D38C-90DA-D80A-039E797DA152}"/>
              </a:ext>
            </a:extLst>
          </p:cNvPr>
          <p:cNvSpPr>
            <a:spLocks noGrp="1"/>
          </p:cNvSpPr>
          <p:nvPr>
            <p:ph type="body" idx="1"/>
          </p:nvPr>
        </p:nvSpPr>
        <p:spPr/>
        <p:txBody>
          <a:bodyPr/>
          <a:lstStyle/>
          <a:p>
            <a:pPr marL="171450" indent="-171450">
              <a:buFontTx/>
              <a:buChar char="-"/>
            </a:pPr>
            <a:r>
              <a:rPr lang="en-US"/>
              <a:t>Not all entities leaving by end of day</a:t>
            </a:r>
          </a:p>
          <a:p>
            <a:pPr marL="171450" indent="-171450">
              <a:buFontTx/>
              <a:buChar char="-"/>
            </a:pPr>
            <a:r>
              <a:rPr lang="en-US"/>
              <a:t>Needed additional hours to run</a:t>
            </a:r>
          </a:p>
          <a:p>
            <a:pPr marL="171450" indent="-171450">
              <a:buFontTx/>
              <a:buChar char="-"/>
            </a:pPr>
            <a:r>
              <a:rPr lang="en-US"/>
              <a:t>This is realistic because </a:t>
            </a:r>
            <a:r>
              <a:rPr lang="en-US" err="1"/>
              <a:t>irl</a:t>
            </a:r>
            <a:r>
              <a:rPr lang="en-US"/>
              <a:t> not all customers would be done shopping</a:t>
            </a:r>
          </a:p>
          <a:p>
            <a:pPr marL="171450" indent="-171450">
              <a:buFontTx/>
              <a:buChar char="-"/>
            </a:pPr>
            <a:r>
              <a:rPr lang="en-US"/>
              <a:t>The behavior creates symptom generation</a:t>
            </a:r>
          </a:p>
          <a:p>
            <a:pPr marL="171450" indent="-171450">
              <a:buFontTx/>
              <a:buChar char="-"/>
            </a:pPr>
            <a:endParaRPr lang="en-US"/>
          </a:p>
          <a:p>
            <a:pPr marL="171450" indent="-171450">
              <a:buFontTx/>
              <a:buChar char="-"/>
            </a:pPr>
            <a:r>
              <a:rPr lang="en-US"/>
              <a:t>For validation, in our base model, entities were not all leaving the system before the store closed so it had to be ran for additional hours. This is symptom generation of real life because not everyone can always be checked out before the store closes. </a:t>
            </a:r>
          </a:p>
          <a:p>
            <a:pPr marL="171450" indent="-171450">
              <a:buFontTx/>
              <a:buChar char="-"/>
            </a:pPr>
            <a:endParaRPr lang="en-US"/>
          </a:p>
        </p:txBody>
      </p:sp>
      <p:sp>
        <p:nvSpPr>
          <p:cNvPr id="4" name="Slide Number Placeholder 3">
            <a:extLst>
              <a:ext uri="{FF2B5EF4-FFF2-40B4-BE49-F238E27FC236}">
                <a16:creationId xmlns:a16="http://schemas.microsoft.com/office/drawing/2014/main" id="{2256C6C7-55C7-F053-AB4F-548182BC8238}"/>
              </a:ext>
            </a:extLst>
          </p:cNvPr>
          <p:cNvSpPr>
            <a:spLocks noGrp="1"/>
          </p:cNvSpPr>
          <p:nvPr>
            <p:ph type="sldNum" sz="quarter" idx="5"/>
          </p:nvPr>
        </p:nvSpPr>
        <p:spPr/>
        <p:txBody>
          <a:bodyPr/>
          <a:lstStyle/>
          <a:p>
            <a:fld id="{695CBC78-88DF-6447-89DF-6EAD6709636E}" type="slidenum">
              <a:rPr lang="en-US" smtClean="0"/>
              <a:t>12</a:t>
            </a:fld>
            <a:endParaRPr lang="en-US"/>
          </a:p>
        </p:txBody>
      </p:sp>
    </p:spTree>
    <p:extLst>
      <p:ext uri="{BB962C8B-B14F-4D97-AF65-F5344CB8AC3E}">
        <p14:creationId xmlns:p14="http://schemas.microsoft.com/office/powerpoint/2010/main" val="4199920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9F49D-A0B8-40C2-F8E1-3E3FED9F4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41742-1134-715A-65CF-32A9DA8934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CB4C2F-E932-BF39-48C7-DD69C0200CB3}"/>
              </a:ext>
            </a:extLst>
          </p:cNvPr>
          <p:cNvSpPr>
            <a:spLocks noGrp="1"/>
          </p:cNvSpPr>
          <p:nvPr>
            <p:ph type="body" idx="1"/>
          </p:nvPr>
        </p:nvSpPr>
        <p:spPr/>
        <p:txBody>
          <a:bodyPr/>
          <a:lstStyle/>
          <a:p>
            <a:pPr marL="171450" indent="-171450">
              <a:buFontTx/>
              <a:buChar char="-"/>
            </a:pPr>
            <a:r>
              <a:rPr lang="en-US"/>
              <a:t>Consistency confirmed by running model several times and number entities created and destroyed stayed about the same</a:t>
            </a:r>
          </a:p>
          <a:p>
            <a:pPr marL="171450" indent="-171450">
              <a:buFontTx/>
              <a:buChar char="-"/>
            </a:pPr>
            <a:r>
              <a:rPr lang="en-US"/>
              <a:t>Adjusting server capacity reduced flowtime and utilization</a:t>
            </a:r>
          </a:p>
          <a:p>
            <a:pPr marL="171450" indent="-171450">
              <a:buFontTx/>
              <a:buChar char="-"/>
            </a:pPr>
            <a:r>
              <a:rPr lang="en-US"/>
              <a:t>Did not cause any absurd conditions </a:t>
            </a:r>
          </a:p>
          <a:p>
            <a:pPr marL="171450" indent="-171450">
              <a:buFontTx/>
              <a:buChar char="-"/>
            </a:pPr>
            <a:endParaRPr lang="en-US"/>
          </a:p>
          <a:p>
            <a:pPr marL="171450" indent="-171450">
              <a:buFontTx/>
              <a:buChar char="-"/>
            </a:pPr>
            <a:r>
              <a:rPr lang="en-US"/>
              <a:t>We confirmed consistency by running the model several times and ensuring the numbers of entities created and destroyed stayed about the same. We tested degeneracy by adjusting server capacities and seeing reduced flowtime and utilization. We didn’t see any weird conditions such as zero flow time or infinite queues</a:t>
            </a:r>
          </a:p>
          <a:p>
            <a:pPr marL="171450" indent="-171450">
              <a:buFontTx/>
              <a:buChar char="-"/>
            </a:pPr>
            <a:endParaRPr lang="en-US"/>
          </a:p>
        </p:txBody>
      </p:sp>
      <p:sp>
        <p:nvSpPr>
          <p:cNvPr id="4" name="Slide Number Placeholder 3">
            <a:extLst>
              <a:ext uri="{FF2B5EF4-FFF2-40B4-BE49-F238E27FC236}">
                <a16:creationId xmlns:a16="http://schemas.microsoft.com/office/drawing/2014/main" id="{AB1AB621-B0BE-0504-51DA-E6F0A46E5356}"/>
              </a:ext>
            </a:extLst>
          </p:cNvPr>
          <p:cNvSpPr>
            <a:spLocks noGrp="1"/>
          </p:cNvSpPr>
          <p:nvPr>
            <p:ph type="sldNum" sz="quarter" idx="5"/>
          </p:nvPr>
        </p:nvSpPr>
        <p:spPr/>
        <p:txBody>
          <a:bodyPr/>
          <a:lstStyle/>
          <a:p>
            <a:fld id="{695CBC78-88DF-6447-89DF-6EAD6709636E}" type="slidenum">
              <a:rPr lang="en-US" smtClean="0"/>
              <a:t>13</a:t>
            </a:fld>
            <a:endParaRPr lang="en-US"/>
          </a:p>
        </p:txBody>
      </p:sp>
    </p:spTree>
    <p:extLst>
      <p:ext uri="{BB962C8B-B14F-4D97-AF65-F5344CB8AC3E}">
        <p14:creationId xmlns:p14="http://schemas.microsoft.com/office/powerpoint/2010/main" val="4065596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6ED00-1144-D2FD-30E4-695A9CB6C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3F899-9605-0649-588D-C820241CE9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B66FDF-20C4-6C80-E271-58F1F624EE20}"/>
              </a:ext>
            </a:extLst>
          </p:cNvPr>
          <p:cNvSpPr>
            <a:spLocks noGrp="1"/>
          </p:cNvSpPr>
          <p:nvPr>
            <p:ph type="body" idx="1"/>
          </p:nvPr>
        </p:nvSpPr>
        <p:spPr/>
        <p:txBody>
          <a:bodyPr/>
          <a:lstStyle/>
          <a:p>
            <a:pPr marL="171450" indent="-171450">
              <a:buFontTx/>
              <a:buChar char="-"/>
            </a:pPr>
            <a:r>
              <a:rPr lang="en-US"/>
              <a:t>We utilized model trace</a:t>
            </a:r>
          </a:p>
          <a:p>
            <a:pPr marL="171450" indent="-171450">
              <a:buFontTx/>
              <a:buChar char="-"/>
            </a:pPr>
            <a:r>
              <a:rPr lang="en-US"/>
              <a:t>Built model incrementally</a:t>
            </a:r>
          </a:p>
          <a:p>
            <a:pPr marL="171450" indent="-171450">
              <a:buFontTx/>
              <a:buChar char="-"/>
            </a:pPr>
            <a:r>
              <a:rPr lang="en-US"/>
              <a:t>Walked through steps visually to make sure entities move correctly</a:t>
            </a:r>
          </a:p>
          <a:p>
            <a:pPr marL="171450" indent="-171450">
              <a:buFontTx/>
              <a:buChar char="-"/>
            </a:pPr>
            <a:r>
              <a:rPr lang="en-US"/>
              <a:t>We checked units (minutes)</a:t>
            </a:r>
          </a:p>
          <a:p>
            <a:pPr marL="171450" indent="-171450">
              <a:buFontTx/>
              <a:buChar char="-"/>
            </a:pPr>
            <a:endParaRPr lang="en-US"/>
          </a:p>
          <a:p>
            <a:pPr marL="171450" indent="-171450">
              <a:buFontTx/>
              <a:buChar char="-"/>
            </a:pPr>
            <a:r>
              <a:rPr lang="en-US"/>
              <a:t>We used the model trace throughout building the to quickly identity any issues in the system. We built the model incrementally, doing checks to make sure everything made sense between steps. We visually checked entity movement to make sure no one was going off path and going in correct order. We also checked units to make sure everything was in minutes.</a:t>
            </a:r>
          </a:p>
        </p:txBody>
      </p:sp>
      <p:sp>
        <p:nvSpPr>
          <p:cNvPr id="4" name="Slide Number Placeholder 3">
            <a:extLst>
              <a:ext uri="{FF2B5EF4-FFF2-40B4-BE49-F238E27FC236}">
                <a16:creationId xmlns:a16="http://schemas.microsoft.com/office/drawing/2014/main" id="{599B1C40-1DFE-0D35-FFD1-368F7CCFA986}"/>
              </a:ext>
            </a:extLst>
          </p:cNvPr>
          <p:cNvSpPr>
            <a:spLocks noGrp="1"/>
          </p:cNvSpPr>
          <p:nvPr>
            <p:ph type="sldNum" sz="quarter" idx="5"/>
          </p:nvPr>
        </p:nvSpPr>
        <p:spPr/>
        <p:txBody>
          <a:bodyPr/>
          <a:lstStyle/>
          <a:p>
            <a:fld id="{695CBC78-88DF-6447-89DF-6EAD6709636E}" type="slidenum">
              <a:rPr lang="en-US" smtClean="0"/>
              <a:t>14</a:t>
            </a:fld>
            <a:endParaRPr lang="en-US"/>
          </a:p>
        </p:txBody>
      </p:sp>
    </p:spTree>
    <p:extLst>
      <p:ext uri="{BB962C8B-B14F-4D97-AF65-F5344CB8AC3E}">
        <p14:creationId xmlns:p14="http://schemas.microsoft.com/office/powerpoint/2010/main" val="2816700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601D0-EA6C-7DC4-F84F-14FEA959F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6428-12B7-A722-759F-337909EC21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5455B5-0C3C-C7B3-E221-55D0E79E9DB7}"/>
              </a:ext>
            </a:extLst>
          </p:cNvPr>
          <p:cNvSpPr>
            <a:spLocks noGrp="1"/>
          </p:cNvSpPr>
          <p:nvPr>
            <p:ph type="body" idx="1"/>
          </p:nvPr>
        </p:nvSpPr>
        <p:spPr/>
        <p:txBody>
          <a:bodyPr/>
          <a:lstStyle/>
          <a:p>
            <a:r>
              <a:rPr lang="en-US"/>
              <a:t>$3-4k</a:t>
            </a:r>
          </a:p>
          <a:p>
            <a:r>
              <a:rPr lang="en-US"/>
              <a:t>Geographic information system using spatial analysis to visualize and analyze geographic data</a:t>
            </a:r>
          </a:p>
          <a:p>
            <a:endParaRPr lang="en-US"/>
          </a:p>
          <a:p>
            <a:r>
              <a:rPr lang="en-US" b="0" i="0">
                <a:solidFill>
                  <a:srgbClr val="4C4C4C"/>
                </a:solidFill>
                <a:effectLst/>
                <a:latin typeface="Avenir Next W01" panose="020B0503020202020204" pitchFamily="34" charset="0"/>
              </a:rPr>
              <a:t>What are live or historical traffic conditions like, and how do they affect my network analysis results?</a:t>
            </a:r>
          </a:p>
          <a:p>
            <a:br>
              <a:rPr lang="en-US"/>
            </a:br>
            <a:r>
              <a:rPr lang="en-US" b="0" i="0">
                <a:solidFill>
                  <a:srgbClr val="4C4C4C"/>
                </a:solidFill>
                <a:effectLst/>
                <a:latin typeface="Avenir Next W01" panose="020B0503020202020204" pitchFamily="34" charset="0"/>
              </a:rPr>
              <a:t>route our fleet of delivery vehicles to minimize overall transportation costs and improve customer service</a:t>
            </a:r>
          </a:p>
          <a:p>
            <a:br>
              <a:rPr lang="en-US"/>
            </a:br>
            <a:r>
              <a:rPr lang="en-US" b="0" i="0">
                <a:solidFill>
                  <a:srgbClr val="4C4C4C"/>
                </a:solidFill>
                <a:effectLst/>
                <a:latin typeface="Avenir Next W01" panose="020B0503020202020204" pitchFamily="34" charset="0"/>
              </a:rPr>
              <a:t>origin-destination cost matrices that the ArcGIS Network Analyst extension </a:t>
            </a:r>
          </a:p>
          <a:p>
            <a:pPr algn="l"/>
            <a:r>
              <a:rPr lang="en-US" b="0" i="0">
                <a:solidFill>
                  <a:srgbClr val="4C4C4C"/>
                </a:solidFill>
                <a:effectLst/>
                <a:latin typeface="Avenir Next W01" panose="020B0503020202020204" pitchFamily="34" charset="0"/>
              </a:rPr>
              <a:t>mathematical expressions to help make trip forecasts.</a:t>
            </a:r>
          </a:p>
          <a:p>
            <a:endParaRPr lang="en-US"/>
          </a:p>
          <a:p>
            <a:r>
              <a:rPr lang="en-US"/>
              <a:t>For our experiments, we didn’t use a warmup period because we wanted data to reflect the arrivals at all points throughout the day, similar to the restaurant problem we did in lab. We did 10 replications of 17 hours. The hours include 1 hour after closing to allow entities to leave the system. We added capacity controls using real properties for each server to allow multiple capacities to be tested at once for each server. We used cycle times for our statistical analysis</a:t>
            </a:r>
            <a:br>
              <a:rPr lang="en-US"/>
            </a:br>
            <a:endParaRPr lang="en-US"/>
          </a:p>
        </p:txBody>
      </p:sp>
      <p:sp>
        <p:nvSpPr>
          <p:cNvPr id="4" name="Slide Number Placeholder 3">
            <a:extLst>
              <a:ext uri="{FF2B5EF4-FFF2-40B4-BE49-F238E27FC236}">
                <a16:creationId xmlns:a16="http://schemas.microsoft.com/office/drawing/2014/main" id="{D9D2EAD7-EBE0-F118-C42E-BF165856F8E1}"/>
              </a:ext>
            </a:extLst>
          </p:cNvPr>
          <p:cNvSpPr>
            <a:spLocks noGrp="1"/>
          </p:cNvSpPr>
          <p:nvPr>
            <p:ph type="sldNum" sz="quarter" idx="5"/>
          </p:nvPr>
        </p:nvSpPr>
        <p:spPr/>
        <p:txBody>
          <a:bodyPr/>
          <a:lstStyle/>
          <a:p>
            <a:fld id="{695CBC78-88DF-6447-89DF-6EAD6709636E}" type="slidenum">
              <a:rPr lang="en-US" smtClean="0"/>
              <a:t>15</a:t>
            </a:fld>
            <a:endParaRPr lang="en-US"/>
          </a:p>
        </p:txBody>
      </p:sp>
    </p:spTree>
    <p:extLst>
      <p:ext uri="{BB962C8B-B14F-4D97-AF65-F5344CB8AC3E}">
        <p14:creationId xmlns:p14="http://schemas.microsoft.com/office/powerpoint/2010/main" val="3885695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E67D-E207-86EB-7D96-24222E059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BD68D-8F28-4A03-E456-889679F12C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7EBDDB-3CE1-8B4C-B0BC-02C57E585104}"/>
              </a:ext>
            </a:extLst>
          </p:cNvPr>
          <p:cNvSpPr>
            <a:spLocks noGrp="1"/>
          </p:cNvSpPr>
          <p:nvPr>
            <p:ph type="body" idx="1"/>
          </p:nvPr>
        </p:nvSpPr>
        <p:spPr/>
        <p:txBody>
          <a:bodyPr/>
          <a:lstStyle/>
          <a:p>
            <a:pPr algn="l"/>
            <a:r>
              <a:rPr lang="en-US" b="0" i="0">
                <a:solidFill>
                  <a:srgbClr val="4C4C4C"/>
                </a:solidFill>
                <a:effectLst/>
                <a:latin typeface="Avenir Next W01" panose="020B0503020202020204" pitchFamily="34" charset="0"/>
              </a:rPr>
              <a:t>Here are the cycle times for the base model and alternatives. The capacity alternative had the shortest cycle times.</a:t>
            </a:r>
          </a:p>
          <a:p>
            <a:pPr algn="l"/>
            <a:endParaRPr lang="en-US" b="0" i="0">
              <a:solidFill>
                <a:srgbClr val="4C4C4C"/>
              </a:solidFill>
              <a:effectLst/>
              <a:latin typeface="Avenir Next W01" panose="020B0503020202020204" pitchFamily="34" charset="0"/>
            </a:endParaRPr>
          </a:p>
          <a:p>
            <a:br>
              <a:rPr lang="en-US"/>
            </a:br>
            <a:endParaRPr lang="en-US"/>
          </a:p>
        </p:txBody>
      </p:sp>
      <p:sp>
        <p:nvSpPr>
          <p:cNvPr id="4" name="Slide Number Placeholder 3">
            <a:extLst>
              <a:ext uri="{FF2B5EF4-FFF2-40B4-BE49-F238E27FC236}">
                <a16:creationId xmlns:a16="http://schemas.microsoft.com/office/drawing/2014/main" id="{8E63FE3A-6B43-E695-0B25-2E41BB8A5EBE}"/>
              </a:ext>
            </a:extLst>
          </p:cNvPr>
          <p:cNvSpPr>
            <a:spLocks noGrp="1"/>
          </p:cNvSpPr>
          <p:nvPr>
            <p:ph type="sldNum" sz="quarter" idx="5"/>
          </p:nvPr>
        </p:nvSpPr>
        <p:spPr/>
        <p:txBody>
          <a:bodyPr/>
          <a:lstStyle/>
          <a:p>
            <a:fld id="{695CBC78-88DF-6447-89DF-6EAD6709636E}" type="slidenum">
              <a:rPr lang="en-US" smtClean="0"/>
              <a:t>16</a:t>
            </a:fld>
            <a:endParaRPr lang="en-US"/>
          </a:p>
        </p:txBody>
      </p:sp>
    </p:spTree>
    <p:extLst>
      <p:ext uri="{BB962C8B-B14F-4D97-AF65-F5344CB8AC3E}">
        <p14:creationId xmlns:p14="http://schemas.microsoft.com/office/powerpoint/2010/main" val="2568920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071B-94FD-8134-0038-146992D48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B7552-8F49-D874-156C-8F2A7A1836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D3BBC3-1F3D-9E92-F6A1-EFAF05595490}"/>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82F20E53-E0B0-C2D3-483C-E96834B3114E}"/>
              </a:ext>
            </a:extLst>
          </p:cNvPr>
          <p:cNvSpPr>
            <a:spLocks noGrp="1"/>
          </p:cNvSpPr>
          <p:nvPr>
            <p:ph type="sldNum" sz="quarter" idx="5"/>
          </p:nvPr>
        </p:nvSpPr>
        <p:spPr/>
        <p:txBody>
          <a:bodyPr/>
          <a:lstStyle/>
          <a:p>
            <a:fld id="{695CBC78-88DF-6447-89DF-6EAD6709636E}" type="slidenum">
              <a:rPr lang="en-US" smtClean="0"/>
              <a:t>17</a:t>
            </a:fld>
            <a:endParaRPr lang="en-US"/>
          </a:p>
        </p:txBody>
      </p:sp>
    </p:spTree>
    <p:extLst>
      <p:ext uri="{BB962C8B-B14F-4D97-AF65-F5344CB8AC3E}">
        <p14:creationId xmlns:p14="http://schemas.microsoft.com/office/powerpoint/2010/main" val="117483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D3FCF-E6ED-94F6-2D4B-8474D68FE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CC493-7293-5715-9733-525AB10BA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BD8437-F578-90A1-6887-38ACD405D905}"/>
              </a:ext>
            </a:extLst>
          </p:cNvPr>
          <p:cNvSpPr>
            <a:spLocks noGrp="1"/>
          </p:cNvSpPr>
          <p:nvPr>
            <p:ph type="body" idx="1"/>
          </p:nvPr>
        </p:nvSpPr>
        <p:spPr/>
        <p:txBody>
          <a:bodyPr/>
          <a:lstStyle/>
          <a:p>
            <a:r>
              <a:rPr lang="en-US"/>
              <a:t>$3-4k</a:t>
            </a:r>
          </a:p>
          <a:p>
            <a:r>
              <a:rPr lang="en-US"/>
              <a:t>Geographic information system using spatial analysis to visualize and analyze geographic data</a:t>
            </a:r>
          </a:p>
          <a:p>
            <a:endParaRPr lang="en-US"/>
          </a:p>
          <a:p>
            <a:r>
              <a:rPr lang="en-US" b="0" i="0">
                <a:solidFill>
                  <a:srgbClr val="4C4C4C"/>
                </a:solidFill>
                <a:effectLst/>
                <a:latin typeface="Avenir Next W01" panose="020B0503020202020204" pitchFamily="34" charset="0"/>
              </a:rPr>
              <a:t>What are live or historical traffic conditions like, and how do they affect my network analysis results?</a:t>
            </a:r>
          </a:p>
          <a:p>
            <a:br>
              <a:rPr lang="en-US"/>
            </a:br>
            <a:r>
              <a:rPr lang="en-US" b="0" i="0">
                <a:solidFill>
                  <a:srgbClr val="4C4C4C"/>
                </a:solidFill>
                <a:effectLst/>
                <a:latin typeface="Avenir Next W01" panose="020B0503020202020204" pitchFamily="34" charset="0"/>
              </a:rPr>
              <a:t>route our fleet of delivery vehicles to minimize overall transportation costs and improve customer service</a:t>
            </a:r>
          </a:p>
          <a:p>
            <a:br>
              <a:rPr lang="en-US"/>
            </a:br>
            <a:r>
              <a:rPr lang="en-US" b="0" i="0">
                <a:solidFill>
                  <a:srgbClr val="4C4C4C"/>
                </a:solidFill>
                <a:effectLst/>
                <a:latin typeface="Avenir Next W01" panose="020B0503020202020204" pitchFamily="34" charset="0"/>
              </a:rPr>
              <a:t>origin-destination cost matrices that the ArcGIS Network Analyst extension </a:t>
            </a:r>
          </a:p>
          <a:p>
            <a:pPr algn="l"/>
            <a:r>
              <a:rPr lang="en-US" b="0" i="0">
                <a:solidFill>
                  <a:srgbClr val="4C4C4C"/>
                </a:solidFill>
                <a:effectLst/>
                <a:latin typeface="Avenir Next W01" panose="020B0503020202020204" pitchFamily="34" charset="0"/>
              </a:rPr>
              <a:t>mathematical expressions to help make trip forecasts.</a:t>
            </a:r>
          </a:p>
          <a:p>
            <a:br>
              <a:rPr lang="en-US"/>
            </a:br>
            <a:endParaRPr lang="en-US"/>
          </a:p>
        </p:txBody>
      </p:sp>
      <p:sp>
        <p:nvSpPr>
          <p:cNvPr id="4" name="Slide Number Placeholder 3">
            <a:extLst>
              <a:ext uri="{FF2B5EF4-FFF2-40B4-BE49-F238E27FC236}">
                <a16:creationId xmlns:a16="http://schemas.microsoft.com/office/drawing/2014/main" id="{3DAFF95E-163F-2A2E-9F40-4329BD99CD1F}"/>
              </a:ext>
            </a:extLst>
          </p:cNvPr>
          <p:cNvSpPr>
            <a:spLocks noGrp="1"/>
          </p:cNvSpPr>
          <p:nvPr>
            <p:ph type="sldNum" sz="quarter" idx="5"/>
          </p:nvPr>
        </p:nvSpPr>
        <p:spPr/>
        <p:txBody>
          <a:bodyPr/>
          <a:lstStyle/>
          <a:p>
            <a:fld id="{695CBC78-88DF-6447-89DF-6EAD6709636E}" type="slidenum">
              <a:rPr lang="en-US" smtClean="0"/>
              <a:t>18</a:t>
            </a:fld>
            <a:endParaRPr lang="en-US"/>
          </a:p>
        </p:txBody>
      </p:sp>
    </p:spTree>
    <p:extLst>
      <p:ext uri="{BB962C8B-B14F-4D97-AF65-F5344CB8AC3E}">
        <p14:creationId xmlns:p14="http://schemas.microsoft.com/office/powerpoint/2010/main" val="864993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2AC7-2CE0-4D53-FBAA-664316ADE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8B57A-51B3-AFFA-2DDF-59807012F6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5233C8-4258-E7A6-8F86-5A96F77B463D}"/>
              </a:ext>
            </a:extLst>
          </p:cNvPr>
          <p:cNvSpPr>
            <a:spLocks noGrp="1"/>
          </p:cNvSpPr>
          <p:nvPr>
            <p:ph type="body" idx="1"/>
          </p:nvPr>
        </p:nvSpPr>
        <p:spPr/>
        <p:txBody>
          <a:bodyPr/>
          <a:lstStyle/>
          <a:p>
            <a:r>
              <a:rPr lang="en-US"/>
              <a:t>While our capacity alternative has shown the </a:t>
            </a:r>
            <a:br>
              <a:rPr lang="en-US"/>
            </a:br>
            <a:endParaRPr lang="en-US"/>
          </a:p>
        </p:txBody>
      </p:sp>
      <p:sp>
        <p:nvSpPr>
          <p:cNvPr id="4" name="Slide Number Placeholder 3">
            <a:extLst>
              <a:ext uri="{FF2B5EF4-FFF2-40B4-BE49-F238E27FC236}">
                <a16:creationId xmlns:a16="http://schemas.microsoft.com/office/drawing/2014/main" id="{701E9AEB-845A-8FC0-F902-E343C0EFE1EA}"/>
              </a:ext>
            </a:extLst>
          </p:cNvPr>
          <p:cNvSpPr>
            <a:spLocks noGrp="1"/>
          </p:cNvSpPr>
          <p:nvPr>
            <p:ph type="sldNum" sz="quarter" idx="5"/>
          </p:nvPr>
        </p:nvSpPr>
        <p:spPr/>
        <p:txBody>
          <a:bodyPr/>
          <a:lstStyle/>
          <a:p>
            <a:fld id="{695CBC78-88DF-6447-89DF-6EAD6709636E}" type="slidenum">
              <a:rPr lang="en-US" smtClean="0"/>
              <a:t>19</a:t>
            </a:fld>
            <a:endParaRPr lang="en-US"/>
          </a:p>
        </p:txBody>
      </p:sp>
    </p:spTree>
    <p:extLst>
      <p:ext uri="{BB962C8B-B14F-4D97-AF65-F5344CB8AC3E}">
        <p14:creationId xmlns:p14="http://schemas.microsoft.com/office/powerpoint/2010/main" val="3916352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525C1-48D6-E246-F8FF-9C3361FF7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C76DE-B754-99EC-FFA1-11EBD0411C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2EC436-079B-0180-D921-395D1136E607}"/>
              </a:ext>
            </a:extLst>
          </p:cNvPr>
          <p:cNvSpPr>
            <a:spLocks noGrp="1"/>
          </p:cNvSpPr>
          <p:nvPr>
            <p:ph type="body" idx="1"/>
          </p:nvPr>
        </p:nvSpPr>
        <p:spPr/>
        <p:txBody>
          <a:bodyPr/>
          <a:lstStyle/>
          <a:p>
            <a:r>
              <a:rPr lang="en-US"/>
              <a:t>$3-4k</a:t>
            </a:r>
          </a:p>
          <a:p>
            <a:r>
              <a:rPr lang="en-US"/>
              <a:t>Geographic information system using spatial analysis to visualize and analyze geographic data</a:t>
            </a:r>
          </a:p>
          <a:p>
            <a:endParaRPr lang="en-US"/>
          </a:p>
          <a:p>
            <a:r>
              <a:rPr lang="en-US" b="0" i="0">
                <a:solidFill>
                  <a:srgbClr val="4C4C4C"/>
                </a:solidFill>
                <a:effectLst/>
                <a:latin typeface="Avenir Next W01" panose="020B0503020202020204" pitchFamily="34" charset="0"/>
              </a:rPr>
              <a:t>What are live or historical traffic conditions like, and how do they affect my network analysis results?</a:t>
            </a:r>
          </a:p>
          <a:p>
            <a:br>
              <a:rPr lang="en-US"/>
            </a:br>
            <a:r>
              <a:rPr lang="en-US" b="0" i="0">
                <a:solidFill>
                  <a:srgbClr val="4C4C4C"/>
                </a:solidFill>
                <a:effectLst/>
                <a:latin typeface="Avenir Next W01" panose="020B0503020202020204" pitchFamily="34" charset="0"/>
              </a:rPr>
              <a:t>route our fleet of delivery vehicles to minimize overall transportation costs and improve customer service</a:t>
            </a:r>
          </a:p>
          <a:p>
            <a:br>
              <a:rPr lang="en-US"/>
            </a:br>
            <a:r>
              <a:rPr lang="en-US" b="0" i="0">
                <a:solidFill>
                  <a:srgbClr val="4C4C4C"/>
                </a:solidFill>
                <a:effectLst/>
                <a:latin typeface="Avenir Next W01" panose="020B0503020202020204" pitchFamily="34" charset="0"/>
              </a:rPr>
              <a:t>origin-destination cost matrices that the ArcGIS Network Analyst extension </a:t>
            </a:r>
          </a:p>
          <a:p>
            <a:pPr algn="l"/>
            <a:r>
              <a:rPr lang="en-US" b="0" i="0">
                <a:solidFill>
                  <a:srgbClr val="4C4C4C"/>
                </a:solidFill>
                <a:effectLst/>
                <a:latin typeface="Avenir Next W01" panose="020B0503020202020204" pitchFamily="34" charset="0"/>
              </a:rPr>
              <a:t>mathematical expressions to help make trip forecasts.</a:t>
            </a:r>
          </a:p>
          <a:p>
            <a:br>
              <a:rPr lang="en-US"/>
            </a:br>
            <a:endParaRPr lang="en-US"/>
          </a:p>
        </p:txBody>
      </p:sp>
      <p:sp>
        <p:nvSpPr>
          <p:cNvPr id="4" name="Slide Number Placeholder 3">
            <a:extLst>
              <a:ext uri="{FF2B5EF4-FFF2-40B4-BE49-F238E27FC236}">
                <a16:creationId xmlns:a16="http://schemas.microsoft.com/office/drawing/2014/main" id="{E2D07A0C-78B5-D3A9-6AD8-F3B5FC6EA534}"/>
              </a:ext>
            </a:extLst>
          </p:cNvPr>
          <p:cNvSpPr>
            <a:spLocks noGrp="1"/>
          </p:cNvSpPr>
          <p:nvPr>
            <p:ph type="sldNum" sz="quarter" idx="5"/>
          </p:nvPr>
        </p:nvSpPr>
        <p:spPr/>
        <p:txBody>
          <a:bodyPr/>
          <a:lstStyle/>
          <a:p>
            <a:fld id="{695CBC78-88DF-6447-89DF-6EAD6709636E}" type="slidenum">
              <a:rPr lang="en-US" smtClean="0"/>
              <a:t>20</a:t>
            </a:fld>
            <a:endParaRPr lang="en-US"/>
          </a:p>
        </p:txBody>
      </p:sp>
    </p:spTree>
    <p:extLst>
      <p:ext uri="{BB962C8B-B14F-4D97-AF65-F5344CB8AC3E}">
        <p14:creationId xmlns:p14="http://schemas.microsoft.com/office/powerpoint/2010/main" val="2697176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DBA97-14E7-838F-4044-15BB5B175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7F3AF-3F42-ACE8-F682-00FA3C2153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0D9762-4224-9829-EC3B-729DF9785D18}"/>
              </a:ext>
            </a:extLst>
          </p:cNvPr>
          <p:cNvSpPr>
            <a:spLocks noGrp="1"/>
          </p:cNvSpPr>
          <p:nvPr>
            <p:ph type="body" idx="1"/>
          </p:nvPr>
        </p:nvSpPr>
        <p:spPr/>
        <p:txBody>
          <a:bodyPr/>
          <a:lstStyle/>
          <a:p>
            <a:r>
              <a:rPr lang="en-US"/>
              <a:t>$3-4k</a:t>
            </a:r>
          </a:p>
          <a:p>
            <a:r>
              <a:rPr lang="en-US"/>
              <a:t>Geographic information system using spatial analysis to visualize and analyze geographic data</a:t>
            </a:r>
          </a:p>
          <a:p>
            <a:endParaRPr lang="en-US"/>
          </a:p>
          <a:p>
            <a:r>
              <a:rPr lang="en-US" b="0" i="0">
                <a:solidFill>
                  <a:srgbClr val="4C4C4C"/>
                </a:solidFill>
                <a:effectLst/>
                <a:latin typeface="Avenir Next W01" panose="020B0503020202020204" pitchFamily="34" charset="0"/>
              </a:rPr>
              <a:t>What are live or historical traffic conditions like, and how do they affect my network analysis results?</a:t>
            </a:r>
          </a:p>
          <a:p>
            <a:br>
              <a:rPr lang="en-US"/>
            </a:br>
            <a:r>
              <a:rPr lang="en-US" b="0" i="0">
                <a:solidFill>
                  <a:srgbClr val="4C4C4C"/>
                </a:solidFill>
                <a:effectLst/>
                <a:latin typeface="Avenir Next W01" panose="020B0503020202020204" pitchFamily="34" charset="0"/>
              </a:rPr>
              <a:t>route our fleet of delivery vehicles to minimize overall transportation costs and improve customer service</a:t>
            </a:r>
          </a:p>
          <a:p>
            <a:br>
              <a:rPr lang="en-US"/>
            </a:br>
            <a:r>
              <a:rPr lang="en-US" b="0" i="0">
                <a:solidFill>
                  <a:srgbClr val="4C4C4C"/>
                </a:solidFill>
                <a:effectLst/>
                <a:latin typeface="Avenir Next W01" panose="020B0503020202020204" pitchFamily="34" charset="0"/>
              </a:rPr>
              <a:t>origin-destination cost matrices that the ArcGIS Network Analyst extension </a:t>
            </a:r>
          </a:p>
          <a:p>
            <a:pPr algn="l"/>
            <a:r>
              <a:rPr lang="en-US" b="0" i="0">
                <a:solidFill>
                  <a:srgbClr val="4C4C4C"/>
                </a:solidFill>
                <a:effectLst/>
                <a:latin typeface="Avenir Next W01" panose="020B0503020202020204" pitchFamily="34" charset="0"/>
              </a:rPr>
              <a:t>mathematical expressions to help make trip forecasts.</a:t>
            </a:r>
          </a:p>
          <a:p>
            <a:br>
              <a:rPr lang="en-US"/>
            </a:br>
            <a:endParaRPr lang="en-US"/>
          </a:p>
        </p:txBody>
      </p:sp>
      <p:sp>
        <p:nvSpPr>
          <p:cNvPr id="4" name="Slide Number Placeholder 3">
            <a:extLst>
              <a:ext uri="{FF2B5EF4-FFF2-40B4-BE49-F238E27FC236}">
                <a16:creationId xmlns:a16="http://schemas.microsoft.com/office/drawing/2014/main" id="{4601F39A-E006-3623-D1EB-9DBC623C5279}"/>
              </a:ext>
            </a:extLst>
          </p:cNvPr>
          <p:cNvSpPr>
            <a:spLocks noGrp="1"/>
          </p:cNvSpPr>
          <p:nvPr>
            <p:ph type="sldNum" sz="quarter" idx="5"/>
          </p:nvPr>
        </p:nvSpPr>
        <p:spPr/>
        <p:txBody>
          <a:bodyPr/>
          <a:lstStyle/>
          <a:p>
            <a:fld id="{695CBC78-88DF-6447-89DF-6EAD6709636E}" type="slidenum">
              <a:rPr lang="en-US" smtClean="0"/>
              <a:t>21</a:t>
            </a:fld>
            <a:endParaRPr lang="en-US"/>
          </a:p>
        </p:txBody>
      </p:sp>
    </p:spTree>
    <p:extLst>
      <p:ext uri="{BB962C8B-B14F-4D97-AF65-F5344CB8AC3E}">
        <p14:creationId xmlns:p14="http://schemas.microsoft.com/office/powerpoint/2010/main" val="3006016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94A9-E19D-8C74-F474-DD4D1E85A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72E7-780A-7CC8-9332-5A6CDAB0FC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BF8C07-C7FD-7CE3-73EF-80F5DED618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69F79-50BE-6361-94C7-B757BEC67872}"/>
              </a:ext>
            </a:extLst>
          </p:cNvPr>
          <p:cNvSpPr>
            <a:spLocks noGrp="1"/>
          </p:cNvSpPr>
          <p:nvPr>
            <p:ph type="sldNum" sz="quarter" idx="5"/>
          </p:nvPr>
        </p:nvSpPr>
        <p:spPr/>
        <p:txBody>
          <a:bodyPr/>
          <a:lstStyle/>
          <a:p>
            <a:fld id="{695CBC78-88DF-6447-89DF-6EAD6709636E}" type="slidenum">
              <a:rPr lang="en-US" smtClean="0"/>
              <a:t>22</a:t>
            </a:fld>
            <a:endParaRPr lang="en-US"/>
          </a:p>
        </p:txBody>
      </p:sp>
    </p:spTree>
    <p:extLst>
      <p:ext uri="{BB962C8B-B14F-4D97-AF65-F5344CB8AC3E}">
        <p14:creationId xmlns:p14="http://schemas.microsoft.com/office/powerpoint/2010/main" val="2804826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BBC366D1-3D01-C54B-A332-69AB2EB85F4D}" type="datetime1">
              <a:rPr lang="en-US" smtClean="0"/>
              <a:t>12/1/25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46174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7C372345-1470-EB44-A368-5FEEDB55E9D7}" type="datetime1">
              <a:rPr lang="en-US" smtClean="0"/>
              <a:t>12/1/25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2841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FE88027D-14EF-2D42-BA08-BA0AE414104A}" type="datetime1">
              <a:rPr lang="en-US" smtClean="0"/>
              <a:t>12/1/25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296912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F6C152A1-E409-784A-BF8B-E4E9144E36FF}" type="datetime1">
              <a:rPr lang="en-US" smtClean="0"/>
              <a:t>12/1/25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979694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51C6467F-310E-DD4C-921A-2F8AB486DDA5}" type="datetime1">
              <a:rPr lang="en-US" smtClean="0"/>
              <a:t>12/1/25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47563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B281987E-A5E8-C14F-9134-C1FA26A00A32}" type="datetime1">
              <a:rPr lang="en-US" smtClean="0"/>
              <a:t>12/1/25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663601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C56B8E9-CB89-DD4E-BECA-082D0BB64983}" type="datetime1">
              <a:rPr lang="en-US" smtClean="0"/>
              <a:t>12/1/25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391366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493E9F56-CB93-4247-BA09-AE493186CEF9}" type="datetime1">
              <a:rPr lang="en-US" smtClean="0"/>
              <a:t>12/1/25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6159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17B5AC55-4601-764E-83AC-B42311FD1E0F}" type="datetime1">
              <a:rPr lang="en-US" smtClean="0"/>
              <a:t>12/1/25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178121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DB86109C-8E67-6743-AAD2-7C3541B69DDF}" type="datetime1">
              <a:rPr lang="en-US" smtClean="0"/>
              <a:t>12/1/25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31720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E5B453DC-7051-6347-BD5B-2D31E3476E29}" type="datetime1">
              <a:rPr lang="en-US" smtClean="0"/>
              <a:t>12/1/25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262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D03049E6-D275-F54B-A528-7F03C00624E8}" type="datetime1">
              <a:rPr lang="en-US" smtClean="0"/>
              <a:t>12/1/25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26642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00" r:id="rId5"/>
    <p:sldLayoutId id="2147483701" r:id="rId6"/>
    <p:sldLayoutId id="2147483702" r:id="rId7"/>
    <p:sldLayoutId id="2147483703" r:id="rId8"/>
    <p:sldLayoutId id="2147483704" r:id="rId9"/>
    <p:sldLayoutId id="2147483705" r:id="rId10"/>
    <p:sldLayoutId id="2147483706" r:id="rId11"/>
  </p:sldLayoutIdLst>
  <p:hf hdr="0" ftr="0" dt="0"/>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8.png"/><Relationship Id="rId7" Type="http://schemas.openxmlformats.org/officeDocument/2006/relationships/diagramColors" Target="../diagrams/colors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10" Type="http://schemas.openxmlformats.org/officeDocument/2006/relationships/image" Target="../media/image12.png"/><Relationship Id="rId4" Type="http://schemas.openxmlformats.org/officeDocument/2006/relationships/diagramLayout" Target="../diagrams/layout16.xml"/><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02D1A37-7C2A-4258-95A8-919D781C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82561" y="4548884"/>
            <a:ext cx="11148432" cy="647857"/>
          </a:xfrm>
        </p:spPr>
        <p:txBody>
          <a:bodyPr anchor="t">
            <a:noAutofit/>
          </a:bodyPr>
          <a:lstStyle/>
          <a:p>
            <a:r>
              <a:rPr lang="en-US" sz="4400"/>
              <a:t>Black Friday Simulation model</a:t>
            </a:r>
          </a:p>
        </p:txBody>
      </p:sp>
      <p:sp>
        <p:nvSpPr>
          <p:cNvPr id="3" name="Subtitle 2"/>
          <p:cNvSpPr>
            <a:spLocks noGrp="1"/>
          </p:cNvSpPr>
          <p:nvPr>
            <p:ph type="subTitle" idx="1"/>
          </p:nvPr>
        </p:nvSpPr>
        <p:spPr>
          <a:xfrm>
            <a:off x="1094962" y="5196741"/>
            <a:ext cx="9268237" cy="878792"/>
          </a:xfrm>
        </p:spPr>
        <p:txBody>
          <a:bodyPr>
            <a:normAutofit/>
          </a:bodyPr>
          <a:lstStyle/>
          <a:p>
            <a:r>
              <a:rPr lang="en-US" sz="1800">
                <a:latin typeface="+mj-lt"/>
              </a:rPr>
              <a:t>Team #8: SELENA DANG, AVERI STEVEN, RACHEL STONE, CAROLINE TURLEY</a:t>
            </a:r>
          </a:p>
        </p:txBody>
      </p:sp>
      <p:cxnSp>
        <p:nvCxnSpPr>
          <p:cNvPr id="1033" name="Straight Connector 103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26" y="4609748"/>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61C792C0-9E0A-D711-80EC-9EF3986CD6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310" y="1063889"/>
            <a:ext cx="11008362" cy="3164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7272-A818-AB2F-759C-84A7CB153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0BB68-511F-AADE-FC0A-13968D64D5C8}"/>
              </a:ext>
            </a:extLst>
          </p:cNvPr>
          <p:cNvSpPr>
            <a:spLocks noGrp="1"/>
          </p:cNvSpPr>
          <p:nvPr>
            <p:ph type="title"/>
          </p:nvPr>
        </p:nvSpPr>
        <p:spPr/>
        <p:txBody>
          <a:bodyPr/>
          <a:lstStyle/>
          <a:p>
            <a:r>
              <a:rPr lang="en-US">
                <a:solidFill>
                  <a:schemeClr val="tx1">
                    <a:lumMod val="65000"/>
                    <a:lumOff val="35000"/>
                  </a:schemeClr>
                </a:solidFill>
              </a:rPr>
              <a:t>Introduction &amp; Background</a:t>
            </a:r>
          </a:p>
        </p:txBody>
      </p:sp>
      <p:graphicFrame>
        <p:nvGraphicFramePr>
          <p:cNvPr id="5" name="Content Placeholder 4">
            <a:extLst>
              <a:ext uri="{FF2B5EF4-FFF2-40B4-BE49-F238E27FC236}">
                <a16:creationId xmlns:a16="http://schemas.microsoft.com/office/drawing/2014/main" id="{129CC321-2F55-B689-C154-8870C9AF62B3}"/>
              </a:ext>
            </a:extLst>
          </p:cNvPr>
          <p:cNvGraphicFramePr>
            <a:graphicFrameLocks noGrp="1"/>
          </p:cNvGraphicFramePr>
          <p:nvPr>
            <p:ph idx="1"/>
            <p:extLst>
              <p:ext uri="{D42A27DB-BD31-4B8C-83A1-F6EECF244321}">
                <p14:modId xmlns:p14="http://schemas.microsoft.com/office/powerpoint/2010/main" val="2505555679"/>
              </p:ext>
            </p:extLst>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DD4D9F6D-9E88-7923-098F-9F415E099977}"/>
              </a:ext>
            </a:extLst>
          </p:cNvPr>
          <p:cNvSpPr txBox="1"/>
          <p:nvPr/>
        </p:nvSpPr>
        <p:spPr>
          <a:xfrm>
            <a:off x="1181100" y="2085473"/>
            <a:ext cx="9829800" cy="1705916"/>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a:t>Simulation models Macys (a department store) during Black Friday holiday</a:t>
            </a:r>
          </a:p>
          <a:p>
            <a:pPr marL="742950" lvl="1" indent="-285750">
              <a:lnSpc>
                <a:spcPct val="150000"/>
              </a:lnSpc>
              <a:buFont typeface="Arial" panose="020B0604020202020204" pitchFamily="34" charset="0"/>
              <a:buChar char="•"/>
            </a:pPr>
            <a:r>
              <a:rPr lang="en-US"/>
              <a:t>Departments include Backstage, Shoes and Juniors, Women’s, Men’s and Children’s, Perfume, Jewelry, and Furniture and Appliances</a:t>
            </a:r>
            <a:endParaRPr lang="en-US" b="1"/>
          </a:p>
          <a:p>
            <a:pPr marL="742950" lvl="1" indent="-285750">
              <a:lnSpc>
                <a:spcPct val="150000"/>
              </a:lnSpc>
              <a:buFont typeface="Arial" panose="020B0604020202020204" pitchFamily="34" charset="0"/>
              <a:buChar char="•"/>
            </a:pPr>
            <a:r>
              <a:rPr lang="en-US"/>
              <a:t>Cashiers will be able to perform transactions, returns, exchanges, etc.</a:t>
            </a:r>
          </a:p>
        </p:txBody>
      </p:sp>
      <p:sp>
        <p:nvSpPr>
          <p:cNvPr id="13" name="Slide Number Placeholder 12">
            <a:extLst>
              <a:ext uri="{FF2B5EF4-FFF2-40B4-BE49-F238E27FC236}">
                <a16:creationId xmlns:a16="http://schemas.microsoft.com/office/drawing/2014/main" id="{000D404C-DD71-70C2-C309-29BF1C00E288}"/>
              </a:ext>
            </a:extLst>
          </p:cNvPr>
          <p:cNvSpPr>
            <a:spLocks noGrp="1"/>
          </p:cNvSpPr>
          <p:nvPr>
            <p:ph type="sldNum" sz="quarter" idx="12"/>
          </p:nvPr>
        </p:nvSpPr>
        <p:spPr/>
        <p:txBody>
          <a:bodyPr/>
          <a:lstStyle/>
          <a:p>
            <a:r>
              <a:rPr lang="en-US"/>
              <a:t>1</a:t>
            </a:r>
          </a:p>
        </p:txBody>
      </p:sp>
      <p:sp>
        <p:nvSpPr>
          <p:cNvPr id="3" name="TextBox 2">
            <a:extLst>
              <a:ext uri="{FF2B5EF4-FFF2-40B4-BE49-F238E27FC236}">
                <a16:creationId xmlns:a16="http://schemas.microsoft.com/office/drawing/2014/main" id="{833C976C-9BC3-B33E-1914-8AAB52801884}"/>
              </a:ext>
            </a:extLst>
          </p:cNvPr>
          <p:cNvSpPr txBox="1"/>
          <p:nvPr/>
        </p:nvSpPr>
        <p:spPr>
          <a:xfrm>
            <a:off x="10015537" y="6324815"/>
            <a:ext cx="16190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p:txBody>
      </p:sp>
      <p:sp>
        <p:nvSpPr>
          <p:cNvPr id="4" name="TextBox 3">
            <a:extLst>
              <a:ext uri="{FF2B5EF4-FFF2-40B4-BE49-F238E27FC236}">
                <a16:creationId xmlns:a16="http://schemas.microsoft.com/office/drawing/2014/main" id="{FED9121B-A8A4-9913-891A-818E528370C6}"/>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CT</a:t>
            </a:r>
          </a:p>
        </p:txBody>
      </p:sp>
    </p:spTree>
    <p:extLst>
      <p:ext uri="{BB962C8B-B14F-4D97-AF65-F5344CB8AC3E}">
        <p14:creationId xmlns:p14="http://schemas.microsoft.com/office/powerpoint/2010/main" val="3102510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02AE5-D076-DE9F-9572-C342B52D3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042A8-29A0-E800-A3ED-005CA9265616}"/>
              </a:ext>
            </a:extLst>
          </p:cNvPr>
          <p:cNvSpPr>
            <a:spLocks noGrp="1"/>
          </p:cNvSpPr>
          <p:nvPr>
            <p:ph type="title"/>
          </p:nvPr>
        </p:nvSpPr>
        <p:spPr/>
        <p:txBody>
          <a:bodyPr/>
          <a:lstStyle/>
          <a:p>
            <a:r>
              <a:rPr lang="en-US">
                <a:solidFill>
                  <a:schemeClr val="tx1">
                    <a:lumMod val="65000"/>
                    <a:lumOff val="35000"/>
                  </a:schemeClr>
                </a:solidFill>
              </a:rPr>
              <a:t>Problem Description</a:t>
            </a:r>
          </a:p>
        </p:txBody>
      </p:sp>
      <p:graphicFrame>
        <p:nvGraphicFramePr>
          <p:cNvPr id="5" name="Content Placeholder 4">
            <a:extLst>
              <a:ext uri="{FF2B5EF4-FFF2-40B4-BE49-F238E27FC236}">
                <a16:creationId xmlns:a16="http://schemas.microsoft.com/office/drawing/2014/main" id="{71FA3385-246E-4D64-A823-A7452723FB84}"/>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7F235572-FE2B-DC5A-254A-C25D29E2CFCA}"/>
              </a:ext>
            </a:extLst>
          </p:cNvPr>
          <p:cNvSpPr txBox="1"/>
          <p:nvPr/>
        </p:nvSpPr>
        <p:spPr>
          <a:xfrm>
            <a:off x="1181100" y="2085473"/>
            <a:ext cx="9802090" cy="2121415"/>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a:t>Congestion for nearly all simulated servers, due to Black Friday influx</a:t>
            </a:r>
          </a:p>
          <a:p>
            <a:pPr marL="742950" lvl="1" indent="-285750">
              <a:lnSpc>
                <a:spcPct val="150000"/>
              </a:lnSpc>
              <a:buFont typeface="Arial" panose="020B0604020202020204" pitchFamily="34" charset="0"/>
              <a:buChar char="•"/>
            </a:pPr>
            <a:r>
              <a:rPr lang="en-US"/>
              <a:t>Extreme wait times and queue lengths for customers</a:t>
            </a:r>
          </a:p>
          <a:p>
            <a:pPr marL="742950" lvl="1" indent="-285750">
              <a:lnSpc>
                <a:spcPct val="150000"/>
              </a:lnSpc>
              <a:buFont typeface="Arial" panose="020B0604020202020204" pitchFamily="34" charset="0"/>
              <a:buChar char="•"/>
            </a:pPr>
            <a:r>
              <a:rPr lang="en-US"/>
              <a:t>Inconsistent flow of customers and a limited number of resources to accommodate</a:t>
            </a:r>
          </a:p>
          <a:p>
            <a:pPr marL="742950" lvl="1" indent="-285750">
              <a:lnSpc>
                <a:spcPct val="150000"/>
              </a:lnSpc>
              <a:buFont typeface="Arial" panose="020B0604020202020204" pitchFamily="34" charset="0"/>
              <a:buChar char="•"/>
            </a:pPr>
            <a:r>
              <a:rPr lang="en-US"/>
              <a:t>The primary focus will be on server utilization and flow times</a:t>
            </a:r>
          </a:p>
          <a:p>
            <a:pPr marL="742950" lvl="1" indent="-285750">
              <a:lnSpc>
                <a:spcPct val="150000"/>
              </a:lnSpc>
              <a:buFont typeface="Arial" panose="020B0604020202020204" pitchFamily="34" charset="0"/>
              <a:buChar char="•"/>
            </a:pPr>
            <a:endParaRPr lang="en-US"/>
          </a:p>
        </p:txBody>
      </p:sp>
      <p:sp>
        <p:nvSpPr>
          <p:cNvPr id="13" name="Slide Number Placeholder 12">
            <a:extLst>
              <a:ext uri="{FF2B5EF4-FFF2-40B4-BE49-F238E27FC236}">
                <a16:creationId xmlns:a16="http://schemas.microsoft.com/office/drawing/2014/main" id="{6CAF96B8-E16D-26C1-E9D2-3639670E4C38}"/>
              </a:ext>
            </a:extLst>
          </p:cNvPr>
          <p:cNvSpPr>
            <a:spLocks noGrp="1"/>
          </p:cNvSpPr>
          <p:nvPr>
            <p:ph type="sldNum" sz="quarter" idx="12"/>
          </p:nvPr>
        </p:nvSpPr>
        <p:spPr/>
        <p:txBody>
          <a:bodyPr/>
          <a:lstStyle/>
          <a:p>
            <a:r>
              <a:rPr lang="en-US"/>
              <a:t>1</a:t>
            </a:r>
          </a:p>
        </p:txBody>
      </p:sp>
      <p:sp>
        <p:nvSpPr>
          <p:cNvPr id="3" name="TextBox 2">
            <a:extLst>
              <a:ext uri="{FF2B5EF4-FFF2-40B4-BE49-F238E27FC236}">
                <a16:creationId xmlns:a16="http://schemas.microsoft.com/office/drawing/2014/main" id="{5C45A2F0-30DF-41D1-E1F7-9952E48B81DD}"/>
              </a:ext>
            </a:extLst>
          </p:cNvPr>
          <p:cNvSpPr txBox="1"/>
          <p:nvPr/>
        </p:nvSpPr>
        <p:spPr>
          <a:xfrm>
            <a:off x="10015537" y="6324815"/>
            <a:ext cx="16190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p:txBody>
      </p:sp>
      <p:sp>
        <p:nvSpPr>
          <p:cNvPr id="4" name="TextBox 3">
            <a:extLst>
              <a:ext uri="{FF2B5EF4-FFF2-40B4-BE49-F238E27FC236}">
                <a16:creationId xmlns:a16="http://schemas.microsoft.com/office/drawing/2014/main" id="{0742DCAF-5F0D-B99F-6D13-9F7749E643D6}"/>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CT</a:t>
            </a:r>
          </a:p>
        </p:txBody>
      </p:sp>
    </p:spTree>
    <p:extLst>
      <p:ext uri="{BB962C8B-B14F-4D97-AF65-F5344CB8AC3E}">
        <p14:creationId xmlns:p14="http://schemas.microsoft.com/office/powerpoint/2010/main" val="4027845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0389C-64C7-F9C3-8372-464AF3101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7568C-596F-30AD-ACAA-A8DD7C30BD2F}"/>
              </a:ext>
            </a:extLst>
          </p:cNvPr>
          <p:cNvSpPr>
            <a:spLocks noGrp="1"/>
          </p:cNvSpPr>
          <p:nvPr>
            <p:ph type="title"/>
          </p:nvPr>
        </p:nvSpPr>
        <p:spPr/>
        <p:txBody>
          <a:bodyPr/>
          <a:lstStyle/>
          <a:p>
            <a:r>
              <a:rPr lang="en-US">
                <a:solidFill>
                  <a:schemeClr val="tx1">
                    <a:lumMod val="65000"/>
                    <a:lumOff val="35000"/>
                  </a:schemeClr>
                </a:solidFill>
              </a:rPr>
              <a:t>Conceptual Model Diagram</a:t>
            </a:r>
          </a:p>
        </p:txBody>
      </p:sp>
      <p:graphicFrame>
        <p:nvGraphicFramePr>
          <p:cNvPr id="5" name="Content Placeholder 4">
            <a:extLst>
              <a:ext uri="{FF2B5EF4-FFF2-40B4-BE49-F238E27FC236}">
                <a16:creationId xmlns:a16="http://schemas.microsoft.com/office/drawing/2014/main" id="{40922270-4417-B223-AA71-5C0387BF79E1}"/>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240C36DB-DBD2-EF69-13C9-B22F031D622E}"/>
              </a:ext>
            </a:extLst>
          </p:cNvPr>
          <p:cNvSpPr>
            <a:spLocks noGrp="1"/>
          </p:cNvSpPr>
          <p:nvPr>
            <p:ph type="sldNum" sz="quarter" idx="12"/>
          </p:nvPr>
        </p:nvSpPr>
        <p:spPr/>
        <p:txBody>
          <a:bodyPr/>
          <a:lstStyle/>
          <a:p>
            <a:r>
              <a:rPr lang="en-US"/>
              <a:t>1</a:t>
            </a:r>
          </a:p>
        </p:txBody>
      </p:sp>
      <p:sp>
        <p:nvSpPr>
          <p:cNvPr id="3" name="TextBox 2">
            <a:extLst>
              <a:ext uri="{FF2B5EF4-FFF2-40B4-BE49-F238E27FC236}">
                <a16:creationId xmlns:a16="http://schemas.microsoft.com/office/drawing/2014/main" id="{A222DAAE-6C09-D6EA-0665-6180B0448F1D}"/>
              </a:ext>
            </a:extLst>
          </p:cNvPr>
          <p:cNvSpPr txBox="1"/>
          <p:nvPr/>
        </p:nvSpPr>
        <p:spPr>
          <a:xfrm>
            <a:off x="10015537" y="6324815"/>
            <a:ext cx="16190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p:txBody>
      </p:sp>
      <p:sp>
        <p:nvSpPr>
          <p:cNvPr id="4" name="TextBox 3">
            <a:extLst>
              <a:ext uri="{FF2B5EF4-FFF2-40B4-BE49-F238E27FC236}">
                <a16:creationId xmlns:a16="http://schemas.microsoft.com/office/drawing/2014/main" id="{E7BAADF3-2489-DBFC-471C-6FCD7904B3A0}"/>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CT</a:t>
            </a:r>
          </a:p>
        </p:txBody>
      </p:sp>
      <p:pic>
        <p:nvPicPr>
          <p:cNvPr id="2050" name="Picture 2" descr="A blueprint of a building&#10;&#10;Description automatically generated">
            <a:extLst>
              <a:ext uri="{FF2B5EF4-FFF2-40B4-BE49-F238E27FC236}">
                <a16:creationId xmlns:a16="http://schemas.microsoft.com/office/drawing/2014/main" id="{9AC03632-1022-1292-2C75-9A719B484F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3882" y="1799924"/>
            <a:ext cx="3962111" cy="38966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diagram of a building&#10;&#10;Description automatically generated">
            <a:extLst>
              <a:ext uri="{FF2B5EF4-FFF2-40B4-BE49-F238E27FC236}">
                <a16:creationId xmlns:a16="http://schemas.microsoft.com/office/drawing/2014/main" id="{609B67C7-4DE3-91EC-0ABF-7AC3231C25C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7929" b="4464"/>
          <a:stretch>
            <a:fillRect/>
          </a:stretch>
        </p:blipFill>
        <p:spPr bwMode="auto">
          <a:xfrm>
            <a:off x="6385993" y="1799922"/>
            <a:ext cx="3878620" cy="3896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744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D1E5-7F88-C543-E371-29BAB46B9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EDA24-D045-C10B-4698-2EE07CAEF46A}"/>
              </a:ext>
            </a:extLst>
          </p:cNvPr>
          <p:cNvSpPr>
            <a:spLocks noGrp="1"/>
          </p:cNvSpPr>
          <p:nvPr>
            <p:ph type="title"/>
          </p:nvPr>
        </p:nvSpPr>
        <p:spPr/>
        <p:txBody>
          <a:bodyPr/>
          <a:lstStyle/>
          <a:p>
            <a:r>
              <a:rPr lang="en-US">
                <a:solidFill>
                  <a:schemeClr val="tx1">
                    <a:lumMod val="65000"/>
                    <a:lumOff val="35000"/>
                  </a:schemeClr>
                </a:solidFill>
              </a:rPr>
              <a:t>Data Collection</a:t>
            </a:r>
          </a:p>
        </p:txBody>
      </p:sp>
      <p:graphicFrame>
        <p:nvGraphicFramePr>
          <p:cNvPr id="5" name="Content Placeholder 4">
            <a:extLst>
              <a:ext uri="{FF2B5EF4-FFF2-40B4-BE49-F238E27FC236}">
                <a16:creationId xmlns:a16="http://schemas.microsoft.com/office/drawing/2014/main" id="{76CA49DE-698A-0A97-4684-94A362BB97CA}"/>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3B40CD33-CECC-2F98-A586-E06B7F00D6A9}"/>
              </a:ext>
            </a:extLst>
          </p:cNvPr>
          <p:cNvSpPr txBox="1"/>
          <p:nvPr/>
        </p:nvSpPr>
        <p:spPr>
          <a:xfrm>
            <a:off x="1181100" y="2085473"/>
            <a:ext cx="9829800" cy="3270254"/>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sz="2000"/>
              <a:t>Management confirmed 35,000 visitors for Black Friday </a:t>
            </a:r>
          </a:p>
          <a:p>
            <a:pPr marL="742950" lvl="1" indent="-285750">
              <a:lnSpc>
                <a:spcPct val="150000"/>
              </a:lnSpc>
              <a:buFont typeface="Arial" panose="020B0604020202020204" pitchFamily="34" charset="0"/>
              <a:buChar char="•"/>
            </a:pPr>
            <a:r>
              <a:rPr lang="en-US" sz="2000"/>
              <a:t>Sensitivity analysis, since not all visitors would make purchases </a:t>
            </a:r>
          </a:p>
          <a:p>
            <a:pPr marL="1200150" lvl="2" indent="-285750">
              <a:lnSpc>
                <a:spcPct val="150000"/>
              </a:lnSpc>
              <a:buFont typeface="Arial" panose="020B0604020202020204" pitchFamily="34" charset="0"/>
              <a:buChar char="•"/>
            </a:pPr>
            <a:r>
              <a:rPr lang="en-US" sz="2000"/>
              <a:t>20%, 30%, 40% of original estimated visitors</a:t>
            </a:r>
          </a:p>
          <a:p>
            <a:pPr marL="742950" lvl="1" indent="-285750">
              <a:lnSpc>
                <a:spcPct val="150000"/>
              </a:lnSpc>
              <a:buFont typeface="Arial" panose="020B0604020202020204" pitchFamily="34" charset="0"/>
              <a:buChar char="•"/>
            </a:pPr>
            <a:r>
              <a:rPr lang="en-US" sz="2000"/>
              <a:t>Simulate arrivals by utilizing a rate table for customers </a:t>
            </a:r>
          </a:p>
          <a:p>
            <a:pPr marL="1200150" lvl="2" indent="-285750">
              <a:lnSpc>
                <a:spcPct val="150000"/>
              </a:lnSpc>
              <a:buFont typeface="Courier New" panose="02070309020205020404" pitchFamily="49" charset="0"/>
              <a:buChar char="o"/>
            </a:pPr>
            <a:r>
              <a:rPr lang="en-US" sz="2000"/>
              <a:t>More customers arrive earlier in the day, between 8:00 AM and 9:00 AM</a:t>
            </a:r>
          </a:p>
          <a:p>
            <a:pPr marL="1200150" lvl="2" indent="-285750">
              <a:lnSpc>
                <a:spcPct val="150000"/>
              </a:lnSpc>
              <a:buFont typeface="Courier New" panose="02070309020205020404" pitchFamily="49" charset="0"/>
              <a:buChar char="o"/>
            </a:pPr>
            <a:r>
              <a:rPr lang="en-US" sz="2000"/>
              <a:t>Another surge during the afternoon from 12:00 PM to 2:00 PM</a:t>
            </a:r>
          </a:p>
        </p:txBody>
      </p:sp>
      <p:sp>
        <p:nvSpPr>
          <p:cNvPr id="13" name="Slide Number Placeholder 12">
            <a:extLst>
              <a:ext uri="{FF2B5EF4-FFF2-40B4-BE49-F238E27FC236}">
                <a16:creationId xmlns:a16="http://schemas.microsoft.com/office/drawing/2014/main" id="{0037AD0F-42E8-EAAF-EB00-1C3DB23E5FCB}"/>
              </a:ext>
            </a:extLst>
          </p:cNvPr>
          <p:cNvSpPr>
            <a:spLocks noGrp="1"/>
          </p:cNvSpPr>
          <p:nvPr>
            <p:ph type="sldNum" sz="quarter" idx="12"/>
          </p:nvPr>
        </p:nvSpPr>
        <p:spPr/>
        <p:txBody>
          <a:bodyPr/>
          <a:lstStyle/>
          <a:p>
            <a:r>
              <a:rPr lang="en-US"/>
              <a:t>1</a:t>
            </a:r>
          </a:p>
        </p:txBody>
      </p:sp>
      <p:sp>
        <p:nvSpPr>
          <p:cNvPr id="3" name="TextBox 2">
            <a:extLst>
              <a:ext uri="{FF2B5EF4-FFF2-40B4-BE49-F238E27FC236}">
                <a16:creationId xmlns:a16="http://schemas.microsoft.com/office/drawing/2014/main" id="{43FDEDC1-C003-3BE6-4693-1953147767B2}"/>
              </a:ext>
            </a:extLst>
          </p:cNvPr>
          <p:cNvSpPr txBox="1"/>
          <p:nvPr/>
        </p:nvSpPr>
        <p:spPr>
          <a:xfrm>
            <a:off x="10015537" y="6324815"/>
            <a:ext cx="16190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p:txBody>
      </p:sp>
      <p:sp>
        <p:nvSpPr>
          <p:cNvPr id="4" name="TextBox 3">
            <a:extLst>
              <a:ext uri="{FF2B5EF4-FFF2-40B4-BE49-F238E27FC236}">
                <a16:creationId xmlns:a16="http://schemas.microsoft.com/office/drawing/2014/main" id="{E6CAE5F0-68C9-956A-1C1A-46B99697403A}"/>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SD</a:t>
            </a:r>
          </a:p>
        </p:txBody>
      </p:sp>
    </p:spTree>
    <p:extLst>
      <p:ext uri="{BB962C8B-B14F-4D97-AF65-F5344CB8AC3E}">
        <p14:creationId xmlns:p14="http://schemas.microsoft.com/office/powerpoint/2010/main" val="374805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CCF7-1B01-5CC8-6E0A-94981E375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89361-F0A8-3D47-4C04-57FB47B2AF77}"/>
              </a:ext>
            </a:extLst>
          </p:cNvPr>
          <p:cNvSpPr>
            <a:spLocks noGrp="1"/>
          </p:cNvSpPr>
          <p:nvPr>
            <p:ph type="title"/>
          </p:nvPr>
        </p:nvSpPr>
        <p:spPr/>
        <p:txBody>
          <a:bodyPr/>
          <a:lstStyle/>
          <a:p>
            <a:r>
              <a:rPr lang="en-US">
                <a:solidFill>
                  <a:schemeClr val="tx1">
                    <a:lumMod val="65000"/>
                    <a:lumOff val="35000"/>
                  </a:schemeClr>
                </a:solidFill>
              </a:rPr>
              <a:t>Results of Data Collection</a:t>
            </a:r>
          </a:p>
        </p:txBody>
      </p:sp>
      <p:graphicFrame>
        <p:nvGraphicFramePr>
          <p:cNvPr id="12" name="Content Placeholder 4">
            <a:extLst>
              <a:ext uri="{FF2B5EF4-FFF2-40B4-BE49-F238E27FC236}">
                <a16:creationId xmlns:a16="http://schemas.microsoft.com/office/drawing/2014/main" id="{D58BDA5F-7D59-550E-015D-7CCFA9321154}"/>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6FB5C7B5-763D-BE57-6D2B-45C49762D992}"/>
              </a:ext>
            </a:extLst>
          </p:cNvPr>
          <p:cNvSpPr>
            <a:spLocks noGrp="1"/>
          </p:cNvSpPr>
          <p:nvPr>
            <p:ph type="sldNum" sz="quarter" idx="12"/>
          </p:nvPr>
        </p:nvSpPr>
        <p:spPr/>
        <p:txBody>
          <a:bodyPr/>
          <a:lstStyle/>
          <a:p>
            <a:fld id="{719D7796-F675-488F-AC46-C88938C80352}" type="slidenum">
              <a:rPr lang="en-US" smtClean="0"/>
              <a:t>5</a:t>
            </a:fld>
            <a:endParaRPr lang="en-US"/>
          </a:p>
        </p:txBody>
      </p:sp>
      <p:sp>
        <p:nvSpPr>
          <p:cNvPr id="28" name="TextBox 27">
            <a:extLst>
              <a:ext uri="{FF2B5EF4-FFF2-40B4-BE49-F238E27FC236}">
                <a16:creationId xmlns:a16="http://schemas.microsoft.com/office/drawing/2014/main" id="{97A65926-6696-7AFC-A4F8-A01BD2996A68}"/>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SD</a:t>
            </a:r>
          </a:p>
        </p:txBody>
      </p:sp>
      <p:pic>
        <p:nvPicPr>
          <p:cNvPr id="3" name="Picture 2">
            <a:extLst>
              <a:ext uri="{FF2B5EF4-FFF2-40B4-BE49-F238E27FC236}">
                <a16:creationId xmlns:a16="http://schemas.microsoft.com/office/drawing/2014/main" id="{CBBA0141-B330-39F9-0DB5-BC996445EB36}"/>
              </a:ext>
            </a:extLst>
          </p:cNvPr>
          <p:cNvPicPr>
            <a:picLocks noChangeAspect="1"/>
          </p:cNvPicPr>
          <p:nvPr/>
        </p:nvPicPr>
        <p:blipFill>
          <a:blip r:embed="rId8"/>
          <a:stretch>
            <a:fillRect/>
          </a:stretch>
        </p:blipFill>
        <p:spPr>
          <a:xfrm>
            <a:off x="1711743" y="1710267"/>
            <a:ext cx="8675549" cy="4057488"/>
          </a:xfrm>
          <a:prstGeom prst="rect">
            <a:avLst/>
          </a:prstGeom>
        </p:spPr>
      </p:pic>
    </p:spTree>
    <p:extLst>
      <p:ext uri="{BB962C8B-B14F-4D97-AF65-F5344CB8AC3E}">
        <p14:creationId xmlns:p14="http://schemas.microsoft.com/office/powerpoint/2010/main" val="119085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1398C-EEB8-AB77-8167-0458CC274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12447-CDF3-0F93-1902-72184CDD08CD}"/>
              </a:ext>
            </a:extLst>
          </p:cNvPr>
          <p:cNvSpPr>
            <a:spLocks noGrp="1"/>
          </p:cNvSpPr>
          <p:nvPr>
            <p:ph type="title"/>
          </p:nvPr>
        </p:nvSpPr>
        <p:spPr/>
        <p:txBody>
          <a:bodyPr/>
          <a:lstStyle/>
          <a:p>
            <a:r>
              <a:rPr lang="en-US">
                <a:solidFill>
                  <a:schemeClr val="tx1">
                    <a:lumMod val="65000"/>
                    <a:lumOff val="35000"/>
                  </a:schemeClr>
                </a:solidFill>
              </a:rPr>
              <a:t>Base Model</a:t>
            </a:r>
          </a:p>
        </p:txBody>
      </p:sp>
      <p:sp>
        <p:nvSpPr>
          <p:cNvPr id="11" name="TextBox 10">
            <a:extLst>
              <a:ext uri="{FF2B5EF4-FFF2-40B4-BE49-F238E27FC236}">
                <a16:creationId xmlns:a16="http://schemas.microsoft.com/office/drawing/2014/main" id="{ADDAAAA9-8998-316F-C860-5A75407C1CDB}"/>
              </a:ext>
            </a:extLst>
          </p:cNvPr>
          <p:cNvSpPr txBox="1"/>
          <p:nvPr/>
        </p:nvSpPr>
        <p:spPr>
          <a:xfrm>
            <a:off x="690033" y="1737359"/>
            <a:ext cx="6540669" cy="2808589"/>
          </a:xfrm>
          <a:prstGeom prst="rect">
            <a:avLst/>
          </a:prstGeom>
          <a:noFill/>
        </p:spPr>
        <p:txBody>
          <a:bodyPr wrap="square" rtlCol="0">
            <a:spAutoFit/>
          </a:bodyPr>
          <a:lstStyle/>
          <a:p>
            <a:pPr lvl="1">
              <a:lnSpc>
                <a:spcPct val="150000"/>
              </a:lnSpc>
            </a:pPr>
            <a:r>
              <a:rPr lang="en-US" sz="2000" b="1"/>
              <a:t>Rate Table – using 40%</a:t>
            </a:r>
          </a:p>
          <a:p>
            <a:pPr marL="1200150" lvl="2" indent="-285750">
              <a:lnSpc>
                <a:spcPct val="150000"/>
              </a:lnSpc>
              <a:buFont typeface="Arial" panose="020B0604020202020204" pitchFamily="34" charset="0"/>
              <a:buChar char="•"/>
            </a:pPr>
            <a:r>
              <a:rPr lang="en-US" sz="2000"/>
              <a:t>Calculated total of individuals to place in the system by hour</a:t>
            </a:r>
          </a:p>
          <a:p>
            <a:pPr marL="1200150" lvl="2" indent="-285750">
              <a:lnSpc>
                <a:spcPct val="150000"/>
              </a:lnSpc>
              <a:buFont typeface="Arial" panose="020B0604020202020204" pitchFamily="34" charset="0"/>
              <a:buChar char="•"/>
            </a:pPr>
            <a:r>
              <a:rPr lang="en-US" sz="2000"/>
              <a:t>All hourly arrivals were divided by four to account for the four model entities (Woman 1, Woman 2, Man 1, Man 2)</a:t>
            </a:r>
          </a:p>
        </p:txBody>
      </p:sp>
      <p:graphicFrame>
        <p:nvGraphicFramePr>
          <p:cNvPr id="12" name="Content Placeholder 4">
            <a:extLst>
              <a:ext uri="{FF2B5EF4-FFF2-40B4-BE49-F238E27FC236}">
                <a16:creationId xmlns:a16="http://schemas.microsoft.com/office/drawing/2014/main" id="{6F6F12DC-71C8-3BB7-5893-163D28E4DC17}"/>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85F22BA6-8C8B-73DE-EFB3-A6B5D29DEB31}"/>
              </a:ext>
            </a:extLst>
          </p:cNvPr>
          <p:cNvSpPr>
            <a:spLocks noGrp="1"/>
          </p:cNvSpPr>
          <p:nvPr>
            <p:ph type="sldNum" sz="quarter" idx="12"/>
          </p:nvPr>
        </p:nvSpPr>
        <p:spPr/>
        <p:txBody>
          <a:bodyPr/>
          <a:lstStyle/>
          <a:p>
            <a:fld id="{719D7796-F675-488F-AC46-C88938C80352}" type="slidenum">
              <a:rPr lang="en-US" smtClean="0"/>
              <a:t>6</a:t>
            </a:fld>
            <a:endParaRPr lang="en-US"/>
          </a:p>
        </p:txBody>
      </p:sp>
      <p:sp>
        <p:nvSpPr>
          <p:cNvPr id="4" name="TextBox 3">
            <a:extLst>
              <a:ext uri="{FF2B5EF4-FFF2-40B4-BE49-F238E27FC236}">
                <a16:creationId xmlns:a16="http://schemas.microsoft.com/office/drawing/2014/main" id="{ED19D762-0687-8325-3D65-854E4DE4D7B4}"/>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SD</a:t>
            </a:r>
          </a:p>
        </p:txBody>
      </p:sp>
      <p:pic>
        <p:nvPicPr>
          <p:cNvPr id="3" name="Picture 2">
            <a:extLst>
              <a:ext uri="{FF2B5EF4-FFF2-40B4-BE49-F238E27FC236}">
                <a16:creationId xmlns:a16="http://schemas.microsoft.com/office/drawing/2014/main" id="{C31E11CA-7E5C-F263-2A50-A525027D365C}"/>
              </a:ext>
            </a:extLst>
          </p:cNvPr>
          <p:cNvPicPr>
            <a:picLocks noChangeAspect="1"/>
          </p:cNvPicPr>
          <p:nvPr/>
        </p:nvPicPr>
        <p:blipFill>
          <a:blip r:embed="rId8"/>
          <a:srcRect l="73217"/>
          <a:stretch>
            <a:fillRect/>
          </a:stretch>
        </p:blipFill>
        <p:spPr>
          <a:xfrm>
            <a:off x="7224943" y="582492"/>
            <a:ext cx="4442159" cy="4882232"/>
          </a:xfrm>
          <a:prstGeom prst="rect">
            <a:avLst/>
          </a:prstGeom>
        </p:spPr>
      </p:pic>
    </p:spTree>
    <p:extLst>
      <p:ext uri="{BB962C8B-B14F-4D97-AF65-F5344CB8AC3E}">
        <p14:creationId xmlns:p14="http://schemas.microsoft.com/office/powerpoint/2010/main" val="4263691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B92D-C04F-BED7-154B-17BA0CF5E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62AD4-C514-5C34-5DAA-4321369EB3A3}"/>
              </a:ext>
            </a:extLst>
          </p:cNvPr>
          <p:cNvSpPr>
            <a:spLocks noGrp="1"/>
          </p:cNvSpPr>
          <p:nvPr>
            <p:ph type="title"/>
          </p:nvPr>
        </p:nvSpPr>
        <p:spPr/>
        <p:txBody>
          <a:bodyPr/>
          <a:lstStyle/>
          <a:p>
            <a:r>
              <a:rPr lang="en-US">
                <a:solidFill>
                  <a:schemeClr val="tx1">
                    <a:lumMod val="65000"/>
                    <a:lumOff val="35000"/>
                  </a:schemeClr>
                </a:solidFill>
              </a:rPr>
              <a:t>Base Model</a:t>
            </a:r>
          </a:p>
        </p:txBody>
      </p:sp>
      <p:graphicFrame>
        <p:nvGraphicFramePr>
          <p:cNvPr id="12" name="Content Placeholder 4">
            <a:extLst>
              <a:ext uri="{FF2B5EF4-FFF2-40B4-BE49-F238E27FC236}">
                <a16:creationId xmlns:a16="http://schemas.microsoft.com/office/drawing/2014/main" id="{CFEF5576-21E7-AD2E-0E01-D9F218308D24}"/>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1E37017C-6638-AF32-D2D0-92E1C8589562}"/>
              </a:ext>
            </a:extLst>
          </p:cNvPr>
          <p:cNvSpPr>
            <a:spLocks noGrp="1"/>
          </p:cNvSpPr>
          <p:nvPr>
            <p:ph type="sldNum" sz="quarter" idx="12"/>
          </p:nvPr>
        </p:nvSpPr>
        <p:spPr/>
        <p:txBody>
          <a:bodyPr/>
          <a:lstStyle/>
          <a:p>
            <a:fld id="{719D7796-F675-488F-AC46-C88938C80352}" type="slidenum">
              <a:rPr lang="en-US" smtClean="0"/>
              <a:t>7</a:t>
            </a:fld>
            <a:endParaRPr lang="en-US"/>
          </a:p>
        </p:txBody>
      </p:sp>
      <p:sp>
        <p:nvSpPr>
          <p:cNvPr id="4" name="TextBox 3">
            <a:extLst>
              <a:ext uri="{FF2B5EF4-FFF2-40B4-BE49-F238E27FC236}">
                <a16:creationId xmlns:a16="http://schemas.microsoft.com/office/drawing/2014/main" id="{C7DD4D5B-E439-141A-D1E8-DCBF5A677AE2}"/>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SD</a:t>
            </a:r>
          </a:p>
        </p:txBody>
      </p:sp>
      <p:pic>
        <p:nvPicPr>
          <p:cNvPr id="6" name="Picture 5">
            <a:extLst>
              <a:ext uri="{FF2B5EF4-FFF2-40B4-BE49-F238E27FC236}">
                <a16:creationId xmlns:a16="http://schemas.microsoft.com/office/drawing/2014/main" id="{399BFFFE-44D1-4890-D238-493E95D68C72}"/>
              </a:ext>
            </a:extLst>
          </p:cNvPr>
          <p:cNvPicPr>
            <a:picLocks noChangeAspect="1"/>
          </p:cNvPicPr>
          <p:nvPr/>
        </p:nvPicPr>
        <p:blipFill>
          <a:blip r:embed="rId8"/>
          <a:stretch>
            <a:fillRect/>
          </a:stretch>
        </p:blipFill>
        <p:spPr>
          <a:xfrm>
            <a:off x="2260685" y="1700102"/>
            <a:ext cx="3788833" cy="4069055"/>
          </a:xfrm>
          <a:prstGeom prst="rect">
            <a:avLst/>
          </a:prstGeom>
        </p:spPr>
      </p:pic>
      <p:pic>
        <p:nvPicPr>
          <p:cNvPr id="8" name="Picture 7">
            <a:extLst>
              <a:ext uri="{FF2B5EF4-FFF2-40B4-BE49-F238E27FC236}">
                <a16:creationId xmlns:a16="http://schemas.microsoft.com/office/drawing/2014/main" id="{A70C8BE7-497A-88FE-C232-B9AB02802B0F}"/>
              </a:ext>
            </a:extLst>
          </p:cNvPr>
          <p:cNvPicPr>
            <a:picLocks noChangeAspect="1"/>
          </p:cNvPicPr>
          <p:nvPr/>
        </p:nvPicPr>
        <p:blipFill>
          <a:blip r:embed="rId9"/>
          <a:srcRect b="792"/>
          <a:stretch>
            <a:fillRect/>
          </a:stretch>
        </p:blipFill>
        <p:spPr>
          <a:xfrm>
            <a:off x="6049518" y="1696214"/>
            <a:ext cx="3649133" cy="4067653"/>
          </a:xfrm>
          <a:prstGeom prst="rect">
            <a:avLst/>
          </a:prstGeom>
        </p:spPr>
      </p:pic>
    </p:spTree>
    <p:extLst>
      <p:ext uri="{BB962C8B-B14F-4D97-AF65-F5344CB8AC3E}">
        <p14:creationId xmlns:p14="http://schemas.microsoft.com/office/powerpoint/2010/main" val="4294225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E58E0-4174-FA4F-C66F-9406140E7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D2169-CCD8-263A-BF10-B031B0BDDF6C}"/>
              </a:ext>
            </a:extLst>
          </p:cNvPr>
          <p:cNvSpPr>
            <a:spLocks noGrp="1"/>
          </p:cNvSpPr>
          <p:nvPr>
            <p:ph type="title"/>
          </p:nvPr>
        </p:nvSpPr>
        <p:spPr/>
        <p:txBody>
          <a:bodyPr/>
          <a:lstStyle/>
          <a:p>
            <a:r>
              <a:rPr lang="en-US">
                <a:solidFill>
                  <a:schemeClr val="tx1">
                    <a:lumMod val="65000"/>
                    <a:lumOff val="35000"/>
                  </a:schemeClr>
                </a:solidFill>
              </a:rPr>
              <a:t>Base Model</a:t>
            </a:r>
          </a:p>
        </p:txBody>
      </p:sp>
      <p:sp>
        <p:nvSpPr>
          <p:cNvPr id="11" name="TextBox 10">
            <a:extLst>
              <a:ext uri="{FF2B5EF4-FFF2-40B4-BE49-F238E27FC236}">
                <a16:creationId xmlns:a16="http://schemas.microsoft.com/office/drawing/2014/main" id="{B0C9458F-5786-C03F-4346-2A4865FCB6DA}"/>
              </a:ext>
            </a:extLst>
          </p:cNvPr>
          <p:cNvSpPr txBox="1"/>
          <p:nvPr/>
        </p:nvSpPr>
        <p:spPr>
          <a:xfrm>
            <a:off x="678325" y="1737359"/>
            <a:ext cx="9922764" cy="2808589"/>
          </a:xfrm>
          <a:prstGeom prst="rect">
            <a:avLst/>
          </a:prstGeom>
          <a:noFill/>
        </p:spPr>
        <p:txBody>
          <a:bodyPr wrap="square" rtlCol="0">
            <a:spAutoFit/>
          </a:bodyPr>
          <a:lstStyle/>
          <a:p>
            <a:pPr lvl="1">
              <a:lnSpc>
                <a:spcPct val="150000"/>
              </a:lnSpc>
            </a:pPr>
            <a:r>
              <a:rPr lang="en-US" sz="2000" b="1" dirty="0"/>
              <a:t>Issues That Mirrored Real-Life Problems</a:t>
            </a:r>
          </a:p>
          <a:p>
            <a:pPr marL="1200150" lvl="2" indent="-285750">
              <a:lnSpc>
                <a:spcPct val="150000"/>
              </a:lnSpc>
              <a:buFont typeface="Arial" panose="020B0604020202020204" pitchFamily="34" charset="0"/>
              <a:buChar char="•"/>
            </a:pPr>
            <a:r>
              <a:rPr lang="en-US" sz="2000" dirty="0"/>
              <a:t>Getting all customers out of the system</a:t>
            </a:r>
          </a:p>
          <a:p>
            <a:pPr marL="1657350" lvl="3" indent="-285750">
              <a:lnSpc>
                <a:spcPct val="150000"/>
              </a:lnSpc>
              <a:buFont typeface="Courier New" panose="02070309020205020404" pitchFamily="49" charset="0"/>
              <a:buChar char="o"/>
            </a:pPr>
            <a:r>
              <a:rPr lang="en-US" sz="2000" dirty="0"/>
              <a:t>It had to run for a total of 40 hours, (23 hours after closing)</a:t>
            </a:r>
          </a:p>
          <a:p>
            <a:pPr marL="1657350" lvl="3" indent="-285750">
              <a:lnSpc>
                <a:spcPct val="150000"/>
              </a:lnSpc>
              <a:buFont typeface="Courier New" panose="02070309020205020404" pitchFamily="49" charset="0"/>
              <a:buChar char="o"/>
            </a:pPr>
            <a:r>
              <a:rPr lang="en-US" sz="2000" dirty="0"/>
              <a:t>The real-world model will stay open an hour past closed</a:t>
            </a:r>
          </a:p>
          <a:p>
            <a:pPr marL="1200150" lvl="2" indent="-285750">
              <a:lnSpc>
                <a:spcPct val="150000"/>
              </a:lnSpc>
              <a:buFont typeface="Arial" panose="020B0604020202020204" pitchFamily="34" charset="0"/>
              <a:buChar char="•"/>
            </a:pPr>
            <a:r>
              <a:rPr lang="en-US" sz="2000" dirty="0"/>
              <a:t>Scheduled utilizations for each server ranged between 36% - 80%</a:t>
            </a:r>
          </a:p>
          <a:p>
            <a:pPr marL="1657350" lvl="3" indent="-285750">
              <a:lnSpc>
                <a:spcPct val="150000"/>
              </a:lnSpc>
              <a:buFont typeface="Courier New" panose="02070309020205020404" pitchFamily="49" charset="0"/>
              <a:buChar char="o"/>
            </a:pPr>
            <a:r>
              <a:rPr lang="en-US" sz="2000" dirty="0"/>
              <a:t>Variance is high</a:t>
            </a:r>
          </a:p>
        </p:txBody>
      </p:sp>
      <p:graphicFrame>
        <p:nvGraphicFramePr>
          <p:cNvPr id="12" name="Content Placeholder 4">
            <a:extLst>
              <a:ext uri="{FF2B5EF4-FFF2-40B4-BE49-F238E27FC236}">
                <a16:creationId xmlns:a16="http://schemas.microsoft.com/office/drawing/2014/main" id="{B18B517D-E04A-301B-635E-81196E2817A1}"/>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1525B6B2-5B48-18CE-B8DE-8A850A29051F}"/>
              </a:ext>
            </a:extLst>
          </p:cNvPr>
          <p:cNvSpPr>
            <a:spLocks noGrp="1"/>
          </p:cNvSpPr>
          <p:nvPr>
            <p:ph type="sldNum" sz="quarter" idx="12"/>
          </p:nvPr>
        </p:nvSpPr>
        <p:spPr/>
        <p:txBody>
          <a:bodyPr/>
          <a:lstStyle/>
          <a:p>
            <a:fld id="{719D7796-F675-488F-AC46-C88938C80352}" type="slidenum">
              <a:rPr lang="en-US" smtClean="0"/>
              <a:t>8</a:t>
            </a:fld>
            <a:endParaRPr lang="en-US"/>
          </a:p>
        </p:txBody>
      </p:sp>
      <p:sp>
        <p:nvSpPr>
          <p:cNvPr id="4" name="TextBox 3">
            <a:extLst>
              <a:ext uri="{FF2B5EF4-FFF2-40B4-BE49-F238E27FC236}">
                <a16:creationId xmlns:a16="http://schemas.microsoft.com/office/drawing/2014/main" id="{54C3C1F4-717B-0942-F040-888C71402883}"/>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SD</a:t>
            </a:r>
          </a:p>
        </p:txBody>
      </p:sp>
    </p:spTree>
    <p:extLst>
      <p:ext uri="{BB962C8B-B14F-4D97-AF65-F5344CB8AC3E}">
        <p14:creationId xmlns:p14="http://schemas.microsoft.com/office/powerpoint/2010/main" val="2871831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A6A72-7C60-D4FA-0ACF-4A89D7943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809B8-3E45-F6E4-5B11-A31A816FB220}"/>
              </a:ext>
            </a:extLst>
          </p:cNvPr>
          <p:cNvSpPr>
            <a:spLocks noGrp="1"/>
          </p:cNvSpPr>
          <p:nvPr>
            <p:ph type="title"/>
          </p:nvPr>
        </p:nvSpPr>
        <p:spPr/>
        <p:txBody>
          <a:bodyPr/>
          <a:lstStyle/>
          <a:p>
            <a:r>
              <a:rPr lang="en-US">
                <a:solidFill>
                  <a:schemeClr val="tx1">
                    <a:lumMod val="65000"/>
                    <a:lumOff val="35000"/>
                  </a:schemeClr>
                </a:solidFill>
              </a:rPr>
              <a:t>Alterative 1: Capacity Adjustments</a:t>
            </a:r>
          </a:p>
        </p:txBody>
      </p:sp>
      <p:sp>
        <p:nvSpPr>
          <p:cNvPr id="11" name="TextBox 10">
            <a:extLst>
              <a:ext uri="{FF2B5EF4-FFF2-40B4-BE49-F238E27FC236}">
                <a16:creationId xmlns:a16="http://schemas.microsoft.com/office/drawing/2014/main" id="{1A5327EB-4ED5-80F7-2EC8-0FC080A16706}"/>
              </a:ext>
            </a:extLst>
          </p:cNvPr>
          <p:cNvSpPr txBox="1"/>
          <p:nvPr/>
        </p:nvSpPr>
        <p:spPr>
          <a:xfrm>
            <a:off x="1181100" y="1853158"/>
            <a:ext cx="10058474" cy="1887824"/>
          </a:xfrm>
          <a:prstGeom prst="rect">
            <a:avLst/>
          </a:prstGeom>
          <a:noFill/>
        </p:spPr>
        <p:txBody>
          <a:bodyPr wrap="square" rtlCol="0">
            <a:spAutoFit/>
          </a:bodyPr>
          <a:lstStyle/>
          <a:p>
            <a:pPr>
              <a:lnSpc>
                <a:spcPct val="150000"/>
              </a:lnSpc>
            </a:pPr>
            <a:r>
              <a:rPr lang="en-US" sz="2000" b="1"/>
              <a:t>Suggestions</a:t>
            </a:r>
          </a:p>
          <a:p>
            <a:pPr marL="800100" lvl="1" indent="-342900">
              <a:lnSpc>
                <a:spcPct val="150000"/>
              </a:lnSpc>
              <a:buFont typeface="Arial" panose="020B0604020202020204" pitchFamily="34" charset="0"/>
              <a:buChar char="•"/>
            </a:pPr>
            <a:r>
              <a:rPr lang="en-US" sz="2000"/>
              <a:t>Seasonal employees would be brought into Macy’s for Black Friday </a:t>
            </a:r>
          </a:p>
          <a:p>
            <a:pPr marL="800100" lvl="1" indent="-342900">
              <a:lnSpc>
                <a:spcPct val="150000"/>
              </a:lnSpc>
              <a:buFont typeface="Arial" panose="020B0604020202020204" pitchFamily="34" charset="0"/>
              <a:buChar char="•"/>
            </a:pPr>
            <a:r>
              <a:rPr lang="en-US" sz="2000"/>
              <a:t>Allocating more workers to departments with higher traffic </a:t>
            </a:r>
            <a:endParaRPr lang="en-US"/>
          </a:p>
          <a:p>
            <a:pPr>
              <a:lnSpc>
                <a:spcPct val="150000"/>
              </a:lnSpc>
            </a:pPr>
            <a:r>
              <a:rPr lang="en-US" sz="2000" b="1"/>
              <a:t>Adjustments</a:t>
            </a:r>
          </a:p>
        </p:txBody>
      </p:sp>
      <p:graphicFrame>
        <p:nvGraphicFramePr>
          <p:cNvPr id="12" name="Content Placeholder 4">
            <a:extLst>
              <a:ext uri="{FF2B5EF4-FFF2-40B4-BE49-F238E27FC236}">
                <a16:creationId xmlns:a16="http://schemas.microsoft.com/office/drawing/2014/main" id="{EDDFCE24-598F-1943-9F43-6102F9525C87}"/>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29B6F4AB-7096-85D5-C810-83B764337228}"/>
              </a:ext>
            </a:extLst>
          </p:cNvPr>
          <p:cNvSpPr>
            <a:spLocks noGrp="1"/>
          </p:cNvSpPr>
          <p:nvPr>
            <p:ph type="sldNum" sz="quarter" idx="12"/>
          </p:nvPr>
        </p:nvSpPr>
        <p:spPr/>
        <p:txBody>
          <a:bodyPr/>
          <a:lstStyle/>
          <a:p>
            <a:fld id="{719D7796-F675-488F-AC46-C88938C80352}" type="slidenum">
              <a:rPr lang="en-US" smtClean="0"/>
              <a:t>9</a:t>
            </a:fld>
            <a:endParaRPr lang="en-US"/>
          </a:p>
        </p:txBody>
      </p:sp>
      <p:sp>
        <p:nvSpPr>
          <p:cNvPr id="4" name="TextBox 3">
            <a:extLst>
              <a:ext uri="{FF2B5EF4-FFF2-40B4-BE49-F238E27FC236}">
                <a16:creationId xmlns:a16="http://schemas.microsoft.com/office/drawing/2014/main" id="{6A0E75B6-A6A1-A9C3-9644-5BFD1033C04B}"/>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sp>
        <p:nvSpPr>
          <p:cNvPr id="3" name="TextBox 2">
            <a:extLst>
              <a:ext uri="{FF2B5EF4-FFF2-40B4-BE49-F238E27FC236}">
                <a16:creationId xmlns:a16="http://schemas.microsoft.com/office/drawing/2014/main" id="{60427700-BE24-F28F-6606-C113E0AFEEDF}"/>
              </a:ext>
            </a:extLst>
          </p:cNvPr>
          <p:cNvSpPr txBox="1"/>
          <p:nvPr/>
        </p:nvSpPr>
        <p:spPr>
          <a:xfrm>
            <a:off x="1741713" y="3648650"/>
            <a:ext cx="3883815" cy="2031325"/>
          </a:xfrm>
          <a:prstGeom prst="rect">
            <a:avLst/>
          </a:prstGeom>
          <a:noFill/>
        </p:spPr>
        <p:txBody>
          <a:bodyPr wrap="square" rtlCol="0">
            <a:spAutoFit/>
          </a:bodyPr>
          <a:lstStyle/>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Backstage Capacity: 4</a:t>
            </a:r>
          </a:p>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Jewelry Capacity: 3</a:t>
            </a:r>
          </a:p>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Women’s Capacity: 5</a:t>
            </a:r>
          </a:p>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Shoes and Juniors Capacity: 7</a:t>
            </a:r>
          </a:p>
          <a:p>
            <a:endParaRPr lang="en-US"/>
          </a:p>
        </p:txBody>
      </p:sp>
      <p:sp>
        <p:nvSpPr>
          <p:cNvPr id="5" name="TextBox 4">
            <a:extLst>
              <a:ext uri="{FF2B5EF4-FFF2-40B4-BE49-F238E27FC236}">
                <a16:creationId xmlns:a16="http://schemas.microsoft.com/office/drawing/2014/main" id="{7EEEBAA2-78A9-B15C-E9E3-C8946F6FA87A}"/>
              </a:ext>
            </a:extLst>
          </p:cNvPr>
          <p:cNvSpPr txBox="1"/>
          <p:nvPr/>
        </p:nvSpPr>
        <p:spPr>
          <a:xfrm>
            <a:off x="5854203" y="3648649"/>
            <a:ext cx="4596084" cy="1615827"/>
          </a:xfrm>
          <a:prstGeom prst="rect">
            <a:avLst/>
          </a:prstGeom>
          <a:noFill/>
        </p:spPr>
        <p:txBody>
          <a:bodyPr wrap="square" rtlCol="0">
            <a:spAutoFit/>
          </a:bodyPr>
          <a:lstStyle/>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Perfume Capacity: 3</a:t>
            </a:r>
          </a:p>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Men and Children’s Capacity: 4</a:t>
            </a:r>
          </a:p>
          <a:p>
            <a:pPr marL="342900" marR="0" lvl="0" indent="-342900">
              <a:lnSpc>
                <a:spcPct val="150000"/>
              </a:lnSpc>
              <a:spcBef>
                <a:spcPts val="0"/>
              </a:spcBef>
              <a:spcAft>
                <a:spcPts val="0"/>
              </a:spcAft>
              <a:buFont typeface="Symbol" pitchFamily="2" charset="2"/>
              <a:buChar char=""/>
            </a:pPr>
            <a:r>
              <a:rPr lang="en-US" sz="1800">
                <a:effectLst/>
                <a:ea typeface="Times New Roman" panose="02020603050405020304" pitchFamily="18" charset="0"/>
              </a:rPr>
              <a:t>Furniture and Appliances Capacity: 9</a:t>
            </a:r>
          </a:p>
          <a:p>
            <a:endParaRPr lang="en-US"/>
          </a:p>
        </p:txBody>
      </p:sp>
    </p:spTree>
    <p:extLst>
      <p:ext uri="{BB962C8B-B14F-4D97-AF65-F5344CB8AC3E}">
        <p14:creationId xmlns:p14="http://schemas.microsoft.com/office/powerpoint/2010/main" val="3252278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E062F-86C2-9FB4-0E46-227F0EFCD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52FE8-FCC6-8D2D-33A7-22B361F3DE60}"/>
              </a:ext>
            </a:extLst>
          </p:cNvPr>
          <p:cNvSpPr>
            <a:spLocks noGrp="1"/>
          </p:cNvSpPr>
          <p:nvPr>
            <p:ph type="title"/>
          </p:nvPr>
        </p:nvSpPr>
        <p:spPr/>
        <p:txBody>
          <a:bodyPr/>
          <a:lstStyle/>
          <a:p>
            <a:r>
              <a:rPr lang="en-US">
                <a:solidFill>
                  <a:schemeClr val="tx1">
                    <a:lumMod val="65000"/>
                    <a:lumOff val="35000"/>
                  </a:schemeClr>
                </a:solidFill>
              </a:rPr>
              <a:t>Alternative 2: Constant Arrivals</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38A2F2D-6503-3D8E-6005-0AB58D42918A}"/>
                  </a:ext>
                </a:extLst>
              </p:cNvPr>
              <p:cNvSpPr txBox="1"/>
              <p:nvPr/>
            </p:nvSpPr>
            <p:spPr>
              <a:xfrm>
                <a:off x="1181100" y="1853158"/>
                <a:ext cx="10058474" cy="2390976"/>
              </a:xfrm>
              <a:prstGeom prst="rect">
                <a:avLst/>
              </a:prstGeom>
              <a:noFill/>
            </p:spPr>
            <p:txBody>
              <a:bodyPr wrap="square" lIns="91440" tIns="45720" rIns="91440" bIns="45720" rtlCol="0" anchor="t">
                <a:spAutoFit/>
              </a:bodyPr>
              <a:lstStyle/>
              <a:p>
                <a:pPr>
                  <a:lnSpc>
                    <a:spcPct val="150000"/>
                  </a:lnSpc>
                </a:pPr>
                <a:r>
                  <a:rPr lang="en-US" sz="2400" b="1"/>
                  <a:t>Arrival Rate</a:t>
                </a:r>
              </a:p>
              <a:p>
                <a:pPr marL="800100" lvl="1" indent="-342900">
                  <a:lnSpc>
                    <a:spcPct val="150000"/>
                  </a:lnSpc>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21000 </m:t>
                        </m:r>
                        <m:r>
                          <a:rPr lang="en-US" sz="2000" b="0" i="1" smtClean="0">
                            <a:latin typeface="Cambria Math" panose="02040503050406030204" pitchFamily="18" charset="0"/>
                          </a:rPr>
                          <m:t>𝑡𝑜𝑡𝑎𝑙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𝑠h𝑜𝑝𝑝𝑒𝑟𝑠</m:t>
                        </m:r>
                      </m:num>
                      <m:den>
                        <m:r>
                          <a:rPr lang="en-US" sz="2000" b="0" i="1" smtClean="0">
                            <a:latin typeface="Cambria Math" panose="02040503050406030204" pitchFamily="18" charset="0"/>
                          </a:rPr>
                          <m:t>4 </m:t>
                        </m:r>
                        <m:r>
                          <a:rPr lang="en-US" sz="2000" b="0" i="1" smtClean="0">
                            <a:latin typeface="Cambria Math" panose="02040503050406030204" pitchFamily="18" charset="0"/>
                          </a:rPr>
                          <m:t>𝑒𝑛𝑡𝑖𝑡𝑖𝑒𝑠</m:t>
                        </m:r>
                        <m:r>
                          <a:rPr lang="en-US" sz="2000" b="0" i="1" smtClean="0">
                            <a:latin typeface="Cambria Math" panose="02040503050406030204" pitchFamily="18" charset="0"/>
                          </a:rPr>
                          <m:t> </m:t>
                        </m:r>
                      </m:den>
                    </m:f>
                    <m:r>
                      <a:rPr lang="en-US" sz="2000" b="0" i="1" smtClean="0">
                        <a:latin typeface="Cambria Math" panose="02040503050406030204" pitchFamily="18" charset="0"/>
                      </a:rPr>
                      <m:t>=5250 </m:t>
                    </m:r>
                    <m:r>
                      <a:rPr lang="en-US" sz="2000" b="0" i="1" smtClean="0">
                        <a:latin typeface="Cambria Math" panose="02040503050406030204" pitchFamily="18" charset="0"/>
                      </a:rPr>
                      <m:t>𝑐𝑢𝑠𝑡𝑜𝑚𝑒𝑟</m:t>
                    </m:r>
                    <m:r>
                      <a:rPr lang="en-US" sz="2000" b="0" i="1" smtClean="0">
                        <a:latin typeface="Cambria Math" panose="02040503050406030204" pitchFamily="18" charset="0"/>
                      </a:rPr>
                      <m:t> </m:t>
                    </m:r>
                    <m:r>
                      <a:rPr lang="en-US" sz="2000" b="0" i="1" smtClean="0">
                        <a:latin typeface="Cambria Math" panose="02040503050406030204" pitchFamily="18" charset="0"/>
                      </a:rPr>
                      <m:t>𝑝𝑒𝑟</m:t>
                    </m:r>
                    <m:r>
                      <a:rPr lang="en-US" sz="2000" b="0" i="1" smtClean="0">
                        <a:latin typeface="Cambria Math" panose="02040503050406030204" pitchFamily="18" charset="0"/>
                      </a:rPr>
                      <m:t> </m:t>
                    </m:r>
                    <m:r>
                      <a:rPr lang="en-US" sz="2000" b="0" i="1" smtClean="0">
                        <a:latin typeface="Cambria Math" panose="02040503050406030204" pitchFamily="18" charset="0"/>
                      </a:rPr>
                      <m:t>𝑒𝑛𝑡𝑖𝑡𝑦</m:t>
                    </m:r>
                    <m:r>
                      <a:rPr lang="en-US" sz="2000" b="0" i="1" smtClean="0">
                        <a:latin typeface="Cambria Math" panose="02040503050406030204" pitchFamily="18" charset="0"/>
                      </a:rPr>
                      <m:t> </m:t>
                    </m:r>
                  </m:oMath>
                </a14:m>
                <a:endParaRPr lang="en-US" sz="2000" b="0"/>
              </a:p>
              <a:p>
                <a:pPr marL="800100" lvl="1" indent="-342900">
                  <a:lnSpc>
                    <a:spcPct val="150000"/>
                  </a:lnSpc>
                  <a:buFont typeface="Arial" panose="020B0604020202020204" pitchFamily="34" charset="0"/>
                  <a:buChar char="•"/>
                </a:pP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5250 </m:t>
                        </m:r>
                        <m:r>
                          <a:rPr lang="en-US" sz="2000" b="0" i="1" smtClean="0">
                            <a:latin typeface="Cambria Math" panose="02040503050406030204" pitchFamily="18" charset="0"/>
                          </a:rPr>
                          <m:t>𝑐𝑢𝑠𝑡𝑜𝑚𝑒𝑟𝑠</m:t>
                        </m:r>
                        <m:r>
                          <a:rPr lang="en-US" sz="2000" b="0" i="1" smtClean="0">
                            <a:latin typeface="Cambria Math" panose="02040503050406030204" pitchFamily="18" charset="0"/>
                          </a:rPr>
                          <m:t> </m:t>
                        </m:r>
                        <m:r>
                          <a:rPr lang="en-US" sz="2000" b="0" i="1" smtClean="0">
                            <a:latin typeface="Cambria Math" panose="02040503050406030204" pitchFamily="18" charset="0"/>
                          </a:rPr>
                          <m:t>𝑝𝑒𝑟</m:t>
                        </m:r>
                        <m:r>
                          <a:rPr lang="en-US" sz="2000" b="0" i="1" smtClean="0">
                            <a:latin typeface="Cambria Math" panose="02040503050406030204" pitchFamily="18" charset="0"/>
                          </a:rPr>
                          <m:t> </m:t>
                        </m:r>
                        <m:r>
                          <a:rPr lang="en-US" sz="2000" b="0" i="1" smtClean="0">
                            <a:latin typeface="Cambria Math" panose="02040503050406030204" pitchFamily="18" charset="0"/>
                          </a:rPr>
                          <m:t>𝑒𝑛𝑡𝑖𝑡𝑦</m:t>
                        </m:r>
                      </m:num>
                      <m:den>
                        <m:r>
                          <a:rPr lang="en-US" sz="2000" b="0" i="1" smtClean="0">
                            <a:latin typeface="Cambria Math" panose="02040503050406030204" pitchFamily="18" charset="0"/>
                          </a:rPr>
                          <m:t>17 </m:t>
                        </m:r>
                        <m:r>
                          <a:rPr lang="en-US" sz="2000" b="0" i="1" smtClean="0">
                            <a:latin typeface="Cambria Math" panose="02040503050406030204" pitchFamily="18" charset="0"/>
                          </a:rPr>
                          <m:t>h𝑜𝑢𝑟𝑠</m:t>
                        </m:r>
                      </m:den>
                    </m:f>
                    <m:r>
                      <a:rPr lang="en-US" sz="2000" b="0" i="1" smtClean="0">
                        <a:latin typeface="Cambria Math" panose="02040503050406030204" pitchFamily="18" charset="0"/>
                      </a:rPr>
                      <m:t>=309 </m:t>
                    </m:r>
                    <m:r>
                      <a:rPr lang="en-US" sz="2000" b="0" i="1" smtClean="0">
                        <a:latin typeface="Cambria Math" panose="02040503050406030204" pitchFamily="18" charset="0"/>
                      </a:rPr>
                      <m:t>𝑐𝑢𝑠𝑡𝑜𝑚𝑒𝑟𝑠</m:t>
                    </m:r>
                    <m:r>
                      <a:rPr lang="en-US" sz="2000" b="0" i="1" smtClean="0">
                        <a:latin typeface="Cambria Math" panose="02040503050406030204" pitchFamily="18" charset="0"/>
                      </a:rPr>
                      <m:t> </m:t>
                    </m:r>
                    <m:r>
                      <a:rPr lang="en-US" sz="2000" b="0" i="1" smtClean="0">
                        <a:latin typeface="Cambria Math" panose="02040503050406030204" pitchFamily="18" charset="0"/>
                      </a:rPr>
                      <m:t>𝑝𝑒𝑟</m:t>
                    </m:r>
                    <m:r>
                      <a:rPr lang="en-US" sz="2000" b="0" i="1" smtClean="0">
                        <a:latin typeface="Cambria Math" panose="02040503050406030204" pitchFamily="18" charset="0"/>
                      </a:rPr>
                      <m:t> </m:t>
                    </m:r>
                    <m:r>
                      <a:rPr lang="en-US" sz="2000" b="0" i="1" smtClean="0">
                        <a:latin typeface="Cambria Math" panose="02040503050406030204" pitchFamily="18" charset="0"/>
                      </a:rPr>
                      <m:t>𝑒𝑛𝑡𝑖𝑡𝑦</m:t>
                    </m:r>
                    <m:r>
                      <a:rPr lang="en-US" sz="2000" b="0" i="1" smtClean="0">
                        <a:latin typeface="Cambria Math" panose="02040503050406030204" pitchFamily="18" charset="0"/>
                      </a:rPr>
                      <m:t> </m:t>
                    </m:r>
                    <m:r>
                      <a:rPr lang="en-US" sz="2000" b="0" i="1" smtClean="0">
                        <a:latin typeface="Cambria Math" panose="02040503050406030204" pitchFamily="18" charset="0"/>
                      </a:rPr>
                      <m:t>𝑝𝑒𝑟</m:t>
                    </m:r>
                    <m:r>
                      <a:rPr lang="en-US" sz="2000" b="0" i="1" smtClean="0">
                        <a:latin typeface="Cambria Math" panose="02040503050406030204" pitchFamily="18" charset="0"/>
                      </a:rPr>
                      <m:t> </m:t>
                    </m:r>
                    <m:r>
                      <a:rPr lang="en-US" sz="2000" b="0" i="1" smtClean="0">
                        <a:latin typeface="Cambria Math" panose="02040503050406030204" pitchFamily="18" charset="0"/>
                      </a:rPr>
                      <m:t>h𝑜𝑢𝑟</m:t>
                    </m:r>
                  </m:oMath>
                </a14:m>
                <a:r>
                  <a:rPr lang="en-US" sz="2000"/>
                  <a:t> </a:t>
                </a:r>
              </a:p>
              <a:p>
                <a:pPr marL="800100" lvl="1" indent="-342900">
                  <a:lnSpc>
                    <a:spcPct val="150000"/>
                  </a:lnSpc>
                  <a:buFont typeface="Arial" panose="020B0604020202020204" pitchFamily="34" charset="0"/>
                  <a:buChar char="•"/>
                </a:pPr>
                <a:r>
                  <a:rPr lang="en-US" sz="2000"/>
                  <a:t>In real life, the store would allow in 309 customers in per hour</a:t>
                </a:r>
              </a:p>
            </p:txBody>
          </p:sp>
        </mc:Choice>
        <mc:Fallback>
          <p:sp>
            <p:nvSpPr>
              <p:cNvPr id="11" name="TextBox 10">
                <a:extLst>
                  <a:ext uri="{FF2B5EF4-FFF2-40B4-BE49-F238E27FC236}">
                    <a16:creationId xmlns:a16="http://schemas.microsoft.com/office/drawing/2014/main" id="{538A2F2D-6503-3D8E-6005-0AB58D42918A}"/>
                  </a:ext>
                </a:extLst>
              </p:cNvPr>
              <p:cNvSpPr txBox="1">
                <a:spLocks noRot="1" noChangeAspect="1" noMove="1" noResize="1" noEditPoints="1" noAdjustHandles="1" noChangeArrowheads="1" noChangeShapeType="1" noTextEdit="1"/>
              </p:cNvSpPr>
              <p:nvPr/>
            </p:nvSpPr>
            <p:spPr>
              <a:xfrm>
                <a:off x="1181100" y="1853158"/>
                <a:ext cx="10058474" cy="2390976"/>
              </a:xfrm>
              <a:prstGeom prst="rect">
                <a:avLst/>
              </a:prstGeom>
              <a:blipFill>
                <a:blip r:embed="rId3"/>
                <a:stretch>
                  <a:fillRect l="-1009" b="-3158"/>
                </a:stretch>
              </a:blipFill>
            </p:spPr>
            <p:txBody>
              <a:bodyPr/>
              <a:lstStyle/>
              <a:p>
                <a:r>
                  <a:rPr lang="en-US">
                    <a:noFill/>
                  </a:rPr>
                  <a:t> </a:t>
                </a:r>
              </a:p>
            </p:txBody>
          </p:sp>
        </mc:Fallback>
      </mc:AlternateContent>
      <p:graphicFrame>
        <p:nvGraphicFramePr>
          <p:cNvPr id="12" name="Content Placeholder 4">
            <a:extLst>
              <a:ext uri="{FF2B5EF4-FFF2-40B4-BE49-F238E27FC236}">
                <a16:creationId xmlns:a16="http://schemas.microsoft.com/office/drawing/2014/main" id="{33F3BC7F-3443-71DC-7992-D444F71B7C5A}"/>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Slide Number Placeholder 12">
            <a:extLst>
              <a:ext uri="{FF2B5EF4-FFF2-40B4-BE49-F238E27FC236}">
                <a16:creationId xmlns:a16="http://schemas.microsoft.com/office/drawing/2014/main" id="{C25117C3-54A5-48F3-93E9-C5CAEB418002}"/>
              </a:ext>
            </a:extLst>
          </p:cNvPr>
          <p:cNvSpPr>
            <a:spLocks noGrp="1"/>
          </p:cNvSpPr>
          <p:nvPr>
            <p:ph type="sldNum" sz="quarter" idx="12"/>
          </p:nvPr>
        </p:nvSpPr>
        <p:spPr/>
        <p:txBody>
          <a:bodyPr/>
          <a:lstStyle/>
          <a:p>
            <a:fld id="{719D7796-F675-488F-AC46-C88938C80352}" type="slidenum">
              <a:rPr lang="en-US" smtClean="0"/>
              <a:t>10</a:t>
            </a:fld>
            <a:endParaRPr lang="en-US"/>
          </a:p>
        </p:txBody>
      </p:sp>
      <p:sp>
        <p:nvSpPr>
          <p:cNvPr id="4" name="TextBox 3">
            <a:extLst>
              <a:ext uri="{FF2B5EF4-FFF2-40B4-BE49-F238E27FC236}">
                <a16:creationId xmlns:a16="http://schemas.microsoft.com/office/drawing/2014/main" id="{8097FF1B-8D77-CE06-6145-9B3C8AD9EAB9}"/>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spTree>
    <p:extLst>
      <p:ext uri="{BB962C8B-B14F-4D97-AF65-F5344CB8AC3E}">
        <p14:creationId xmlns:p14="http://schemas.microsoft.com/office/powerpoint/2010/main" val="2122655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F52E-2C08-127A-31D0-6F62CB038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05BCB-9EF7-F212-DC59-FAAF7776F9A7}"/>
              </a:ext>
            </a:extLst>
          </p:cNvPr>
          <p:cNvSpPr>
            <a:spLocks noGrp="1"/>
          </p:cNvSpPr>
          <p:nvPr>
            <p:ph type="title"/>
          </p:nvPr>
        </p:nvSpPr>
        <p:spPr/>
        <p:txBody>
          <a:bodyPr/>
          <a:lstStyle/>
          <a:p>
            <a:r>
              <a:rPr lang="en-US">
                <a:solidFill>
                  <a:schemeClr val="tx1">
                    <a:lumMod val="65000"/>
                    <a:lumOff val="35000"/>
                  </a:schemeClr>
                </a:solidFill>
              </a:rPr>
              <a:t>Alternatives Evaluation</a:t>
            </a:r>
          </a:p>
        </p:txBody>
      </p:sp>
      <p:graphicFrame>
        <p:nvGraphicFramePr>
          <p:cNvPr id="12" name="Content Placeholder 4">
            <a:extLst>
              <a:ext uri="{FF2B5EF4-FFF2-40B4-BE49-F238E27FC236}">
                <a16:creationId xmlns:a16="http://schemas.microsoft.com/office/drawing/2014/main" id="{1104DFAD-3567-A26B-7FAE-4FDE142D8FED}"/>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E2BF4B7F-3DFB-FE82-E334-B76E30D87EE4}"/>
              </a:ext>
            </a:extLst>
          </p:cNvPr>
          <p:cNvSpPr>
            <a:spLocks noGrp="1"/>
          </p:cNvSpPr>
          <p:nvPr>
            <p:ph type="sldNum" sz="quarter" idx="12"/>
          </p:nvPr>
        </p:nvSpPr>
        <p:spPr/>
        <p:txBody>
          <a:bodyPr/>
          <a:lstStyle/>
          <a:p>
            <a:fld id="{719D7796-F675-488F-AC46-C88938C80352}" type="slidenum">
              <a:rPr lang="en-US" smtClean="0"/>
              <a:t>11</a:t>
            </a:fld>
            <a:endParaRPr lang="en-US"/>
          </a:p>
        </p:txBody>
      </p:sp>
      <p:sp>
        <p:nvSpPr>
          <p:cNvPr id="4" name="TextBox 3">
            <a:extLst>
              <a:ext uri="{FF2B5EF4-FFF2-40B4-BE49-F238E27FC236}">
                <a16:creationId xmlns:a16="http://schemas.microsoft.com/office/drawing/2014/main" id="{0AA2D859-5B3A-E342-13C7-FD3A280496AF}"/>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pic>
        <p:nvPicPr>
          <p:cNvPr id="3" name="Picture 2">
            <a:extLst>
              <a:ext uri="{FF2B5EF4-FFF2-40B4-BE49-F238E27FC236}">
                <a16:creationId xmlns:a16="http://schemas.microsoft.com/office/drawing/2014/main" id="{D79D2315-8B44-EB8C-FB24-2051D0DAF587}"/>
              </a:ext>
            </a:extLst>
          </p:cNvPr>
          <p:cNvPicPr>
            <a:picLocks noChangeAspect="1"/>
          </p:cNvPicPr>
          <p:nvPr/>
        </p:nvPicPr>
        <p:blipFill>
          <a:blip r:embed="rId8"/>
          <a:stretch>
            <a:fillRect/>
          </a:stretch>
        </p:blipFill>
        <p:spPr>
          <a:xfrm>
            <a:off x="2856226" y="1739416"/>
            <a:ext cx="6479548" cy="4028339"/>
          </a:xfrm>
          <a:prstGeom prst="rect">
            <a:avLst/>
          </a:prstGeom>
        </p:spPr>
      </p:pic>
    </p:spTree>
    <p:extLst>
      <p:ext uri="{BB962C8B-B14F-4D97-AF65-F5344CB8AC3E}">
        <p14:creationId xmlns:p14="http://schemas.microsoft.com/office/powerpoint/2010/main" val="1194345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7E501-A3C7-3387-E09A-629D8AE52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603A0-8F6B-6E26-0865-9C7901459DBC}"/>
              </a:ext>
            </a:extLst>
          </p:cNvPr>
          <p:cNvSpPr>
            <a:spLocks noGrp="1"/>
          </p:cNvSpPr>
          <p:nvPr>
            <p:ph type="title"/>
          </p:nvPr>
        </p:nvSpPr>
        <p:spPr/>
        <p:txBody>
          <a:bodyPr/>
          <a:lstStyle/>
          <a:p>
            <a:r>
              <a:rPr lang="en-US">
                <a:solidFill>
                  <a:schemeClr val="tx1">
                    <a:lumMod val="65000"/>
                    <a:lumOff val="35000"/>
                  </a:schemeClr>
                </a:solidFill>
              </a:rPr>
              <a:t>Validation</a:t>
            </a:r>
          </a:p>
        </p:txBody>
      </p:sp>
      <p:sp>
        <p:nvSpPr>
          <p:cNvPr id="11" name="TextBox 10">
            <a:extLst>
              <a:ext uri="{FF2B5EF4-FFF2-40B4-BE49-F238E27FC236}">
                <a16:creationId xmlns:a16="http://schemas.microsoft.com/office/drawing/2014/main" id="{549A8861-DFB2-230C-6511-A0B931D96156}"/>
              </a:ext>
            </a:extLst>
          </p:cNvPr>
          <p:cNvSpPr txBox="1"/>
          <p:nvPr/>
        </p:nvSpPr>
        <p:spPr>
          <a:xfrm>
            <a:off x="1181100" y="1853158"/>
            <a:ext cx="9922764" cy="2957797"/>
          </a:xfrm>
          <a:prstGeom prst="rect">
            <a:avLst/>
          </a:prstGeom>
          <a:noFill/>
        </p:spPr>
        <p:txBody>
          <a:bodyPr wrap="square" rtlCol="0">
            <a:spAutoFit/>
          </a:bodyPr>
          <a:lstStyle/>
          <a:p>
            <a:pPr>
              <a:lnSpc>
                <a:spcPct val="150000"/>
              </a:lnSpc>
            </a:pPr>
            <a:r>
              <a:rPr lang="en-US" sz="2000" b="1"/>
              <a:t>Entities Stuck (Base Model)</a:t>
            </a:r>
          </a:p>
          <a:p>
            <a:pPr marL="800100" lvl="1" indent="-342900">
              <a:lnSpc>
                <a:spcPct val="150000"/>
              </a:lnSpc>
              <a:buFont typeface="Arial" panose="020B0604020202020204" pitchFamily="34" charset="0"/>
              <a:buChar char="•"/>
            </a:pPr>
            <a:r>
              <a:rPr lang="en-US"/>
              <a:t>Within the original model, not all entities were leaving the store at the end of the day</a:t>
            </a:r>
          </a:p>
          <a:p>
            <a:pPr marL="1257300" lvl="2" indent="-342900">
              <a:lnSpc>
                <a:spcPct val="150000"/>
              </a:lnSpc>
              <a:buFont typeface="Arial" panose="020B0604020202020204" pitchFamily="34" charset="0"/>
              <a:buChar char="•"/>
            </a:pPr>
            <a:r>
              <a:rPr lang="en-US"/>
              <a:t>Model needed to run additional hours</a:t>
            </a:r>
          </a:p>
          <a:p>
            <a:pPr marL="1257300" lvl="2" indent="-342900">
              <a:lnSpc>
                <a:spcPct val="150000"/>
              </a:lnSpc>
              <a:buFont typeface="Arial" panose="020B0604020202020204" pitchFamily="34" charset="0"/>
              <a:buChar char="•"/>
            </a:pPr>
            <a:r>
              <a:rPr lang="en-US"/>
              <a:t>Not all customers will be finished shopping or checking out by closing time </a:t>
            </a:r>
          </a:p>
          <a:p>
            <a:pPr marL="800100" lvl="1" indent="-342900">
              <a:lnSpc>
                <a:spcPct val="150000"/>
              </a:lnSpc>
              <a:buFont typeface="Arial" panose="020B0604020202020204" pitchFamily="34" charset="0"/>
              <a:buChar char="•"/>
            </a:pPr>
            <a:r>
              <a:rPr lang="en-US"/>
              <a:t>This output demonstrated consistency between the base model and the real-life situation (Symptom Generation)</a:t>
            </a:r>
            <a:endParaRPr lang="en-US" sz="1600"/>
          </a:p>
          <a:p>
            <a:pPr>
              <a:lnSpc>
                <a:spcPct val="150000"/>
              </a:lnSpc>
            </a:pPr>
            <a:endParaRPr lang="en-US" sz="1600"/>
          </a:p>
        </p:txBody>
      </p:sp>
      <p:graphicFrame>
        <p:nvGraphicFramePr>
          <p:cNvPr id="12" name="Content Placeholder 4">
            <a:extLst>
              <a:ext uri="{FF2B5EF4-FFF2-40B4-BE49-F238E27FC236}">
                <a16:creationId xmlns:a16="http://schemas.microsoft.com/office/drawing/2014/main" id="{0BC2A769-42F6-02C2-5BAF-069EDBA56D45}"/>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2E5DBDA8-BE70-79D5-3C98-EA17AE2B14C5}"/>
              </a:ext>
            </a:extLst>
          </p:cNvPr>
          <p:cNvSpPr>
            <a:spLocks noGrp="1"/>
          </p:cNvSpPr>
          <p:nvPr>
            <p:ph type="sldNum" sz="quarter" idx="12"/>
          </p:nvPr>
        </p:nvSpPr>
        <p:spPr/>
        <p:txBody>
          <a:bodyPr/>
          <a:lstStyle/>
          <a:p>
            <a:fld id="{719D7796-F675-488F-AC46-C88938C80352}" type="slidenum">
              <a:rPr lang="en-US" smtClean="0"/>
              <a:t>12</a:t>
            </a:fld>
            <a:endParaRPr lang="en-US"/>
          </a:p>
        </p:txBody>
      </p:sp>
      <p:sp>
        <p:nvSpPr>
          <p:cNvPr id="4" name="TextBox 3">
            <a:extLst>
              <a:ext uri="{FF2B5EF4-FFF2-40B4-BE49-F238E27FC236}">
                <a16:creationId xmlns:a16="http://schemas.microsoft.com/office/drawing/2014/main" id="{2A7A8D0F-6D88-8058-D697-51D302385293}"/>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AS</a:t>
            </a:r>
          </a:p>
        </p:txBody>
      </p:sp>
    </p:spTree>
    <p:extLst>
      <p:ext uri="{BB962C8B-B14F-4D97-AF65-F5344CB8AC3E}">
        <p14:creationId xmlns:p14="http://schemas.microsoft.com/office/powerpoint/2010/main" val="273235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C1CA6-F90F-A1B2-A2EC-5E67D0B9D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00699-1592-121F-3FCB-333D323C016F}"/>
              </a:ext>
            </a:extLst>
          </p:cNvPr>
          <p:cNvSpPr>
            <a:spLocks noGrp="1"/>
          </p:cNvSpPr>
          <p:nvPr>
            <p:ph type="title"/>
          </p:nvPr>
        </p:nvSpPr>
        <p:spPr/>
        <p:txBody>
          <a:bodyPr/>
          <a:lstStyle/>
          <a:p>
            <a:r>
              <a:rPr lang="en-US">
                <a:solidFill>
                  <a:schemeClr val="tx1">
                    <a:lumMod val="65000"/>
                    <a:lumOff val="35000"/>
                  </a:schemeClr>
                </a:solidFill>
              </a:rPr>
              <a:t>Validation</a:t>
            </a:r>
          </a:p>
        </p:txBody>
      </p:sp>
      <p:sp>
        <p:nvSpPr>
          <p:cNvPr id="11" name="TextBox 10">
            <a:extLst>
              <a:ext uri="{FF2B5EF4-FFF2-40B4-BE49-F238E27FC236}">
                <a16:creationId xmlns:a16="http://schemas.microsoft.com/office/drawing/2014/main" id="{24E664C5-B898-3C64-5DC9-E4052E9FBE08}"/>
              </a:ext>
            </a:extLst>
          </p:cNvPr>
          <p:cNvSpPr txBox="1"/>
          <p:nvPr/>
        </p:nvSpPr>
        <p:spPr>
          <a:xfrm>
            <a:off x="1181099" y="1853158"/>
            <a:ext cx="9829801" cy="3829575"/>
          </a:xfrm>
          <a:prstGeom prst="rect">
            <a:avLst/>
          </a:prstGeom>
          <a:noFill/>
        </p:spPr>
        <p:txBody>
          <a:bodyPr wrap="square" rtlCol="0">
            <a:spAutoFit/>
          </a:bodyPr>
          <a:lstStyle/>
          <a:p>
            <a:pPr>
              <a:lnSpc>
                <a:spcPct val="150000"/>
              </a:lnSpc>
            </a:pPr>
            <a:r>
              <a:rPr lang="en-US" sz="2000" b="1"/>
              <a:t>Base Model</a:t>
            </a:r>
          </a:p>
          <a:p>
            <a:pPr>
              <a:lnSpc>
                <a:spcPct val="150000"/>
              </a:lnSpc>
            </a:pPr>
            <a:r>
              <a:rPr lang="en-US"/>
              <a:t>	Consistency confirmed </a:t>
            </a:r>
          </a:p>
          <a:p>
            <a:pPr marL="1257300" lvl="2" indent="-342900">
              <a:lnSpc>
                <a:spcPct val="150000"/>
              </a:lnSpc>
              <a:buFont typeface="Arial" panose="020B0604020202020204" pitchFamily="34" charset="0"/>
              <a:buChar char="•"/>
            </a:pPr>
            <a:r>
              <a:rPr lang="en-US"/>
              <a:t>Model ran multiple times and similar values obtained for the number of entities created and destroyed</a:t>
            </a:r>
          </a:p>
          <a:p>
            <a:pPr lvl="2">
              <a:lnSpc>
                <a:spcPct val="150000"/>
              </a:lnSpc>
            </a:pPr>
            <a:r>
              <a:rPr lang="en-US"/>
              <a:t>Degeneracy </a:t>
            </a:r>
          </a:p>
          <a:p>
            <a:pPr marL="1257300" lvl="2" indent="-342900">
              <a:lnSpc>
                <a:spcPct val="150000"/>
              </a:lnSpc>
              <a:buFont typeface="Arial" panose="020B0604020202020204" pitchFamily="34" charset="0"/>
              <a:buChar char="•"/>
            </a:pPr>
            <a:r>
              <a:rPr lang="en-US"/>
              <a:t>Slowly changing the capacities of the servers</a:t>
            </a:r>
          </a:p>
          <a:p>
            <a:pPr marL="1257300" lvl="2" indent="-342900">
              <a:lnSpc>
                <a:spcPct val="150000"/>
              </a:lnSpc>
              <a:buFont typeface="Arial" panose="020B0604020202020204" pitchFamily="34" charset="0"/>
              <a:buChar char="•"/>
            </a:pPr>
            <a:r>
              <a:rPr lang="en-US"/>
              <a:t>Reduced flowtime for the entities and a lower scheduled utilization for servers</a:t>
            </a:r>
          </a:p>
          <a:p>
            <a:pPr marL="1257300" lvl="2" indent="-342900">
              <a:lnSpc>
                <a:spcPct val="150000"/>
              </a:lnSpc>
              <a:buFont typeface="Arial" panose="020B0604020202020204" pitchFamily="34" charset="0"/>
              <a:buChar char="•"/>
            </a:pPr>
            <a:r>
              <a:rPr lang="en-US"/>
              <a:t>No absurd conditions, such as zero flow times or infinite values for queues and flow times</a:t>
            </a:r>
            <a:endParaRPr lang="en-US" sz="1600"/>
          </a:p>
        </p:txBody>
      </p:sp>
      <p:graphicFrame>
        <p:nvGraphicFramePr>
          <p:cNvPr id="12" name="Content Placeholder 4">
            <a:extLst>
              <a:ext uri="{FF2B5EF4-FFF2-40B4-BE49-F238E27FC236}">
                <a16:creationId xmlns:a16="http://schemas.microsoft.com/office/drawing/2014/main" id="{985494F9-2E79-7DCD-46D7-8556295F0532}"/>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775A18F4-52C8-FDE9-2C4F-E3A04648095F}"/>
              </a:ext>
            </a:extLst>
          </p:cNvPr>
          <p:cNvSpPr>
            <a:spLocks noGrp="1"/>
          </p:cNvSpPr>
          <p:nvPr>
            <p:ph type="sldNum" sz="quarter" idx="12"/>
          </p:nvPr>
        </p:nvSpPr>
        <p:spPr/>
        <p:txBody>
          <a:bodyPr/>
          <a:lstStyle/>
          <a:p>
            <a:fld id="{719D7796-F675-488F-AC46-C88938C80352}" type="slidenum">
              <a:rPr lang="en-US" smtClean="0"/>
              <a:t>13</a:t>
            </a:fld>
            <a:endParaRPr lang="en-US"/>
          </a:p>
        </p:txBody>
      </p:sp>
      <p:sp>
        <p:nvSpPr>
          <p:cNvPr id="4" name="TextBox 3">
            <a:extLst>
              <a:ext uri="{FF2B5EF4-FFF2-40B4-BE49-F238E27FC236}">
                <a16:creationId xmlns:a16="http://schemas.microsoft.com/office/drawing/2014/main" id="{BA03152A-88E8-36AB-A312-15E9D36958F2}"/>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AS</a:t>
            </a:r>
          </a:p>
        </p:txBody>
      </p:sp>
    </p:spTree>
    <p:extLst>
      <p:ext uri="{BB962C8B-B14F-4D97-AF65-F5344CB8AC3E}">
        <p14:creationId xmlns:p14="http://schemas.microsoft.com/office/powerpoint/2010/main" val="3515158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2506D-1B33-FAAB-76B3-8CAD6C552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3EEB1-63D1-6673-FC18-CB6C4C15717A}"/>
              </a:ext>
            </a:extLst>
          </p:cNvPr>
          <p:cNvSpPr>
            <a:spLocks noGrp="1"/>
          </p:cNvSpPr>
          <p:nvPr>
            <p:ph type="title"/>
          </p:nvPr>
        </p:nvSpPr>
        <p:spPr/>
        <p:txBody>
          <a:bodyPr/>
          <a:lstStyle/>
          <a:p>
            <a:r>
              <a:rPr lang="en-US">
                <a:solidFill>
                  <a:schemeClr val="tx1">
                    <a:lumMod val="65000"/>
                    <a:lumOff val="35000"/>
                  </a:schemeClr>
                </a:solidFill>
              </a:rPr>
              <a:t>Verification</a:t>
            </a:r>
          </a:p>
        </p:txBody>
      </p:sp>
      <p:sp>
        <p:nvSpPr>
          <p:cNvPr id="11" name="TextBox 10">
            <a:extLst>
              <a:ext uri="{FF2B5EF4-FFF2-40B4-BE49-F238E27FC236}">
                <a16:creationId xmlns:a16="http://schemas.microsoft.com/office/drawing/2014/main" id="{A6726D09-473D-CA63-E80A-1ACB4BF65441}"/>
              </a:ext>
            </a:extLst>
          </p:cNvPr>
          <p:cNvSpPr txBox="1"/>
          <p:nvPr/>
        </p:nvSpPr>
        <p:spPr>
          <a:xfrm>
            <a:off x="1181100" y="1853158"/>
            <a:ext cx="9922764" cy="3270254"/>
          </a:xfrm>
          <a:prstGeom prst="rect">
            <a:avLst/>
          </a:prstGeom>
          <a:noFill/>
        </p:spPr>
        <p:txBody>
          <a:bodyPr wrap="square" rtlCol="0">
            <a:spAutoFit/>
          </a:bodyPr>
          <a:lstStyle/>
          <a:p>
            <a:pPr>
              <a:lnSpc>
                <a:spcPct val="150000"/>
              </a:lnSpc>
            </a:pPr>
            <a:r>
              <a:rPr lang="en-US" sz="2000" b="1"/>
              <a:t>Logic Check</a:t>
            </a:r>
          </a:p>
          <a:p>
            <a:pPr marL="800100" lvl="1" indent="-342900">
              <a:lnSpc>
                <a:spcPct val="150000"/>
              </a:lnSpc>
              <a:buFont typeface="Arial" panose="020B0604020202020204" pitchFamily="34" charset="0"/>
              <a:buChar char="•"/>
            </a:pPr>
            <a:r>
              <a:rPr lang="en-US" sz="2000"/>
              <a:t>Model Trace</a:t>
            </a:r>
          </a:p>
          <a:p>
            <a:pPr marL="800100" lvl="1" indent="-342900">
              <a:lnSpc>
                <a:spcPct val="150000"/>
              </a:lnSpc>
              <a:buFont typeface="Arial" panose="020B0604020202020204" pitchFamily="34" charset="0"/>
              <a:buChar char="•"/>
            </a:pPr>
            <a:r>
              <a:rPr lang="en-US" sz="2000"/>
              <a:t>Building incrementally</a:t>
            </a:r>
          </a:p>
          <a:p>
            <a:pPr marL="800100" lvl="1" indent="-342900">
              <a:lnSpc>
                <a:spcPct val="150000"/>
              </a:lnSpc>
              <a:buFont typeface="Arial" panose="020B0604020202020204" pitchFamily="34" charset="0"/>
              <a:buChar char="•"/>
            </a:pPr>
            <a:r>
              <a:rPr lang="en-US" sz="2000"/>
              <a:t>Walking through to visually confirm entity movement</a:t>
            </a:r>
          </a:p>
          <a:p>
            <a:pPr marL="1257300" lvl="2" indent="-342900">
              <a:lnSpc>
                <a:spcPct val="150000"/>
              </a:lnSpc>
              <a:buFont typeface="Courier New" panose="02070309020205020404" pitchFamily="49" charset="0"/>
              <a:buChar char="o"/>
            </a:pPr>
            <a:r>
              <a:rPr lang="en-US" sz="2000"/>
              <a:t>Correct order, no entities teleporting or walking in free space</a:t>
            </a:r>
          </a:p>
          <a:p>
            <a:pPr marL="800100" lvl="1" indent="-342900">
              <a:lnSpc>
                <a:spcPct val="150000"/>
              </a:lnSpc>
              <a:buFont typeface="Arial" panose="020B0604020202020204" pitchFamily="34" charset="0"/>
              <a:buChar char="•"/>
            </a:pPr>
            <a:r>
              <a:rPr lang="en-US" sz="2000"/>
              <a:t>Unit checks</a:t>
            </a:r>
          </a:p>
          <a:p>
            <a:pPr marL="800100" lvl="1" indent="-342900">
              <a:lnSpc>
                <a:spcPct val="150000"/>
              </a:lnSpc>
              <a:buFont typeface="Arial" panose="020B0604020202020204" pitchFamily="34" charset="0"/>
              <a:buChar char="•"/>
            </a:pPr>
            <a:endParaRPr lang="en-US" sz="2000"/>
          </a:p>
        </p:txBody>
      </p:sp>
      <p:graphicFrame>
        <p:nvGraphicFramePr>
          <p:cNvPr id="12" name="Content Placeholder 4">
            <a:extLst>
              <a:ext uri="{FF2B5EF4-FFF2-40B4-BE49-F238E27FC236}">
                <a16:creationId xmlns:a16="http://schemas.microsoft.com/office/drawing/2014/main" id="{F87C0B97-AA82-41AC-DEA0-994F3545EC66}"/>
              </a:ext>
            </a:extLst>
          </p:cNvPr>
          <p:cNvGraphicFramePr>
            <a:graphicFrameLocks noGrp="1"/>
          </p:cNvGraphicFramePr>
          <p:nvPr>
            <p:ph idx="1"/>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Slide Number Placeholder 12">
            <a:extLst>
              <a:ext uri="{FF2B5EF4-FFF2-40B4-BE49-F238E27FC236}">
                <a16:creationId xmlns:a16="http://schemas.microsoft.com/office/drawing/2014/main" id="{FC6F6B64-0931-E13F-FC1C-99F558D74D31}"/>
              </a:ext>
            </a:extLst>
          </p:cNvPr>
          <p:cNvSpPr>
            <a:spLocks noGrp="1"/>
          </p:cNvSpPr>
          <p:nvPr>
            <p:ph type="sldNum" sz="quarter" idx="12"/>
          </p:nvPr>
        </p:nvSpPr>
        <p:spPr/>
        <p:txBody>
          <a:bodyPr/>
          <a:lstStyle/>
          <a:p>
            <a:fld id="{719D7796-F675-488F-AC46-C88938C80352}" type="slidenum">
              <a:rPr lang="en-US" smtClean="0"/>
              <a:t>14</a:t>
            </a:fld>
            <a:endParaRPr lang="en-US"/>
          </a:p>
        </p:txBody>
      </p:sp>
      <p:sp>
        <p:nvSpPr>
          <p:cNvPr id="4" name="TextBox 3">
            <a:extLst>
              <a:ext uri="{FF2B5EF4-FFF2-40B4-BE49-F238E27FC236}">
                <a16:creationId xmlns:a16="http://schemas.microsoft.com/office/drawing/2014/main" id="{943109B8-C962-DFB7-1336-8938C6E74234}"/>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AS</a:t>
            </a:r>
          </a:p>
        </p:txBody>
      </p:sp>
    </p:spTree>
    <p:extLst>
      <p:ext uri="{BB962C8B-B14F-4D97-AF65-F5344CB8AC3E}">
        <p14:creationId xmlns:p14="http://schemas.microsoft.com/office/powerpoint/2010/main" val="982405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DCBB-AF8E-6212-93F9-2ACAA331E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474A2-AF7E-0F4A-8B9E-7FE807D7ADD5}"/>
              </a:ext>
            </a:extLst>
          </p:cNvPr>
          <p:cNvSpPr>
            <a:spLocks noGrp="1"/>
          </p:cNvSpPr>
          <p:nvPr>
            <p:ph type="title"/>
          </p:nvPr>
        </p:nvSpPr>
        <p:spPr/>
        <p:txBody>
          <a:bodyPr/>
          <a:lstStyle/>
          <a:p>
            <a:r>
              <a:rPr lang="en-US">
                <a:solidFill>
                  <a:schemeClr val="tx1">
                    <a:lumMod val="65000"/>
                    <a:lumOff val="35000"/>
                  </a:schemeClr>
                </a:solidFill>
              </a:rPr>
              <a:t>Experiments</a:t>
            </a:r>
          </a:p>
        </p:txBody>
      </p:sp>
      <p:sp>
        <p:nvSpPr>
          <p:cNvPr id="11" name="TextBox 10">
            <a:extLst>
              <a:ext uri="{FF2B5EF4-FFF2-40B4-BE49-F238E27FC236}">
                <a16:creationId xmlns:a16="http://schemas.microsoft.com/office/drawing/2014/main" id="{8A5B7889-1D8E-5EAD-1AF9-FECE9F29F845}"/>
              </a:ext>
            </a:extLst>
          </p:cNvPr>
          <p:cNvSpPr txBox="1"/>
          <p:nvPr/>
        </p:nvSpPr>
        <p:spPr>
          <a:xfrm>
            <a:off x="1181100" y="2085473"/>
            <a:ext cx="9922764" cy="280858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a:t>No warm up period </a:t>
            </a:r>
          </a:p>
          <a:p>
            <a:pPr marL="285750" indent="-285750">
              <a:lnSpc>
                <a:spcPct val="150000"/>
              </a:lnSpc>
              <a:buFont typeface="Arial" panose="020B0604020202020204" pitchFamily="34" charset="0"/>
              <a:buChar char="•"/>
            </a:pPr>
            <a:r>
              <a:rPr lang="en-US" sz="2000"/>
              <a:t>10 replications were run at a run length of 17 hours</a:t>
            </a:r>
          </a:p>
          <a:p>
            <a:pPr marL="285750" indent="-285750">
              <a:lnSpc>
                <a:spcPct val="150000"/>
              </a:lnSpc>
              <a:buFont typeface="Arial" panose="020B0604020202020204" pitchFamily="34" charset="0"/>
              <a:buChar char="•"/>
            </a:pPr>
            <a:r>
              <a:rPr lang="en-US" sz="2000"/>
              <a:t>The team added capacity controls for each server using real properties</a:t>
            </a:r>
          </a:p>
          <a:p>
            <a:pPr marL="742950" lvl="1" indent="-285750">
              <a:lnSpc>
                <a:spcPct val="150000"/>
              </a:lnSpc>
              <a:buFont typeface="Courier New" panose="02070309020205020404" pitchFamily="49" charset="0"/>
              <a:buChar char="o"/>
            </a:pPr>
            <a:r>
              <a:rPr lang="en-US" sz="2000"/>
              <a:t>This allows multiple scenarios to be run with varying capacities for each server</a:t>
            </a:r>
          </a:p>
          <a:p>
            <a:pPr marL="285750" indent="-285750">
              <a:lnSpc>
                <a:spcPct val="150000"/>
              </a:lnSpc>
              <a:buFont typeface="Arial" panose="020B0604020202020204" pitchFamily="34" charset="0"/>
              <a:buChar char="•"/>
            </a:pPr>
            <a:r>
              <a:rPr lang="en-US" sz="2000"/>
              <a:t>The specific data used for statistical analysis was cycle times</a:t>
            </a:r>
            <a:endParaRPr lang="en-US" sz="2400"/>
          </a:p>
        </p:txBody>
      </p:sp>
      <p:graphicFrame>
        <p:nvGraphicFramePr>
          <p:cNvPr id="7" name="Content Placeholder 4">
            <a:extLst>
              <a:ext uri="{FF2B5EF4-FFF2-40B4-BE49-F238E27FC236}">
                <a16:creationId xmlns:a16="http://schemas.microsoft.com/office/drawing/2014/main" id="{DC9684C4-F86E-E0BE-1B43-794F320D4A53}"/>
              </a:ext>
            </a:extLst>
          </p:cNvPr>
          <p:cNvGraphicFramePr>
            <a:graphicFrameLocks/>
          </p:cNvGraphicFramePr>
          <p:nvPr>
            <p:extLst>
              <p:ext uri="{D42A27DB-BD31-4B8C-83A1-F6EECF244321}">
                <p14:modId xmlns:p14="http://schemas.microsoft.com/office/powerpoint/2010/main" val="1537010020"/>
              </p:ext>
            </p:extLst>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864A7B7E-8B99-8460-471A-071F0981264A}"/>
              </a:ext>
            </a:extLst>
          </p:cNvPr>
          <p:cNvSpPr>
            <a:spLocks noGrp="1"/>
          </p:cNvSpPr>
          <p:nvPr>
            <p:ph type="sldNum" sz="quarter" idx="12"/>
          </p:nvPr>
        </p:nvSpPr>
        <p:spPr/>
        <p:txBody>
          <a:bodyPr/>
          <a:lstStyle/>
          <a:p>
            <a:fld id="{719D7796-F675-488F-AC46-C88938C80352}" type="slidenum">
              <a:rPr lang="en-US" smtClean="0"/>
              <a:t>15</a:t>
            </a:fld>
            <a:endParaRPr lang="en-US"/>
          </a:p>
        </p:txBody>
      </p:sp>
      <p:sp>
        <p:nvSpPr>
          <p:cNvPr id="12" name="TextBox 11">
            <a:extLst>
              <a:ext uri="{FF2B5EF4-FFF2-40B4-BE49-F238E27FC236}">
                <a16:creationId xmlns:a16="http://schemas.microsoft.com/office/drawing/2014/main" id="{BF5C721F-5E9F-A787-2EFF-E4ADB44DB485}"/>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AS</a:t>
            </a:r>
          </a:p>
        </p:txBody>
      </p:sp>
    </p:spTree>
    <p:extLst>
      <p:ext uri="{BB962C8B-B14F-4D97-AF65-F5344CB8AC3E}">
        <p14:creationId xmlns:p14="http://schemas.microsoft.com/office/powerpoint/2010/main" val="1106606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4D82-7293-69F3-7F07-2AA89ACD2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F1428-DF44-6A8C-86D2-9C9104F6B139}"/>
              </a:ext>
            </a:extLst>
          </p:cNvPr>
          <p:cNvSpPr>
            <a:spLocks noGrp="1"/>
          </p:cNvSpPr>
          <p:nvPr>
            <p:ph type="title"/>
          </p:nvPr>
        </p:nvSpPr>
        <p:spPr/>
        <p:txBody>
          <a:bodyPr/>
          <a:lstStyle/>
          <a:p>
            <a:r>
              <a:rPr lang="en-US">
                <a:solidFill>
                  <a:schemeClr val="tx1">
                    <a:lumMod val="65000"/>
                    <a:lumOff val="35000"/>
                  </a:schemeClr>
                </a:solidFill>
              </a:rPr>
              <a:t>Experiments</a:t>
            </a:r>
          </a:p>
        </p:txBody>
      </p:sp>
      <p:graphicFrame>
        <p:nvGraphicFramePr>
          <p:cNvPr id="7" name="Content Placeholder 4">
            <a:extLst>
              <a:ext uri="{FF2B5EF4-FFF2-40B4-BE49-F238E27FC236}">
                <a16:creationId xmlns:a16="http://schemas.microsoft.com/office/drawing/2014/main" id="{4795BAE5-A2C4-CCFD-AD59-D0A1726C2E6F}"/>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6AA9C944-F09D-D44B-9A7C-69434726FFD8}"/>
              </a:ext>
            </a:extLst>
          </p:cNvPr>
          <p:cNvSpPr>
            <a:spLocks noGrp="1"/>
          </p:cNvSpPr>
          <p:nvPr>
            <p:ph type="sldNum" sz="quarter" idx="12"/>
          </p:nvPr>
        </p:nvSpPr>
        <p:spPr/>
        <p:txBody>
          <a:bodyPr/>
          <a:lstStyle/>
          <a:p>
            <a:fld id="{719D7796-F675-488F-AC46-C88938C80352}" type="slidenum">
              <a:rPr lang="en-US" smtClean="0"/>
              <a:t>16</a:t>
            </a:fld>
            <a:endParaRPr lang="en-US"/>
          </a:p>
        </p:txBody>
      </p:sp>
      <p:sp>
        <p:nvSpPr>
          <p:cNvPr id="12" name="TextBox 11">
            <a:extLst>
              <a:ext uri="{FF2B5EF4-FFF2-40B4-BE49-F238E27FC236}">
                <a16:creationId xmlns:a16="http://schemas.microsoft.com/office/drawing/2014/main" id="{185FA7CA-E38C-39B0-F8E2-16EE5CC04B83}"/>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AS</a:t>
            </a:r>
          </a:p>
        </p:txBody>
      </p:sp>
      <p:pic>
        <p:nvPicPr>
          <p:cNvPr id="3" name="Picture 2">
            <a:extLst>
              <a:ext uri="{FF2B5EF4-FFF2-40B4-BE49-F238E27FC236}">
                <a16:creationId xmlns:a16="http://schemas.microsoft.com/office/drawing/2014/main" id="{7617F228-6D66-0CF4-8238-AE47A57A76CF}"/>
              </a:ext>
            </a:extLst>
          </p:cNvPr>
          <p:cNvPicPr>
            <a:picLocks noChangeAspect="1"/>
          </p:cNvPicPr>
          <p:nvPr/>
        </p:nvPicPr>
        <p:blipFill>
          <a:blip r:embed="rId8"/>
          <a:stretch>
            <a:fillRect/>
          </a:stretch>
        </p:blipFill>
        <p:spPr>
          <a:xfrm>
            <a:off x="3863223" y="1955455"/>
            <a:ext cx="4372590" cy="1211681"/>
          </a:xfrm>
          <a:prstGeom prst="rect">
            <a:avLst/>
          </a:prstGeom>
        </p:spPr>
      </p:pic>
      <p:pic>
        <p:nvPicPr>
          <p:cNvPr id="4" name="Picture 3">
            <a:extLst>
              <a:ext uri="{FF2B5EF4-FFF2-40B4-BE49-F238E27FC236}">
                <a16:creationId xmlns:a16="http://schemas.microsoft.com/office/drawing/2014/main" id="{D0AF6A54-57EA-EAB3-66C2-16BFCBA6FC14}"/>
              </a:ext>
            </a:extLst>
          </p:cNvPr>
          <p:cNvPicPr>
            <a:picLocks noChangeAspect="1"/>
          </p:cNvPicPr>
          <p:nvPr/>
        </p:nvPicPr>
        <p:blipFill>
          <a:blip r:embed="rId9"/>
          <a:stretch>
            <a:fillRect/>
          </a:stretch>
        </p:blipFill>
        <p:spPr>
          <a:xfrm>
            <a:off x="3863223" y="3147773"/>
            <a:ext cx="4372590" cy="1250407"/>
          </a:xfrm>
          <a:prstGeom prst="rect">
            <a:avLst/>
          </a:prstGeom>
        </p:spPr>
      </p:pic>
      <p:pic>
        <p:nvPicPr>
          <p:cNvPr id="5" name="Picture 4">
            <a:extLst>
              <a:ext uri="{FF2B5EF4-FFF2-40B4-BE49-F238E27FC236}">
                <a16:creationId xmlns:a16="http://schemas.microsoft.com/office/drawing/2014/main" id="{4CFDD93C-092D-4E6A-4440-A53B5C15462B}"/>
              </a:ext>
            </a:extLst>
          </p:cNvPr>
          <p:cNvPicPr>
            <a:picLocks noChangeAspect="1"/>
          </p:cNvPicPr>
          <p:nvPr/>
        </p:nvPicPr>
        <p:blipFill>
          <a:blip r:embed="rId10"/>
          <a:stretch>
            <a:fillRect/>
          </a:stretch>
        </p:blipFill>
        <p:spPr>
          <a:xfrm>
            <a:off x="3863223" y="4398180"/>
            <a:ext cx="4372590" cy="1221866"/>
          </a:xfrm>
          <a:prstGeom prst="rect">
            <a:avLst/>
          </a:prstGeom>
        </p:spPr>
      </p:pic>
      <p:sp>
        <p:nvSpPr>
          <p:cNvPr id="6" name="TextBox 5">
            <a:extLst>
              <a:ext uri="{FF2B5EF4-FFF2-40B4-BE49-F238E27FC236}">
                <a16:creationId xmlns:a16="http://schemas.microsoft.com/office/drawing/2014/main" id="{0AA455BD-67E4-E718-56D4-1AA0A2BD7BDB}"/>
              </a:ext>
            </a:extLst>
          </p:cNvPr>
          <p:cNvSpPr txBox="1"/>
          <p:nvPr/>
        </p:nvSpPr>
        <p:spPr>
          <a:xfrm>
            <a:off x="1088136" y="1923898"/>
            <a:ext cx="2775087" cy="3693319"/>
          </a:xfrm>
          <a:prstGeom prst="rect">
            <a:avLst/>
          </a:prstGeom>
          <a:noFill/>
        </p:spPr>
        <p:txBody>
          <a:bodyPr wrap="square" rtlCol="0">
            <a:spAutoFit/>
          </a:bodyPr>
          <a:lstStyle/>
          <a:p>
            <a:pPr marL="285750" indent="-285750">
              <a:buFont typeface="Arial" panose="020B0604020202020204" pitchFamily="34" charset="0"/>
              <a:buChar char="•"/>
            </a:pPr>
            <a:r>
              <a:rPr lang="en-US"/>
              <a:t>Base model</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Capacity alternative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Constant arrival alternative</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4225651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24452-ED59-54F7-A8CE-5A9D5F3E2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B6820-90D5-91B9-A343-6A6E361C9745}"/>
              </a:ext>
            </a:extLst>
          </p:cNvPr>
          <p:cNvSpPr>
            <a:spLocks noGrp="1"/>
          </p:cNvSpPr>
          <p:nvPr>
            <p:ph type="title"/>
          </p:nvPr>
        </p:nvSpPr>
        <p:spPr/>
        <p:txBody>
          <a:bodyPr/>
          <a:lstStyle/>
          <a:p>
            <a:r>
              <a:rPr lang="en-US">
                <a:solidFill>
                  <a:schemeClr val="tx1">
                    <a:lumMod val="65000"/>
                    <a:lumOff val="35000"/>
                  </a:schemeClr>
                </a:solidFill>
              </a:rPr>
              <a:t>Statistical Results</a:t>
            </a:r>
          </a:p>
        </p:txBody>
      </p:sp>
      <p:graphicFrame>
        <p:nvGraphicFramePr>
          <p:cNvPr id="7" name="Content Placeholder 4">
            <a:extLst>
              <a:ext uri="{FF2B5EF4-FFF2-40B4-BE49-F238E27FC236}">
                <a16:creationId xmlns:a16="http://schemas.microsoft.com/office/drawing/2014/main" id="{4D00FD65-3FE7-6088-FDD6-7A11A57732DC}"/>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EB0F1A84-CA21-3F08-8890-0AFF93332E2A}"/>
              </a:ext>
            </a:extLst>
          </p:cNvPr>
          <p:cNvSpPr>
            <a:spLocks noGrp="1"/>
          </p:cNvSpPr>
          <p:nvPr>
            <p:ph type="sldNum" sz="quarter" idx="12"/>
          </p:nvPr>
        </p:nvSpPr>
        <p:spPr/>
        <p:txBody>
          <a:bodyPr/>
          <a:lstStyle/>
          <a:p>
            <a:fld id="{719D7796-F675-488F-AC46-C88938C80352}" type="slidenum">
              <a:rPr lang="en-US" smtClean="0"/>
              <a:t>17</a:t>
            </a:fld>
            <a:endParaRPr lang="en-US"/>
          </a:p>
        </p:txBody>
      </p:sp>
      <p:sp>
        <p:nvSpPr>
          <p:cNvPr id="12" name="TextBox 11">
            <a:extLst>
              <a:ext uri="{FF2B5EF4-FFF2-40B4-BE49-F238E27FC236}">
                <a16:creationId xmlns:a16="http://schemas.microsoft.com/office/drawing/2014/main" id="{71DF9FE9-F998-285F-A44B-FD05A129A3F0}"/>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pic>
        <p:nvPicPr>
          <p:cNvPr id="3" name="Picture 2">
            <a:extLst>
              <a:ext uri="{FF2B5EF4-FFF2-40B4-BE49-F238E27FC236}">
                <a16:creationId xmlns:a16="http://schemas.microsoft.com/office/drawing/2014/main" id="{D961D430-C417-CE55-B5FC-C3C1C18021BA}"/>
              </a:ext>
            </a:extLst>
          </p:cNvPr>
          <p:cNvPicPr>
            <a:picLocks noChangeAspect="1"/>
          </p:cNvPicPr>
          <p:nvPr/>
        </p:nvPicPr>
        <p:blipFill>
          <a:blip r:embed="rId8"/>
          <a:stretch>
            <a:fillRect/>
          </a:stretch>
        </p:blipFill>
        <p:spPr>
          <a:xfrm>
            <a:off x="2571915" y="1625600"/>
            <a:ext cx="7048169" cy="4142155"/>
          </a:xfrm>
          <a:prstGeom prst="rect">
            <a:avLst/>
          </a:prstGeom>
        </p:spPr>
      </p:pic>
    </p:spTree>
    <p:extLst>
      <p:ext uri="{BB962C8B-B14F-4D97-AF65-F5344CB8AC3E}">
        <p14:creationId xmlns:p14="http://schemas.microsoft.com/office/powerpoint/2010/main" val="2328887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1941-69DB-C504-614E-A77C1E204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88C56-1AC4-2B42-3DD7-A51A55CBB1D0}"/>
              </a:ext>
            </a:extLst>
          </p:cNvPr>
          <p:cNvSpPr>
            <a:spLocks noGrp="1"/>
          </p:cNvSpPr>
          <p:nvPr>
            <p:ph type="title"/>
          </p:nvPr>
        </p:nvSpPr>
        <p:spPr/>
        <p:txBody>
          <a:bodyPr/>
          <a:lstStyle/>
          <a:p>
            <a:r>
              <a:rPr lang="en-US">
                <a:solidFill>
                  <a:schemeClr val="tx1">
                    <a:lumMod val="65000"/>
                    <a:lumOff val="35000"/>
                  </a:schemeClr>
                </a:solidFill>
              </a:rPr>
              <a:t>Statistical Results</a:t>
            </a:r>
          </a:p>
        </p:txBody>
      </p:sp>
      <p:graphicFrame>
        <p:nvGraphicFramePr>
          <p:cNvPr id="7" name="Content Placeholder 4">
            <a:extLst>
              <a:ext uri="{FF2B5EF4-FFF2-40B4-BE49-F238E27FC236}">
                <a16:creationId xmlns:a16="http://schemas.microsoft.com/office/drawing/2014/main" id="{B1B09E0F-9878-72F4-15D9-2DD6285E6DE8}"/>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C9C85692-402B-C489-4A13-1059B3A26AE0}"/>
              </a:ext>
            </a:extLst>
          </p:cNvPr>
          <p:cNvSpPr>
            <a:spLocks noGrp="1"/>
          </p:cNvSpPr>
          <p:nvPr>
            <p:ph type="sldNum" sz="quarter" idx="12"/>
          </p:nvPr>
        </p:nvSpPr>
        <p:spPr/>
        <p:txBody>
          <a:bodyPr/>
          <a:lstStyle/>
          <a:p>
            <a:fld id="{719D7796-F675-488F-AC46-C88938C80352}" type="slidenum">
              <a:rPr lang="en-US" smtClean="0"/>
              <a:t>18</a:t>
            </a:fld>
            <a:endParaRPr lang="en-US"/>
          </a:p>
        </p:txBody>
      </p:sp>
      <p:sp>
        <p:nvSpPr>
          <p:cNvPr id="12" name="TextBox 11">
            <a:extLst>
              <a:ext uri="{FF2B5EF4-FFF2-40B4-BE49-F238E27FC236}">
                <a16:creationId xmlns:a16="http://schemas.microsoft.com/office/drawing/2014/main" id="{A1FADF03-CC24-1633-CDDD-362E0C5C110F}"/>
              </a:ext>
            </a:extLst>
          </p:cNvPr>
          <p:cNvSpPr txBox="1"/>
          <p:nvPr/>
        </p:nvSpPr>
        <p:spPr>
          <a:xfrm>
            <a:off x="11239574" y="6441445"/>
            <a:ext cx="42752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pic>
        <p:nvPicPr>
          <p:cNvPr id="4" name="Picture 3">
            <a:extLst>
              <a:ext uri="{FF2B5EF4-FFF2-40B4-BE49-F238E27FC236}">
                <a16:creationId xmlns:a16="http://schemas.microsoft.com/office/drawing/2014/main" id="{6F9C51C2-9178-840B-A7CD-738B861DC917}"/>
              </a:ext>
            </a:extLst>
          </p:cNvPr>
          <p:cNvPicPr>
            <a:picLocks noChangeAspect="1"/>
          </p:cNvPicPr>
          <p:nvPr/>
        </p:nvPicPr>
        <p:blipFill>
          <a:blip r:embed="rId8"/>
          <a:stretch>
            <a:fillRect/>
          </a:stretch>
        </p:blipFill>
        <p:spPr>
          <a:xfrm>
            <a:off x="2035447" y="1737359"/>
            <a:ext cx="8121106" cy="3882687"/>
          </a:xfrm>
          <a:prstGeom prst="rect">
            <a:avLst/>
          </a:prstGeom>
        </p:spPr>
      </p:pic>
    </p:spTree>
    <p:extLst>
      <p:ext uri="{BB962C8B-B14F-4D97-AF65-F5344CB8AC3E}">
        <p14:creationId xmlns:p14="http://schemas.microsoft.com/office/powerpoint/2010/main" val="193879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2B27-275C-1048-F5EF-45AF0167D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07C2F-5D28-DCF9-C6C5-02F0297F0ED8}"/>
              </a:ext>
            </a:extLst>
          </p:cNvPr>
          <p:cNvSpPr>
            <a:spLocks noGrp="1"/>
          </p:cNvSpPr>
          <p:nvPr>
            <p:ph type="title"/>
          </p:nvPr>
        </p:nvSpPr>
        <p:spPr/>
        <p:txBody>
          <a:bodyPr/>
          <a:lstStyle/>
          <a:p>
            <a:r>
              <a:rPr lang="en-US">
                <a:solidFill>
                  <a:schemeClr val="tx1">
                    <a:lumMod val="65000"/>
                    <a:lumOff val="35000"/>
                  </a:schemeClr>
                </a:solidFill>
              </a:rPr>
              <a:t>Alternative Statistics</a:t>
            </a:r>
          </a:p>
        </p:txBody>
      </p:sp>
      <p:graphicFrame>
        <p:nvGraphicFramePr>
          <p:cNvPr id="7" name="Content Placeholder 4">
            <a:extLst>
              <a:ext uri="{FF2B5EF4-FFF2-40B4-BE49-F238E27FC236}">
                <a16:creationId xmlns:a16="http://schemas.microsoft.com/office/drawing/2014/main" id="{FAA4E343-FCC5-06CD-F75C-F0AE80734BC2}"/>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F685C162-0E72-0FA3-4E64-B7031C3F540B}"/>
              </a:ext>
            </a:extLst>
          </p:cNvPr>
          <p:cNvSpPr>
            <a:spLocks noGrp="1"/>
          </p:cNvSpPr>
          <p:nvPr>
            <p:ph type="sldNum" sz="quarter" idx="12"/>
          </p:nvPr>
        </p:nvSpPr>
        <p:spPr/>
        <p:txBody>
          <a:bodyPr/>
          <a:lstStyle/>
          <a:p>
            <a:fld id="{719D7796-F675-488F-AC46-C88938C80352}" type="slidenum">
              <a:rPr lang="en-US" smtClean="0"/>
              <a:t>19</a:t>
            </a:fld>
            <a:endParaRPr lang="en-US"/>
          </a:p>
        </p:txBody>
      </p:sp>
      <p:sp>
        <p:nvSpPr>
          <p:cNvPr id="12" name="TextBox 11">
            <a:extLst>
              <a:ext uri="{FF2B5EF4-FFF2-40B4-BE49-F238E27FC236}">
                <a16:creationId xmlns:a16="http://schemas.microsoft.com/office/drawing/2014/main" id="{0485D8BD-95A5-DA7C-ADD6-C1340899E970}"/>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pic>
        <p:nvPicPr>
          <p:cNvPr id="3" name="Picture 2">
            <a:extLst>
              <a:ext uri="{FF2B5EF4-FFF2-40B4-BE49-F238E27FC236}">
                <a16:creationId xmlns:a16="http://schemas.microsoft.com/office/drawing/2014/main" id="{AD0AFB2D-EBFA-092D-B41B-72A9401AD8DB}"/>
              </a:ext>
            </a:extLst>
          </p:cNvPr>
          <p:cNvPicPr>
            <a:picLocks noChangeAspect="1"/>
          </p:cNvPicPr>
          <p:nvPr/>
        </p:nvPicPr>
        <p:blipFill>
          <a:blip r:embed="rId8"/>
          <a:stretch>
            <a:fillRect/>
          </a:stretch>
        </p:blipFill>
        <p:spPr>
          <a:xfrm>
            <a:off x="915189" y="2129257"/>
            <a:ext cx="10361622" cy="3592030"/>
          </a:xfrm>
          <a:prstGeom prst="rect">
            <a:avLst/>
          </a:prstGeom>
        </p:spPr>
      </p:pic>
    </p:spTree>
    <p:extLst>
      <p:ext uri="{BB962C8B-B14F-4D97-AF65-F5344CB8AC3E}">
        <p14:creationId xmlns:p14="http://schemas.microsoft.com/office/powerpoint/2010/main" val="2741387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555D-C4C1-F205-32F1-554AB53EC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0173F-F922-1371-3060-FDD086F415FE}"/>
              </a:ext>
            </a:extLst>
          </p:cNvPr>
          <p:cNvSpPr>
            <a:spLocks noGrp="1"/>
          </p:cNvSpPr>
          <p:nvPr>
            <p:ph type="title"/>
          </p:nvPr>
        </p:nvSpPr>
        <p:spPr/>
        <p:txBody>
          <a:bodyPr/>
          <a:lstStyle/>
          <a:p>
            <a:r>
              <a:rPr lang="en-US">
                <a:solidFill>
                  <a:schemeClr val="tx1">
                    <a:lumMod val="65000"/>
                    <a:lumOff val="35000"/>
                  </a:schemeClr>
                </a:solidFill>
              </a:rPr>
              <a:t>Alternative Statistics</a:t>
            </a:r>
          </a:p>
        </p:txBody>
      </p:sp>
      <p:sp>
        <p:nvSpPr>
          <p:cNvPr id="11" name="TextBox 10">
            <a:extLst>
              <a:ext uri="{FF2B5EF4-FFF2-40B4-BE49-F238E27FC236}">
                <a16:creationId xmlns:a16="http://schemas.microsoft.com/office/drawing/2014/main" id="{4F79648F-CE91-30EF-93CF-B0FDF297577D}"/>
              </a:ext>
            </a:extLst>
          </p:cNvPr>
          <p:cNvSpPr txBox="1"/>
          <p:nvPr/>
        </p:nvSpPr>
        <p:spPr>
          <a:xfrm>
            <a:off x="1181100" y="1737359"/>
            <a:ext cx="9922764" cy="8749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The next steps were to find the standard error</a:t>
            </a:r>
          </a:p>
          <a:p>
            <a:pPr marL="742950" lvl="1" indent="-285750">
              <a:lnSpc>
                <a:spcPct val="150000"/>
              </a:lnSpc>
              <a:buFont typeface="Courier New" panose="02070309020205020404" pitchFamily="49" charset="0"/>
              <a:buChar char="o"/>
            </a:pPr>
            <a:r>
              <a:rPr lang="en-US"/>
              <a:t>(Standard deviation divided by the square root of number of replications) </a:t>
            </a:r>
            <a:endParaRPr lang="en-US" sz="2000"/>
          </a:p>
        </p:txBody>
      </p:sp>
      <p:graphicFrame>
        <p:nvGraphicFramePr>
          <p:cNvPr id="7" name="Content Placeholder 4">
            <a:extLst>
              <a:ext uri="{FF2B5EF4-FFF2-40B4-BE49-F238E27FC236}">
                <a16:creationId xmlns:a16="http://schemas.microsoft.com/office/drawing/2014/main" id="{6D01BAA6-D805-A34E-CD6D-4F56CE47E42C}"/>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EC58A841-207A-47DF-563C-51234483A64A}"/>
              </a:ext>
            </a:extLst>
          </p:cNvPr>
          <p:cNvSpPr>
            <a:spLocks noGrp="1"/>
          </p:cNvSpPr>
          <p:nvPr>
            <p:ph type="sldNum" sz="quarter" idx="12"/>
          </p:nvPr>
        </p:nvSpPr>
        <p:spPr/>
        <p:txBody>
          <a:bodyPr/>
          <a:lstStyle/>
          <a:p>
            <a:fld id="{719D7796-F675-488F-AC46-C88938C80352}" type="slidenum">
              <a:rPr lang="en-US" smtClean="0"/>
              <a:t>20</a:t>
            </a:fld>
            <a:endParaRPr lang="en-US"/>
          </a:p>
        </p:txBody>
      </p:sp>
      <p:sp>
        <p:nvSpPr>
          <p:cNvPr id="12" name="TextBox 11">
            <a:extLst>
              <a:ext uri="{FF2B5EF4-FFF2-40B4-BE49-F238E27FC236}">
                <a16:creationId xmlns:a16="http://schemas.microsoft.com/office/drawing/2014/main" id="{5DCC77FA-ACD1-CAC8-0F95-BCD9669954B1}"/>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RS</a:t>
            </a:r>
          </a:p>
        </p:txBody>
      </p:sp>
      <p:pic>
        <p:nvPicPr>
          <p:cNvPr id="3" name="Picture 2">
            <a:extLst>
              <a:ext uri="{FF2B5EF4-FFF2-40B4-BE49-F238E27FC236}">
                <a16:creationId xmlns:a16="http://schemas.microsoft.com/office/drawing/2014/main" id="{0CE8F358-E6AE-6374-5ECB-B64CE1A92556}"/>
              </a:ext>
            </a:extLst>
          </p:cNvPr>
          <p:cNvPicPr>
            <a:picLocks noChangeAspect="1"/>
          </p:cNvPicPr>
          <p:nvPr/>
        </p:nvPicPr>
        <p:blipFill>
          <a:blip r:embed="rId8"/>
          <a:stretch>
            <a:fillRect/>
          </a:stretch>
        </p:blipFill>
        <p:spPr>
          <a:xfrm>
            <a:off x="1906862" y="2612279"/>
            <a:ext cx="8378276" cy="3095702"/>
          </a:xfrm>
          <a:prstGeom prst="rect">
            <a:avLst/>
          </a:prstGeom>
        </p:spPr>
      </p:pic>
    </p:spTree>
    <p:extLst>
      <p:ext uri="{BB962C8B-B14F-4D97-AF65-F5344CB8AC3E}">
        <p14:creationId xmlns:p14="http://schemas.microsoft.com/office/powerpoint/2010/main" val="3870294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0ADD-72F5-E1CA-6AAC-AFD235A52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D860E-369D-1147-73A0-99798E7C7E58}"/>
              </a:ext>
            </a:extLst>
          </p:cNvPr>
          <p:cNvSpPr>
            <a:spLocks noGrp="1"/>
          </p:cNvSpPr>
          <p:nvPr>
            <p:ph type="title"/>
          </p:nvPr>
        </p:nvSpPr>
        <p:spPr/>
        <p:txBody>
          <a:bodyPr/>
          <a:lstStyle/>
          <a:p>
            <a:r>
              <a:rPr lang="en-US">
                <a:solidFill>
                  <a:schemeClr val="tx1">
                    <a:lumMod val="65000"/>
                    <a:lumOff val="35000"/>
                  </a:schemeClr>
                </a:solidFill>
              </a:rPr>
              <a:t>Challenges</a:t>
            </a:r>
          </a:p>
        </p:txBody>
      </p:sp>
      <p:sp>
        <p:nvSpPr>
          <p:cNvPr id="11" name="TextBox 10">
            <a:extLst>
              <a:ext uri="{FF2B5EF4-FFF2-40B4-BE49-F238E27FC236}">
                <a16:creationId xmlns:a16="http://schemas.microsoft.com/office/drawing/2014/main" id="{D1378BDB-959E-A921-71DF-AC524E6DE0A6}"/>
              </a:ext>
            </a:extLst>
          </p:cNvPr>
          <p:cNvSpPr txBox="1"/>
          <p:nvPr/>
        </p:nvSpPr>
        <p:spPr>
          <a:xfrm>
            <a:off x="1181100" y="1737359"/>
            <a:ext cx="9922764" cy="2167581"/>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a:t>The system would warn when there more than 20,000 active entities in the system</a:t>
            </a:r>
          </a:p>
          <a:p>
            <a:pPr marL="742950" lvl="1" indent="-285750">
              <a:lnSpc>
                <a:spcPct val="150000"/>
              </a:lnSpc>
              <a:buFont typeface="Arial" panose="020B0604020202020204" pitchFamily="34" charset="0"/>
              <a:buChar char="•"/>
            </a:pPr>
            <a:r>
              <a:rPr lang="en-US"/>
              <a:t>The number of entities exiting the system was not consistent with the rate table</a:t>
            </a:r>
          </a:p>
          <a:p>
            <a:pPr marL="742950" lvl="1" indent="-285750">
              <a:lnSpc>
                <a:spcPct val="150000"/>
              </a:lnSpc>
              <a:buFont typeface="Arial" panose="020B0604020202020204" pitchFamily="34" charset="0"/>
              <a:buChar char="•"/>
            </a:pPr>
            <a:r>
              <a:rPr lang="en-US"/>
              <a:t>Small changes would take a substantial amount of time to run and see the results</a:t>
            </a:r>
          </a:p>
          <a:p>
            <a:pPr marL="742950" lvl="1" indent="-285750">
              <a:lnSpc>
                <a:spcPct val="150000"/>
              </a:lnSpc>
              <a:buFont typeface="Arial" panose="020B0604020202020204" pitchFamily="34" charset="0"/>
              <a:buChar char="•"/>
            </a:pPr>
            <a:r>
              <a:rPr lang="en-US"/>
              <a:t>There are too many possibilities to account for</a:t>
            </a:r>
          </a:p>
          <a:p>
            <a:pPr marL="1200150" lvl="2" indent="-285750">
              <a:lnSpc>
                <a:spcPct val="150000"/>
              </a:lnSpc>
              <a:buFont typeface="Courier New" panose="02070309020205020404" pitchFamily="49" charset="0"/>
              <a:buChar char="o"/>
            </a:pPr>
            <a:r>
              <a:rPr lang="en-US"/>
              <a:t>The model can only reasonably depict some common scenarios</a:t>
            </a:r>
          </a:p>
        </p:txBody>
      </p:sp>
      <p:graphicFrame>
        <p:nvGraphicFramePr>
          <p:cNvPr id="7" name="Content Placeholder 4">
            <a:extLst>
              <a:ext uri="{FF2B5EF4-FFF2-40B4-BE49-F238E27FC236}">
                <a16:creationId xmlns:a16="http://schemas.microsoft.com/office/drawing/2014/main" id="{A0A60512-83EB-6F23-3485-0B9AFCF48CA2}"/>
              </a:ext>
            </a:extLst>
          </p:cNvPr>
          <p:cNvGraphicFramePr>
            <a:graphicFrameLocks/>
          </p:cNvGraphicFramePr>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E958AFD2-8213-072B-E299-708144665A46}"/>
              </a:ext>
            </a:extLst>
          </p:cNvPr>
          <p:cNvSpPr>
            <a:spLocks noGrp="1"/>
          </p:cNvSpPr>
          <p:nvPr>
            <p:ph type="sldNum" sz="quarter" idx="12"/>
          </p:nvPr>
        </p:nvSpPr>
        <p:spPr>
          <a:xfrm>
            <a:off x="11532198" y="6389688"/>
            <a:ext cx="391288" cy="365125"/>
          </a:xfrm>
        </p:spPr>
        <p:txBody>
          <a:bodyPr/>
          <a:lstStyle/>
          <a:p>
            <a:fld id="{719D7796-F675-488F-AC46-C88938C80352}" type="slidenum">
              <a:rPr lang="en-US" smtClean="0"/>
              <a:t>21</a:t>
            </a:fld>
            <a:endParaRPr lang="en-US"/>
          </a:p>
        </p:txBody>
      </p:sp>
      <p:sp>
        <p:nvSpPr>
          <p:cNvPr id="4" name="TextBox 3">
            <a:extLst>
              <a:ext uri="{FF2B5EF4-FFF2-40B4-BE49-F238E27FC236}">
                <a16:creationId xmlns:a16="http://schemas.microsoft.com/office/drawing/2014/main" id="{1DF0FA3D-00BC-7169-5C85-BF0A60A34DBC}"/>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CT</a:t>
            </a:r>
          </a:p>
        </p:txBody>
      </p:sp>
    </p:spTree>
    <p:extLst>
      <p:ext uri="{BB962C8B-B14F-4D97-AF65-F5344CB8AC3E}">
        <p14:creationId xmlns:p14="http://schemas.microsoft.com/office/powerpoint/2010/main" val="2162722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4B9B4-0458-2271-B77D-13D65B8F0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879A5-D56E-5AB0-D7CA-0426FDDC7DBC}"/>
              </a:ext>
            </a:extLst>
          </p:cNvPr>
          <p:cNvSpPr>
            <a:spLocks noGrp="1"/>
          </p:cNvSpPr>
          <p:nvPr>
            <p:ph type="title"/>
          </p:nvPr>
        </p:nvSpPr>
        <p:spPr/>
        <p:txBody>
          <a:bodyPr/>
          <a:lstStyle/>
          <a:p>
            <a:r>
              <a:rPr lang="en-US">
                <a:solidFill>
                  <a:schemeClr val="tx1">
                    <a:lumMod val="65000"/>
                    <a:lumOff val="35000"/>
                  </a:schemeClr>
                </a:solidFill>
              </a:rPr>
              <a:t>Conclusion</a:t>
            </a:r>
          </a:p>
        </p:txBody>
      </p:sp>
      <p:sp>
        <p:nvSpPr>
          <p:cNvPr id="11" name="TextBox 10">
            <a:extLst>
              <a:ext uri="{FF2B5EF4-FFF2-40B4-BE49-F238E27FC236}">
                <a16:creationId xmlns:a16="http://schemas.microsoft.com/office/drawing/2014/main" id="{299478DC-CB4F-CFD8-68AB-F3B4D403D7E0}"/>
              </a:ext>
            </a:extLst>
          </p:cNvPr>
          <p:cNvSpPr txBox="1"/>
          <p:nvPr/>
        </p:nvSpPr>
        <p:spPr>
          <a:xfrm>
            <a:off x="1181100" y="2085473"/>
            <a:ext cx="9922764" cy="4660571"/>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a:t>Changing capacity is the most effective alternative</a:t>
            </a:r>
          </a:p>
          <a:p>
            <a:pPr marL="285750" indent="-285750">
              <a:lnSpc>
                <a:spcPct val="150000"/>
              </a:lnSpc>
              <a:buFont typeface="Arial" panose="020B0604020202020204" pitchFamily="34" charset="0"/>
              <a:buChar char="•"/>
            </a:pPr>
            <a:r>
              <a:rPr lang="en-US"/>
              <a:t>For more accuracy, real data from Macy’s from previous years is needed</a:t>
            </a:r>
          </a:p>
          <a:p>
            <a:pPr marL="742950" lvl="1" indent="-285750">
              <a:lnSpc>
                <a:spcPct val="150000"/>
              </a:lnSpc>
              <a:buFont typeface="Courier New" panose="02070309020205020404" pitchFamily="49" charset="0"/>
              <a:buChar char="o"/>
            </a:pPr>
            <a:r>
              <a:rPr lang="en-US"/>
              <a:t>Concrete numbers </a:t>
            </a:r>
          </a:p>
          <a:p>
            <a:pPr marL="742950" lvl="1" indent="-285750">
              <a:lnSpc>
                <a:spcPct val="150000"/>
              </a:lnSpc>
              <a:buFont typeface="Courier New" panose="02070309020205020404" pitchFamily="49" charset="0"/>
              <a:buChar char="o"/>
            </a:pPr>
            <a:r>
              <a:rPr lang="en-US"/>
              <a:t>Need more consumer data on how people shop on Black Friday</a:t>
            </a:r>
          </a:p>
          <a:p>
            <a:pPr marL="742950" lvl="1" indent="-285750">
              <a:lnSpc>
                <a:spcPct val="150000"/>
              </a:lnSpc>
              <a:buFont typeface="Courier New" panose="02070309020205020404" pitchFamily="49" charset="0"/>
              <a:buChar char="o"/>
            </a:pPr>
            <a:r>
              <a:rPr lang="en-US"/>
              <a:t>Time study </a:t>
            </a:r>
          </a:p>
          <a:p>
            <a:pPr marL="285750" indent="-285750">
              <a:lnSpc>
                <a:spcPct val="150000"/>
              </a:lnSpc>
              <a:buFont typeface="Arial" panose="020B0604020202020204" pitchFamily="34" charset="0"/>
              <a:buChar char="•"/>
            </a:pPr>
            <a:r>
              <a:rPr lang="en-US"/>
              <a:t>Limitations to this study, but overall valuable information</a:t>
            </a:r>
          </a:p>
          <a:p>
            <a:pPr marL="742950" lvl="1" indent="-285750">
              <a:lnSpc>
                <a:spcPct val="150000"/>
              </a:lnSpc>
              <a:buFont typeface="Arial" panose="020B0604020202020204" pitchFamily="34" charset="0"/>
              <a:buChar char="•"/>
            </a:pPr>
            <a:r>
              <a:rPr lang="en-US"/>
              <a:t>Time and resource constraint</a:t>
            </a:r>
          </a:p>
          <a:p>
            <a:pPr marL="742950" lvl="1" indent="-285750">
              <a:lnSpc>
                <a:spcPct val="150000"/>
              </a:lnSpc>
              <a:buFont typeface="Arial" panose="020B0604020202020204" pitchFamily="34" charset="0"/>
              <a:buChar char="•"/>
            </a:pPr>
            <a:r>
              <a:rPr lang="en-US"/>
              <a:t>Some aspects cannot be simulated accurately</a:t>
            </a:r>
          </a:p>
          <a:p>
            <a:pPr lvl="1">
              <a:lnSpc>
                <a:spcPct val="150000"/>
              </a:lnSpc>
            </a:pPr>
            <a:endParaRPr lang="en-US"/>
          </a:p>
          <a:p>
            <a:pPr>
              <a:lnSpc>
                <a:spcPct val="150000"/>
              </a:lnSpc>
            </a:pPr>
            <a:endParaRPr lang="en-US" sz="2000"/>
          </a:p>
          <a:p>
            <a:pPr>
              <a:lnSpc>
                <a:spcPct val="150000"/>
              </a:lnSpc>
            </a:pPr>
            <a:endParaRPr lang="en-US"/>
          </a:p>
        </p:txBody>
      </p:sp>
      <p:graphicFrame>
        <p:nvGraphicFramePr>
          <p:cNvPr id="7" name="Content Placeholder 4">
            <a:extLst>
              <a:ext uri="{FF2B5EF4-FFF2-40B4-BE49-F238E27FC236}">
                <a16:creationId xmlns:a16="http://schemas.microsoft.com/office/drawing/2014/main" id="{455F2F26-C9D2-70E4-28EA-CD568CA32B41}"/>
              </a:ext>
            </a:extLst>
          </p:cNvPr>
          <p:cNvGraphicFramePr>
            <a:graphicFrameLocks/>
          </p:cNvGraphicFramePr>
          <p:nvPr>
            <p:extLst>
              <p:ext uri="{D42A27DB-BD31-4B8C-83A1-F6EECF244321}">
                <p14:modId xmlns:p14="http://schemas.microsoft.com/office/powerpoint/2010/main" val="3732542295"/>
              </p:ext>
            </p:extLst>
          </p:nvPr>
        </p:nvGraphicFramePr>
        <p:xfrm>
          <a:off x="268514" y="5773045"/>
          <a:ext cx="10742386" cy="8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A85A20CE-200B-46BF-7111-BA7FE81B08BF}"/>
              </a:ext>
            </a:extLst>
          </p:cNvPr>
          <p:cNvSpPr>
            <a:spLocks noGrp="1"/>
          </p:cNvSpPr>
          <p:nvPr>
            <p:ph type="sldNum" sz="quarter" idx="12"/>
          </p:nvPr>
        </p:nvSpPr>
        <p:spPr/>
        <p:txBody>
          <a:bodyPr/>
          <a:lstStyle/>
          <a:p>
            <a:fld id="{719D7796-F675-488F-AC46-C88938C80352}" type="slidenum">
              <a:rPr lang="en-US" smtClean="0"/>
              <a:t>22</a:t>
            </a:fld>
            <a:endParaRPr lang="en-US"/>
          </a:p>
        </p:txBody>
      </p:sp>
      <p:sp>
        <p:nvSpPr>
          <p:cNvPr id="3" name="TextBox 2">
            <a:extLst>
              <a:ext uri="{FF2B5EF4-FFF2-40B4-BE49-F238E27FC236}">
                <a16:creationId xmlns:a16="http://schemas.microsoft.com/office/drawing/2014/main" id="{C160A3B2-3E66-92F4-58AF-CD77CC679DE9}"/>
              </a:ext>
            </a:extLst>
          </p:cNvPr>
          <p:cNvSpPr txBox="1"/>
          <p:nvPr/>
        </p:nvSpPr>
        <p:spPr>
          <a:xfrm>
            <a:off x="11239574" y="6441445"/>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CT</a:t>
            </a:r>
          </a:p>
        </p:txBody>
      </p:sp>
    </p:spTree>
    <p:extLst>
      <p:ext uri="{BB962C8B-B14F-4D97-AF65-F5344CB8AC3E}">
        <p14:creationId xmlns:p14="http://schemas.microsoft.com/office/powerpoint/2010/main" val="919309772"/>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18039bb-d253-4eff-803e-71377f0d0dd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301F3497371CB4BA63759C0F1B558C1" ma:contentTypeVersion="8" ma:contentTypeDescription="Create a new document." ma:contentTypeScope="" ma:versionID="3c74313170b3840ec13dd48f82594100">
  <xsd:schema xmlns:xsd="http://www.w3.org/2001/XMLSchema" xmlns:xs="http://www.w3.org/2001/XMLSchema" xmlns:p="http://schemas.microsoft.com/office/2006/metadata/properties" xmlns:ns3="4128c6c9-0f9b-48e1-ba12-91a0437b7bba" xmlns:ns4="518039bb-d253-4eff-803e-71377f0d0dd2" targetNamespace="http://schemas.microsoft.com/office/2006/metadata/properties" ma:root="true" ma:fieldsID="ff75cc19926f863a8933ff1aa30e4426" ns3:_="" ns4:_="">
    <xsd:import namespace="4128c6c9-0f9b-48e1-ba12-91a0437b7bba"/>
    <xsd:import namespace="518039bb-d253-4eff-803e-71377f0d0dd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28c6c9-0f9b-48e1-ba12-91a0437b7bb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18039bb-d253-4eff-803e-71377f0d0dd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B5E3E5-EF68-4E56-936B-850C1D8FD674}">
  <ds:schemaRefs>
    <ds:schemaRef ds:uri="http://purl.org/dc/terms/"/>
    <ds:schemaRef ds:uri="http://schemas.microsoft.com/office/infopath/2007/PartnerControls"/>
    <ds:schemaRef ds:uri="http://purl.org/dc/elements/1.1/"/>
    <ds:schemaRef ds:uri="http://schemas.microsoft.com/office/2006/documentManagement/types"/>
    <ds:schemaRef ds:uri="http://purl.org/dc/dcmitype/"/>
    <ds:schemaRef ds:uri="http://schemas.openxmlformats.org/package/2006/metadata/core-properties"/>
    <ds:schemaRef ds:uri="http://www.w3.org/XML/1998/namespace"/>
    <ds:schemaRef ds:uri="518039bb-d253-4eff-803e-71377f0d0dd2"/>
    <ds:schemaRef ds:uri="4128c6c9-0f9b-48e1-ba12-91a0437b7bba"/>
    <ds:schemaRef ds:uri="http://schemas.microsoft.com/office/2006/metadata/properties"/>
  </ds:schemaRefs>
</ds:datastoreItem>
</file>

<file path=customXml/itemProps2.xml><?xml version="1.0" encoding="utf-8"?>
<ds:datastoreItem xmlns:ds="http://schemas.openxmlformats.org/officeDocument/2006/customXml" ds:itemID="{0654A159-9DE0-41A7-A55C-2A9A60225455}">
  <ds:schemaRefs>
    <ds:schemaRef ds:uri="http://schemas.microsoft.com/sharepoint/v3/contenttype/forms"/>
  </ds:schemaRefs>
</ds:datastoreItem>
</file>

<file path=customXml/itemProps3.xml><?xml version="1.0" encoding="utf-8"?>
<ds:datastoreItem xmlns:ds="http://schemas.openxmlformats.org/officeDocument/2006/customXml" ds:itemID="{C29D7AA8-B17A-4D1D-A4AC-2F666E473447}">
  <ds:schemaRefs>
    <ds:schemaRef ds:uri="4128c6c9-0f9b-48e1-ba12-91a0437b7bba"/>
    <ds:schemaRef ds:uri="518039bb-d253-4eff-803e-71377f0d0d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2483</Words>
  <Application>Microsoft Macintosh PowerPoint</Application>
  <PresentationFormat>Widescreen</PresentationFormat>
  <Paragraphs>371</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Avenir Next W01</vt:lpstr>
      <vt:lpstr>Cambria Math</vt:lpstr>
      <vt:lpstr>Courier New</vt:lpstr>
      <vt:lpstr>Neue Haas Grotesk Text Pro</vt:lpstr>
      <vt:lpstr>Symbol</vt:lpstr>
      <vt:lpstr>Times New Roman</vt:lpstr>
      <vt:lpstr>BjornVTI</vt:lpstr>
      <vt:lpstr>Black Friday Simulation model</vt:lpstr>
      <vt:lpstr>Introduction &amp; Background</vt:lpstr>
      <vt:lpstr>Problem Description</vt:lpstr>
      <vt:lpstr>Conceptual Model Diagram</vt:lpstr>
      <vt:lpstr>Data Collection</vt:lpstr>
      <vt:lpstr>Results of Data Collection</vt:lpstr>
      <vt:lpstr>Base Model</vt:lpstr>
      <vt:lpstr>Base Model</vt:lpstr>
      <vt:lpstr>Base Model</vt:lpstr>
      <vt:lpstr>Alterative 1: Capacity Adjustments</vt:lpstr>
      <vt:lpstr>Alternative 2: Constant Arrivals</vt:lpstr>
      <vt:lpstr>Alternatives Evaluation</vt:lpstr>
      <vt:lpstr>Validation</vt:lpstr>
      <vt:lpstr>Validation</vt:lpstr>
      <vt:lpstr>Verification</vt:lpstr>
      <vt:lpstr>Experiments</vt:lpstr>
      <vt:lpstr>Experiments</vt:lpstr>
      <vt:lpstr>Statistical Results</vt:lpstr>
      <vt:lpstr>Statistical Results</vt:lpstr>
      <vt:lpstr>Alternative Statistics</vt:lpstr>
      <vt:lpstr>Alternative Statistics</vt:lpstr>
      <vt:lpstr>Challenges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Selena Dang</cp:lastModifiedBy>
  <cp:revision>1</cp:revision>
  <dcterms:created xsi:type="dcterms:W3CDTF">2025-09-23T01:40:21Z</dcterms:created>
  <dcterms:modified xsi:type="dcterms:W3CDTF">2025-12-02T18:46:17Z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0x0101008301F3497371CB4BA63759C0F1B558C1</vt:lpwstr>
  </property>
  <property fmtid="{D5CDD505-2E9C-101B-9397-08002B2CF9AE}" pid="3" name="MediaServiceImageTags">
    <vt:lpwstr/>
  </property>
</Properties>
</file>